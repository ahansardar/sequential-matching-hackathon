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7b77e8f0d84f03" /><Relationship Type="http://schemas.openxmlformats.org/officeDocument/2006/relationships/extended-properties" Target="/docProps/app.xml" Id="Rdda1f0603b0a4926" /><Relationship Type="http://schemas.openxmlformats.org/officeDocument/2006/relationships/officeDocument" Target="/ppt/presentation.xml" Id="Rf47f6bc00bdd431c" /></Relationships>
</file>

<file path=ppt/presentation.xml><?xml version="1.0" encoding="utf-8"?>
<p:presentation xmlns:p="http://schemas.openxmlformats.org/presentationml/2006/main">
  <p:sldMasterIdLst>
    <p:sldMasterId xmlns:r="http://schemas.openxmlformats.org/officeDocument/2006/relationships" id="2147483648" r:id="Rec28518c53bc4312"/>
  </p:sldMasterIdLst>
  <p:notesMasterIdLst>
    <p:notesMasterId xmlns:r="http://schemas.openxmlformats.org/officeDocument/2006/relationships" r:id="R469bdc5b5f0f4127"/>
  </p:notesMasterIdLst>
  <p:sldIdLst>
    <p:sldId xmlns:r="http://schemas.openxmlformats.org/officeDocument/2006/relationships" id="256" r:id="Rcfd6afed59e342b1"/>
    <p:sldId xmlns:r="http://schemas.openxmlformats.org/officeDocument/2006/relationships" id="257" r:id="Rf6f374030097433e"/>
    <p:sldId xmlns:r="http://schemas.openxmlformats.org/officeDocument/2006/relationships" id="258" r:id="R32e0793f0830431b"/>
    <p:sldId xmlns:r="http://schemas.openxmlformats.org/officeDocument/2006/relationships" id="259" r:id="Rd128f4f20f924341"/>
    <p:sldId xmlns:r="http://schemas.openxmlformats.org/officeDocument/2006/relationships" id="260" r:id="R81c039702e1f4733"/>
    <p:sldId xmlns:r="http://schemas.openxmlformats.org/officeDocument/2006/relationships" id="261" r:id="R753025fc97a94e16"/>
    <p:sldId xmlns:r="http://schemas.openxmlformats.org/officeDocument/2006/relationships" id="262" r:id="R365f8faa0acb4683"/>
    <p:sldId xmlns:r="http://schemas.openxmlformats.org/officeDocument/2006/relationships" id="263" r:id="R1ea03242d9904717"/>
    <p:sldId xmlns:r="http://schemas.openxmlformats.org/officeDocument/2006/relationships" id="264" r:id="Re2e4096b7ff94a38"/>
    <p:sldId xmlns:r="http://schemas.openxmlformats.org/officeDocument/2006/relationships" id="265" r:id="R08097cad33614e04"/>
    <p:sldId xmlns:r="http://schemas.openxmlformats.org/officeDocument/2006/relationships" id="266" r:id="Rbfc655de7c29457c"/>
    <p:sldId xmlns:r="http://schemas.openxmlformats.org/officeDocument/2006/relationships" id="267" r:id="Rebd56fa906a540bd"/>
    <p:sldId xmlns:r="http://schemas.openxmlformats.org/officeDocument/2006/relationships" id="268" r:id="R12b07042fcfa4b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ab3c16bfe24bbd" /><Relationship Type="http://schemas.openxmlformats.org/officeDocument/2006/relationships/slideMaster" Target="/ppt/slideMasters/slideMaster1.xml" Id="Rec28518c53bc4312" /><Relationship Type="http://schemas.openxmlformats.org/officeDocument/2006/relationships/notesMaster" Target="/ppt/notesMasters/notesMaster1.xml" Id="R469bdc5b5f0f4127" /><Relationship Type="http://schemas.openxmlformats.org/officeDocument/2006/relationships/presProps" Target="/ppt/presProps.xml" Id="R7535abb3fce44400" /><Relationship Type="http://schemas.openxmlformats.org/officeDocument/2006/relationships/tableStyles" Target="/ppt/tableStyles.xml" Id="R321fd1d67eab4cba" /><Relationship Type="http://schemas.openxmlformats.org/officeDocument/2006/relationships/slide" Target="/ppt/slides/slide1.xml" Id="Rcfd6afed59e342b1" /><Relationship Type="http://schemas.openxmlformats.org/officeDocument/2006/relationships/slide" Target="/ppt/slides/slide2.xml" Id="Rf6f374030097433e" /><Relationship Type="http://schemas.openxmlformats.org/officeDocument/2006/relationships/slide" Target="/ppt/slides/slide3.xml" Id="R32e0793f0830431b" /><Relationship Type="http://schemas.openxmlformats.org/officeDocument/2006/relationships/slide" Target="/ppt/slides/slide4.xml" Id="Rd128f4f20f924341" /><Relationship Type="http://schemas.openxmlformats.org/officeDocument/2006/relationships/slide" Target="/ppt/slides/slide5.xml" Id="R81c039702e1f4733" /><Relationship Type="http://schemas.openxmlformats.org/officeDocument/2006/relationships/slide" Target="/ppt/slides/slide6.xml" Id="R753025fc97a94e16" /><Relationship Type="http://schemas.openxmlformats.org/officeDocument/2006/relationships/slide" Target="/ppt/slides/slide7.xml" Id="R365f8faa0acb4683" /><Relationship Type="http://schemas.openxmlformats.org/officeDocument/2006/relationships/slide" Target="/ppt/slides/slide8.xml" Id="R1ea03242d9904717" /><Relationship Type="http://schemas.openxmlformats.org/officeDocument/2006/relationships/slide" Target="/ppt/slides/slide9.xml" Id="Re2e4096b7ff94a38" /><Relationship Type="http://schemas.openxmlformats.org/officeDocument/2006/relationships/slide" Target="/ppt/slides/slide10.xml" Id="R08097cad33614e04" /><Relationship Type="http://schemas.openxmlformats.org/officeDocument/2006/relationships/slide" Target="/ppt/slides/slide11.xml" Id="Rbfc655de7c29457c" /><Relationship Type="http://schemas.openxmlformats.org/officeDocument/2006/relationships/slide" Target="/ppt/slides/slide12.xml" Id="Rebd56fa906a540bd" /><Relationship Type="http://schemas.openxmlformats.org/officeDocument/2006/relationships/slide" Target="/ppt/slides/slide13.xml" Id="R12b07042fcfa4b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3ef522abbb45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6d32cee9384e63" /><Relationship Type="http://schemas.openxmlformats.org/officeDocument/2006/relationships/notesMaster" Target="/ppt/notesMasters/notesMaster1.xml" Id="R991a4e6a3ee742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c1f3e17b96465e" /><Relationship Type="http://schemas.openxmlformats.org/officeDocument/2006/relationships/notesMaster" Target="/ppt/notesMasters/notesMaster1.xml" Id="R1bc87f54a71d42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00767df02840ca" /><Relationship Type="http://schemas.openxmlformats.org/officeDocument/2006/relationships/notesMaster" Target="/ppt/notesMasters/notesMaster1.xml" Id="Rdd671ea622634f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54e50570024c0a" /><Relationship Type="http://schemas.openxmlformats.org/officeDocument/2006/relationships/notesMaster" Target="/ppt/notesMasters/notesMaster1.xml" Id="R7c7386c0198f4f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1b88bdc74e46c7" /><Relationship Type="http://schemas.openxmlformats.org/officeDocument/2006/relationships/notesMaster" Target="/ppt/notesMasters/notesMaster1.xml" Id="R01b2b37df9f34f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09996933274e8e" /><Relationship Type="http://schemas.openxmlformats.org/officeDocument/2006/relationships/notesMaster" Target="/ppt/notesMasters/notesMaster1.xml" Id="R76353c30640e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9d6e381e064044" /><Relationship Type="http://schemas.openxmlformats.org/officeDocument/2006/relationships/notesMaster" Target="/ppt/notesMasters/notesMaster1.xml" Id="R3baaf4745b134f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d73eaa60f24b2c" /><Relationship Type="http://schemas.openxmlformats.org/officeDocument/2006/relationships/notesMaster" Target="/ppt/notesMasters/notesMaster1.xml" Id="R6c2ab053f65f45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125735be26422b" /><Relationship Type="http://schemas.openxmlformats.org/officeDocument/2006/relationships/notesMaster" Target="/ppt/notesMasters/notesMaster1.xml" Id="R7ed53511b5b34e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8f1c45cb0d4ac1" /><Relationship Type="http://schemas.openxmlformats.org/officeDocument/2006/relationships/notesMaster" Target="/ppt/notesMasters/notesMaster1.xml" Id="Rd8519aaf45b840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72d89ce1174697" /><Relationship Type="http://schemas.openxmlformats.org/officeDocument/2006/relationships/notesMaster" Target="/ppt/notesMasters/notesMaster1.xml" Id="Rfc7803bb56f042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40c657347b4490" /><Relationship Type="http://schemas.openxmlformats.org/officeDocument/2006/relationships/notesMaster" Target="/ppt/notesMasters/notesMaster1.xml" Id="Red4dbf8bdd5f48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159222b9a44012" /><Relationship Type="http://schemas.openxmlformats.org/officeDocument/2006/relationships/notesMaster" Target="/ppt/notesMasters/notesMaster1.xml" Id="R65fdcedb29e446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LuminaX, Ahan Sardar and Enakshee Mondal. Our Round 2 submission is a deterministic policy for sequential matching with incomplete information. Our goal is simple: ask only when a missing hard constraint blocks a decision, then make a safe, reproducible daily matching.</a:t>
            </a:r>
          </a:p>
          <a:p xmlns:a="http://schemas.openxmlformats.org/drawingml/2006/main">
            <a:r>
              <a:t/>
            </a:r>
          </a:p>
          <a:p xmlns:a="http://schemas.openxmlformats.org/drawingml/2006/main">
            <a:r>
              <a:t>Sources:</a:t>
            </a:r>
          </a:p>
          <a:p xmlns:a="http://schemas.openxmlformats.org/drawingml/2006/main">
            <a:r>
              <a:t>- ROUND2_SUBMISSION.md</a:t>
            </a:r>
          </a:p>
          <a:p xmlns:a="http://schemas.openxmlformats.org/drawingml/2006/main">
            <a:r>
              <a:t>- https://www.romeojuliet.love/ (visual reference, accessed 16 October 2026)</a:t>
            </a:r>
          </a:p>
          <a:p xmlns:a="http://schemas.openxmlformats.org/drawingml/2006/main">
            <a:r>
              <a:t>- assets/pitch/paired-cameos.png (original transparent artwork generated for LuminaX)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problem allocates a daily batch; it does not predict pairs independently. Every introduction uses two people and removes them from other possible pairs. Information can be missing, answers can be delayed, and preferences must work in both directions. The policy must decide what to clarify, which edges are feasible, and which non-overlapping set to allocate today.</a:t>
            </a:r>
          </a:p>
          <a:p xmlns:a="http://schemas.openxmlformats.org/drawingml/2006/main">
            <a:r>
              <a:t/>
            </a:r>
          </a:p>
          <a:p xmlns:a="http://schemas.openxmlformats.org/drawingml/2006/main">
            <a:r>
              <a:t>Sources:</a:t>
            </a:r>
          </a:p>
          <a:p xmlns:a="http://schemas.openxmlformats.org/drawingml/2006/main">
            <a:r>
              <a:t>- PROBLEM_STATEMENT.md</a:t>
            </a:r>
          </a:p>
          <a:p xmlns:a="http://schemas.openxmlformats.org/drawingml/2006/main">
            <a:r>
              <a:t>- ROUND2_SUBMISSION.md, section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separate safety from priority. Hard constraints decide whether an edge may exist. Soft similarities only decide the order among feasible edges. Missing soft information gives no credit and no penalty. The compatibility score is an allocation priority, not a probability of success. This separation prevents a high score from overriding reciprocal eligibility.</a:t>
            </a:r>
          </a:p>
          <a:p xmlns:a="http://schemas.openxmlformats.org/drawingml/2006/main">
            <a:r>
              <a:t/>
            </a:r>
          </a:p>
          <a:p xmlns:a="http://schemas.openxmlformats.org/drawingml/2006/main">
            <a:r>
              <a:t>Sources:</a:t>
            </a:r>
          </a:p>
          <a:p xmlns:a="http://schemas.openxmlformats.org/drawingml/2006/main">
            <a:r>
              <a:t>- ROUND2_SUBMISSION.md, sections 3.3 and 3.4</a:t>
            </a:r>
          </a:p>
          <a:p xmlns:a="http://schemas.openxmlformats.org/drawingml/2006/main">
            <a:r>
              <a:t>- docs/DATA_CONTRACT.md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day has four steps. First, validate the observable state and fail closed on malformed or conflicting records. Second, use the clarification budget on available people with missing hard fields, ordered by arrival day and then by opaque ID. Third, after the refreshed observation, build the reciprocal feasible graph. Fourth, count observed equal soft fields, sort edges by that score and a stable tie-break, and greedily take an edge when both endpoints are unused. The same observable input always produces the same action.</a:t>
            </a:r>
          </a:p>
          <a:p xmlns:a="http://schemas.openxmlformats.org/drawingml/2006/main">
            <a:r>
              <a:t/>
            </a:r>
          </a:p>
          <a:p xmlns:a="http://schemas.openxmlformats.org/drawingml/2006/main">
            <a:r>
              <a:t>Sources:</a:t>
            </a:r>
          </a:p>
          <a:p xmlns:a="http://schemas.openxmlformats.org/drawingml/2006/main">
            <a:r>
              <a:t>- ROUND2_SUBMISSION.md, section 3</a:t>
            </a:r>
          </a:p>
          <a:p xmlns:a="http://schemas.openxmlformats.org/drawingml/2006/main">
            <a:r>
              <a:t>- adaptive.py</a:t>
            </a:r>
          </a:p>
          <a:p xmlns:a="http://schemas.openxmlformats.org/drawingml/2006/main">
            <a:r>
              <a:t>- policy.py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uses four fictional members. D is available but one hard field is missing, so the policy uses one hard bundle. After the evaluator returns the refreshed observation, the policy builds only reciprocal feasible edges. A-D scores 2, while A-B and B-C score 1. The allocator takes A-D first. A-B is then skipped because A is already used. B-C remains disjoint, so it is also selected. The output is A-D and B-C. The example is illustrative and uses no hidden information.</a:t>
            </a:r>
          </a:p>
          <a:p xmlns:a="http://schemas.openxmlformats.org/drawingml/2006/main">
            <a:r>
              <a:t/>
            </a:r>
          </a:p>
          <a:p xmlns:a="http://schemas.openxmlformats.org/drawingml/2006/main">
            <a:r>
              <a:t>Sources:</a:t>
            </a:r>
          </a:p>
          <a:p xmlns:a="http://schemas.openxmlformats.org/drawingml/2006/main">
            <a:r>
              <a:t>- ROUND2_SUBMISSION.md, sections 3.2 to 3.5</a:t>
            </a:r>
          </a:p>
          <a:p xmlns:a="http://schemas.openxmlformats.org/drawingml/2006/main">
            <a:r>
              <a:t>- adaptive.py</a:t>
            </a:r>
          </a:p>
          <a:p xmlns:a="http://schemas.openxmlformats.org/drawingml/2006/main">
            <a:r>
              <a:t>- docs/DATA_CONTRACT.md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guarantees four things at its own boundary: reciprocal hard constraints are checked before scoring, no person appears twice in a daily batch, people with open introductions remain blocked, and the policy uses only the observable request. It does not read hidden truth, private seeds, or member IDs as outcome features. Opaque IDs are used only to make ties deterministic.</a:t>
            </a:r>
          </a:p>
          <a:p xmlns:a="http://schemas.openxmlformats.org/drawingml/2006/main">
            <a:r>
              <a:t/>
            </a:r>
          </a:p>
          <a:p xmlns:a="http://schemas.openxmlformats.org/drawingml/2006/main">
            <a:r>
              <a:t>Sources:</a:t>
            </a:r>
          </a:p>
          <a:p xmlns:a="http://schemas.openxmlformats.org/drawingml/2006/main">
            <a:r>
              <a:t>- ROUND2_SUBMISSION.md, sections 2, 3 and 7</a:t>
            </a:r>
          </a:p>
          <a:p xmlns:a="http://schemas.openxmlformats.org/drawingml/2006/main">
            <a:r>
              <a:t>- docs/POLICY_INTERFACE.md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compared every method on the same three public seed groups and all six scenario families, for 18 episodes per method. The submitted policy scored 0.4444 MSMI per 100 arrived members. Greedy scored 0.3889, random feasible 0.2778, and no clarification 0.1389. That is 16 qualifying outcomes for our method versus 14 for greedy. The difference is promising, but the public sample is small.</a:t>
            </a:r>
          </a:p>
          <a:p xmlns:a="http://schemas.openxmlformats.org/drawingml/2006/main">
            <a:r>
              <a:t/>
            </a:r>
          </a:p>
          <a:p xmlns:a="http://schemas.openxmlformats.org/drawingml/2006/main">
            <a:r>
              <a:t>Sources:</a:t>
            </a:r>
          </a:p>
          <a:p xmlns:a="http://schemas.openxmlformats.org/drawingml/2006/main">
            <a:r>
              <a:t>- results/round2_summary.json</a:t>
            </a:r>
          </a:p>
          <a:p xmlns:a="http://schemas.openxmlformats.org/drawingml/2006/main">
            <a:r>
              <a:t>- ROUND2_SUBMISSION.md, section 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gain is not uniform. Cold start and shift are the strongest public scenarios. Development and drift are neutral against greedy. Greedy is better in delayed and sparse, and our sparse mean is zero. The paired seed-grouped bootstrap difference from greedy is 0.0556 with a 95 percent interval from zero to 0.0833. Since the lower end is zero, we do not claim a confirmed private advantage.</a:t>
            </a:r>
          </a:p>
          <a:p xmlns:a="http://schemas.openxmlformats.org/drawingml/2006/main">
            <a:r>
              <a:t/>
            </a:r>
          </a:p>
          <a:p xmlns:a="http://schemas.openxmlformats.org/drawingml/2006/main">
            <a:r>
              <a:t>Sources:</a:t>
            </a:r>
          </a:p>
          <a:p xmlns:a="http://schemas.openxmlformats.org/drawingml/2006/main">
            <a:r>
              <a:t>- results/round2_summary.json</a:t>
            </a:r>
          </a:p>
          <a:p xmlns:a="http://schemas.openxmlformats.org/drawingml/2006/main">
            <a:r>
              <a:t>- ROUND2_SUBMISSION.md, sections 6.2 and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tested the boundary as carefully as the algorithm. The final suite has 125 tests. All 71 public data files validate. The pinned container completed 120 calls in the recorded check, with a slowest call of 1.246 seconds under the 10-second limit. A release gate checks the default method, result hashes, matrix completeness, container evidence, file allowlist, and immutable tag. This does not prove a private score, but it sharply reduces avoidable submission failures.</a:t>
            </a:r>
          </a:p>
          <a:p xmlns:a="http://schemas.openxmlformats.org/drawingml/2006/main">
            <a:r>
              <a:t/>
            </a:r>
          </a:p>
          <a:p xmlns:a="http://schemas.openxmlformats.org/drawingml/2006/main">
            <a:r>
              <a:t>Sources:</a:t>
            </a:r>
          </a:p>
          <a:p xmlns:a="http://schemas.openxmlformats.org/drawingml/2006/main">
            <a:r>
              <a:t>- ROUND2_SUBMISSION.md, sections 7 and 8</a:t>
            </a:r>
          </a:p>
          <a:p xmlns:a="http://schemas.openxmlformats.org/drawingml/2006/main">
            <a:r>
              <a:t>- results/container_check.json</a:t>
            </a:r>
          </a:p>
          <a:p xmlns:a="http://schemas.openxmlformats.org/drawingml/2006/main">
            <a:r>
              <a:t>- round2_release_manifest.json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submitting the smallest method that survived our evidence checks: stable clarification, reciprocal feasibility, observed-soft priority, and deterministic greedy allocation. We rejected more complex variants when their gains did not survive matched holdouts or when they lost an official tie-break. The next research target is sparse supply, where a validated scarcity-aware clarification or waiting rule could help. Our contribution is a policy whose decisions, limits, and evidence can all be inspected. Thank you.</a:t>
            </a:r>
          </a:p>
          <a:p xmlns:a="http://schemas.openxmlformats.org/drawingml/2006/main">
            <a:r>
              <a:t/>
            </a:r>
          </a:p>
          <a:p xmlns:a="http://schemas.openxmlformats.org/drawingml/2006/main">
            <a:r>
              <a:t>Sources:</a:t>
            </a:r>
          </a:p>
          <a:p xmlns:a="http://schemas.openxmlformats.org/drawingml/2006/main">
            <a:r>
              <a:t>- ROUND2_SUBMISSION.md, sections 3, 6.3 and 10</a:t>
            </a:r>
          </a:p>
          <a:p xmlns:a="http://schemas.openxmlformats.org/drawingml/2006/main">
            <a:r>
              <a:t>- docs/DECISIONS.md, decisions D-018 and D-019</a:t>
            </a:r>
          </a:p>
          <a:p xmlns:a="http://schemas.openxmlformats.org/drawingml/2006/main">
            <a:r>
              <a:t>- assets/pitch/botanical-engraving.png (original transparent artwork generated for LuminaX)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only if the judges request the exact tie-break metrics or service evidence.</a:t>
            </a:r>
          </a:p>
          <a:p xmlns:a="http://schemas.openxmlformats.org/drawingml/2006/main">
            <a:r>
              <a:t/>
            </a:r>
          </a:p>
          <a:p xmlns:a="http://schemas.openxmlformats.org/drawingml/2006/main">
            <a:r>
              <a:t>Sources:</a:t>
            </a:r>
          </a:p>
          <a:p xmlns:a="http://schemas.openxmlformats.org/drawingml/2006/main">
            <a:r>
              <a:t>- results/round2_summary.json</a:t>
            </a:r>
          </a:p>
          <a:p xmlns:a="http://schemas.openxmlformats.org/drawingml/2006/main">
            <a:r>
              <a:t>- ROUND2_SUBMISSION.md, sections 6.1 and 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 judge asks why the final runtime is simpler than the explored research variants.</a:t>
            </a:r>
          </a:p>
          <a:p xmlns:a="http://schemas.openxmlformats.org/drawingml/2006/main">
            <a:r>
              <a:t/>
            </a:r>
          </a:p>
          <a:p xmlns:a="http://schemas.openxmlformats.org/drawingml/2006/main">
            <a:r>
              <a:t>Sources:</a:t>
            </a:r>
          </a:p>
          <a:p xmlns:a="http://schemas.openxmlformats.org/drawingml/2006/main">
            <a:r>
              <a:t>- docs/DECISIONS.md, decisions D-014 to D-019</a:t>
            </a:r>
          </a:p>
          <a:p xmlns:a="http://schemas.openxmlformats.org/drawingml/2006/main">
            <a:r>
              <a:t>- docs/OUTCOME_MODEL_EXPERIMENT.md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immutable tag and the recorded evidence files during questions. Do not run the full matrix live during the pitch.</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ROUND2_SUBMISSION.md, section 8</a:t>
            </a:r>
          </a:p>
          <a:p xmlns:a="http://schemas.openxmlformats.org/drawingml/2006/main">
            <a:r>
              <a:t>- round2_release_manifest.json</a:t>
            </a:r>
          </a:p>
          <a:p xmlns:a="http://schemas.openxmlformats.org/drawingml/2006/main">
            <a:r>
              <a:t>- assets/pitch/letter-seal.png (original transparent artwork generated for LuminaX)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7733e0b93247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433f81e5444a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6ce31c3df848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1bfd3da0d44f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edf190b01640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2f6ab63a724a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F35C46-BD6E-44AD-841B-2045D24BFBB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C9187-12C1-4142-88DF-5BCA0E18C4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B1D7B3-236F-4013-8810-B42D15034E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396166-8217-4EB4-B015-22C91BC460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6F80A4-8AD3-4DC7-9E67-985DF5EDD69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852254-9CD5-465F-9B5F-98249CBD7B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A9E8A4-9C40-4BE8-98DE-76812ECB65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D6BD59-3B94-4B79-963D-DC0C9C803B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D60D6C-3553-4722-A637-721A179ABF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E5A05E-9B85-46C7-9A37-C5704B0511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7d22d574c84c70" /><Relationship Type="http://schemas.openxmlformats.org/officeDocument/2006/relationships/slideLayout" Target="/ppt/slideLayouts/slideLayout1.xml" Id="Re51c93a6956e41e9" /><Relationship Type="http://schemas.openxmlformats.org/officeDocument/2006/relationships/slideLayout" Target="/ppt/slideLayouts/slideLayout2.xml" Id="R3aa7fc51a264471d" /><Relationship Type="http://schemas.openxmlformats.org/officeDocument/2006/relationships/slideLayout" Target="/ppt/slideLayouts/slideLayout3.xml" Id="R5bcabc44bb9b4cbc" /><Relationship Type="http://schemas.openxmlformats.org/officeDocument/2006/relationships/slideLayout" Target="/ppt/slideLayouts/slideLayout4.xml" Id="R91cc1ed682cb4e9c" /><Relationship Type="http://schemas.openxmlformats.org/officeDocument/2006/relationships/slideLayout" Target="/ppt/slideLayouts/slideLayout5.xml" Id="R70eacfbe4c0e4a84" /><Relationship Type="http://schemas.openxmlformats.org/officeDocument/2006/relationships/slideLayout" Target="/ppt/slideLayouts/slideLayout6.xml" Id="R26c59513cf1c4e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1c93a6956e41e9"/>
    <p:sldLayoutId xmlns:r="http://schemas.openxmlformats.org/officeDocument/2006/relationships" id="2147483650" r:id="R3aa7fc51a264471d"/>
    <p:sldLayoutId xmlns:r="http://schemas.openxmlformats.org/officeDocument/2006/relationships" id="2147483651" r:id="R5bcabc44bb9b4cbc"/>
    <p:sldLayoutId xmlns:r="http://schemas.openxmlformats.org/officeDocument/2006/relationships" id="2147483652" r:id="R91cc1ed682cb4e9c"/>
    <p:sldLayoutId xmlns:r="http://schemas.openxmlformats.org/officeDocument/2006/relationships" id="2147483653" r:id="R70eacfbe4c0e4a84"/>
    <p:sldLayoutId xmlns:r="http://schemas.openxmlformats.org/officeDocument/2006/relationships" id="2147483654" r:id="R26c59513cf1c4e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a92694f69340c7" /><Relationship Type="http://schemas.openxmlformats.org/officeDocument/2006/relationships/image" Target="/ppt/media/image.png" Id="R3950f407601749e4" /><Relationship Type="http://schemas.openxmlformats.org/officeDocument/2006/relationships/notesSlide" Target="/ppt/notesSlides/notesSlide1.xml" Id="R190ccf1269b246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c4f223fd9b45bc" /><Relationship Type="http://schemas.openxmlformats.org/officeDocument/2006/relationships/notesSlide" Target="/ppt/notesSlides/notesSlide2.xml" Id="R963809996c5744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b89830b8514fd4" /><Relationship Type="http://schemas.openxmlformats.org/officeDocument/2006/relationships/notesSlide" Target="/ppt/notesSlides/notesSlide3.xml" Id="R8e2e9185248148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a637c0f74e4562" /><Relationship Type="http://schemas.openxmlformats.org/officeDocument/2006/relationships/notesSlide" Target="/ppt/notesSlides/notesSlide4.xml" Id="R23f45c2ffc9c44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aaa2140da34a7c" /><Relationship Type="http://schemas.openxmlformats.org/officeDocument/2006/relationships/notesSlide" Target="/ppt/notesSlides/notesSlide5.xml" Id="R2b153b117a5345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14baac059b4839" /><Relationship Type="http://schemas.openxmlformats.org/officeDocument/2006/relationships/notesSlide" Target="/ppt/notesSlides/notesSlide6.xml" Id="R2ea3e23649e24e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d3108fc3324331" /><Relationship Type="http://schemas.openxmlformats.org/officeDocument/2006/relationships/chart" Target="/ppt/slides/charts/chart1.xml" Id="Rf0abd8bc312e4bd0" /><Relationship Type="http://schemas.openxmlformats.org/officeDocument/2006/relationships/notesSlide" Target="/ppt/notesSlides/notesSlide7.xml" Id="Re2410a6f428347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6c2977cb924b52" /><Relationship Type="http://schemas.openxmlformats.org/officeDocument/2006/relationships/chart" Target="/ppt/slides/charts/chart2.xml" Id="R7d5fd52abe3d4ebf" /><Relationship Type="http://schemas.openxmlformats.org/officeDocument/2006/relationships/notesSlide" Target="/ppt/notesSlides/notesSlide8.xml" Id="Rf717bd36acc74c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eb65a252134f61" /><Relationship Type="http://schemas.openxmlformats.org/officeDocument/2006/relationships/notesSlide" Target="/ppt/notesSlides/notesSlide9.xml" Id="R8fc8a18cae324a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e75bd4cefc44fd" /><Relationship Type="http://schemas.openxmlformats.org/officeDocument/2006/relationships/image" Target="/ppt/media/image2.png" Id="Rf2fb7f331ac342ae" /><Relationship Type="http://schemas.openxmlformats.org/officeDocument/2006/relationships/notesSlide" Target="/ppt/notesSlides/notesSlide10.xml" Id="Re396f945c1c846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0e913acc15e42ae" /><Relationship Type="http://schemas.openxmlformats.org/officeDocument/2006/relationships/notesSlide" Target="/ppt/notesSlides/notesSlide11.xml" Id="R304e1e7aa39d4b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c960762cc544e8" /><Relationship Type="http://schemas.openxmlformats.org/officeDocument/2006/relationships/notesSlide" Target="/ppt/notesSlides/notesSlide12.xml" Id="Rc36c63e8ff5540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8e9e67f0c6e4492" /><Relationship Type="http://schemas.openxmlformats.org/officeDocument/2006/relationships/image" Target="/ppt/media/image3.png" Id="R75289b6fdf7a459d" /><Relationship Type="http://schemas.openxmlformats.org/officeDocument/2006/relationships/notesSlide" Target="/ppt/notesSlides/notesSlide13.xml" Id="Ra2e37bb097b245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MSMI / 100</c:v>
          </c:tx>
          <c:spPr>
            <a:solidFill xmlns:a="http://schemas.openxmlformats.org/drawingml/2006/main">
              <a:srgbClr val="33233F"/>
            </a:solidFill>
          </c:spPr>
          <c:invertIfNegative val="0"/>
          <c:dPt>
            <c:idx val="0"/>
            <c:invertIfNegative val="0"/>
            <c:spPr>
              <a:solidFill xmlns:a="http://schemas.openxmlformats.org/drawingml/2006/main">
                <a:srgbClr val="33233F"/>
              </a:solidFill>
            </c:spPr>
          </c:dPt>
          <c:dPt>
            <c:idx val="1"/>
            <c:invertIfNegative val="0"/>
            <c:spPr>
              <a:solidFill xmlns:a="http://schemas.openxmlformats.org/drawingml/2006/main">
                <a:srgbClr val="5B624A"/>
              </a:solidFill>
            </c:spPr>
          </c:dPt>
          <c:dPt>
            <c:idx val="2"/>
            <c:invertIfNegative val="0"/>
            <c:spPr>
              <a:solidFill xmlns:a="http://schemas.openxmlformats.org/drawingml/2006/main">
                <a:srgbClr val="A9956D"/>
              </a:solidFill>
            </c:spPr>
          </c:dPt>
          <c:dPt>
            <c:idx val="3"/>
            <c:invertIfNegative val="0"/>
            <c:spPr>
              <a:solidFill xmlns:a="http://schemas.openxmlformats.org/drawingml/2006/main">
                <a:srgbClr val="D8CBB7"/>
              </a:solidFill>
            </c:spPr>
          </c:dPt>
          <c:cat>
            <c:strRef>
              <c:f>'Chart Data'!$A$2:$A$5</c:f>
              <c:strCache>
                <c:ptCount val="4"/>
                <c:pt idx="0">
                  <c:v>Submitted</c:v>
                </c:pt>
                <c:pt idx="1">
                  <c:v>Greedy</c:v>
                </c:pt>
                <c:pt idx="2">
                  <c:v>Random feasible</c:v>
                </c:pt>
                <c:pt idx="3">
                  <c:v>No clarification</c:v>
                </c:pt>
              </c:strCache>
            </c:strRef>
          </c:cat>
          <c:val>
            <c:numRef>
              <c:f>'Chart Data'!$B$2:$B$5</c:f>
              <c:numCache>
                <c:formatCode>0.0000</c:formatCode>
                <c:ptCount val="4"/>
                <c:pt idx="0">
                  <c:v>0.4444</c:v>
                </c:pt>
                <c:pt idx="1">
                  <c:v>0.3889</c:v>
                </c:pt>
                <c:pt idx="2">
                  <c:v>0.2778</c:v>
                </c:pt>
                <c:pt idx="3">
                  <c:v>0.1389</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2B2E22"/>
                  </a:solidFill>
                  <a:latin typeface="Segoe UI"/>
                  <a:ea typeface="Segoe UI"/>
                  <a:cs typeface="Segoe UI"/>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8CBB7"/>
            </a:solidFill>
            <a:prstDash val="solid"/>
          </a:ln>
        </c:spPr>
        <c:txPr>
          <a:bodyPr xmlns:a="http://schemas.openxmlformats.org/drawingml/2006/main" anchorCtr="1"/>
          <a:lstStyle xmlns:a="http://schemas.openxmlformats.org/drawingml/2006/main"/>
          <a:p xmlns:a="http://schemas.openxmlformats.org/drawingml/2006/main">
            <a:pPr>
              <a:defRPr sz="1200">
                <a:solidFill>
                  <a:srgbClr val="2B2E22"/>
                </a:solidFill>
                <a:latin typeface="Segoe UI"/>
                <a:ea typeface="Segoe UI"/>
                <a:cs typeface="Segoe UI"/>
              </a:defRPr>
            </a:pPr>
          </a:p>
        </c:txPr>
        <c:crossAx val="48650112"/>
        <c:crossBetween val="between"/>
      </c:valAx>
      <c:spPr>
        <a:solidFill xmlns:a="http://schemas.openxmlformats.org/drawingml/2006/main">
          <a:srgbClr val="FBF2E3"/>
        </a:solidFill>
        <a:ln xmlns:a="http://schemas.openxmlformats.org/drawingml/2006/main" w="0">
          <a:noFill/>
          <a:prstDash val="solid"/>
        </a:ln>
      </c:spPr>
    </c:plotArea>
    <c:plotVisOnly val="1"/>
  </c:chart>
  <c:spPr>
    <a:solidFill xmlns:a="http://schemas.openxmlformats.org/drawingml/2006/main">
      <a:srgbClr val="FBF2E3"/>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Submitted policy</c:v>
          </c:tx>
          <c:spPr>
            <a:solidFill xmlns:a="http://schemas.openxmlformats.org/drawingml/2006/main">
              <a:srgbClr val="33233F"/>
            </a:solidFill>
          </c:spPr>
          <c:invertIfNegative val="0"/>
          <c:dPt>
            <c:idx val="0"/>
            <c:invertIfNegative val="0"/>
            <c:spPr>
              <a:solidFill xmlns:a="http://schemas.openxmlformats.org/drawingml/2006/main">
                <a:srgbClr val="33233F"/>
              </a:solidFill>
            </c:spPr>
          </c:dPt>
          <c:dPt>
            <c:idx val="1"/>
            <c:invertIfNegative val="0"/>
            <c:spPr>
              <a:solidFill xmlns:a="http://schemas.openxmlformats.org/drawingml/2006/main">
                <a:srgbClr val="33233F"/>
              </a:solidFill>
            </c:spPr>
          </c:dPt>
          <c:dPt>
            <c:idx val="2"/>
            <c:invertIfNegative val="0"/>
            <c:spPr>
              <a:solidFill xmlns:a="http://schemas.openxmlformats.org/drawingml/2006/main">
                <a:srgbClr val="5B624A"/>
              </a:solidFill>
            </c:spPr>
          </c:dPt>
          <c:dPt>
            <c:idx val="3"/>
            <c:invertIfNegative val="0"/>
            <c:spPr>
              <a:solidFill xmlns:a="http://schemas.openxmlformats.org/drawingml/2006/main">
                <a:srgbClr val="5B624A"/>
              </a:solidFill>
            </c:spPr>
          </c:dPt>
          <c:dPt>
            <c:idx val="4"/>
            <c:invertIfNegative val="0"/>
            <c:spPr>
              <a:solidFill xmlns:a="http://schemas.openxmlformats.org/drawingml/2006/main">
                <a:srgbClr val="A9956D"/>
              </a:solidFill>
            </c:spPr>
          </c:dPt>
          <c:dPt>
            <c:idx val="5"/>
            <c:invertIfNegative val="0"/>
            <c:spPr>
              <a:solidFill xmlns:a="http://schemas.openxmlformats.org/drawingml/2006/main">
                <a:srgbClr val="A75F5A"/>
              </a:solidFill>
            </c:spPr>
          </c:dPt>
          <c:cat>
            <c:strRef>
              <c:f>'Chart Data'!$A$2:$A$7</c:f>
              <c:strCache>
                <c:ptCount val="6"/>
                <c:pt idx="0">
                  <c:v>Cold start</c:v>
                </c:pt>
                <c:pt idx="1">
                  <c:v>Shift</c:v>
                </c:pt>
                <c:pt idx="2">
                  <c:v>Development</c:v>
                </c:pt>
                <c:pt idx="3">
                  <c:v>Drift</c:v>
                </c:pt>
                <c:pt idx="4">
                  <c:v>Delayed</c:v>
                </c:pt>
                <c:pt idx="5">
                  <c:v>Sparse</c:v>
                </c:pt>
              </c:strCache>
            </c:strRef>
          </c:cat>
          <c:val>
            <c:numRef>
              <c:f>'Chart Data'!$B$2:$B$7</c:f>
              <c:numCache>
                <c:formatCode>0.0000</c:formatCode>
                <c:ptCount val="6"/>
                <c:pt idx="0">
                  <c:v>0.6667</c:v>
                </c:pt>
                <c:pt idx="1">
                  <c:v>0.6667</c:v>
                </c:pt>
                <c:pt idx="2">
                  <c:v>0.5</c:v>
                </c:pt>
                <c:pt idx="3">
                  <c:v>0.5</c:v>
                </c:pt>
                <c:pt idx="4">
                  <c:v>0.3333</c:v>
                </c:pt>
                <c:pt idx="5">
                  <c:v>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B2E22"/>
                  </a:solidFill>
                  <a:latin typeface="Segoe UI"/>
                  <a:ea typeface="Segoe UI"/>
                  <a:cs typeface="Segoe UI"/>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8CBB7"/>
            </a:solidFill>
            <a:prstDash val="solid"/>
          </a:ln>
        </c:spPr>
        <c:txPr>
          <a:bodyPr xmlns:a="http://schemas.openxmlformats.org/drawingml/2006/main" anchorCtr="1"/>
          <a:lstStyle xmlns:a="http://schemas.openxmlformats.org/drawingml/2006/main"/>
          <a:p xmlns:a="http://schemas.openxmlformats.org/drawingml/2006/main">
            <a:pPr>
              <a:defRPr sz="1125">
                <a:solidFill>
                  <a:srgbClr val="2B2E22"/>
                </a:solidFill>
                <a:latin typeface="Segoe UI"/>
                <a:ea typeface="Segoe UI"/>
                <a:cs typeface="Segoe UI"/>
              </a:defRPr>
            </a:pPr>
          </a:p>
        </c:txPr>
        <c:crossAx val="48650112"/>
        <c:crossBetween val="between"/>
      </c:valAx>
      <c:spPr>
        <a:solidFill xmlns:a="http://schemas.openxmlformats.org/drawingml/2006/main">
          <a:srgbClr val="FBF2E3"/>
        </a:solidFill>
        <a:ln xmlns:a="http://schemas.openxmlformats.org/drawingml/2006/main" w="0">
          <a:noFill/>
          <a:prstDash val="solid"/>
        </a:ln>
      </c:spPr>
    </c:plotArea>
    <c:plotVisOnly val="1"/>
  </c:chart>
  <c:spPr>
    <a:solidFill xmlns:a="http://schemas.openxmlformats.org/drawingml/2006/main">
      <a:srgbClr val="FBF2E3"/>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1CA61F4-A2BC-445F-B30E-4A3CF606F6D0}"/>
              </a:ext>
            </a:extLst>
          </p:cNvPr>
          <p:cNvPicPr>
            <a:picLocks xmlns:a="http://schemas.openxmlformats.org/drawingml/2006/main" noChangeAspect="1"/>
          </p:cNvPicPr>
          <p:nvPr/>
        </p:nvPicPr>
        <p:blipFill>
          <a:blip xmlns:r="http://schemas.openxmlformats.org/officeDocument/2006/relationships" xmlns:a="http://schemas.openxmlformats.org/drawingml/2006/main" r:embed="R3950f407601749e4"/>
          <a:stretch xmlns:a="http://schemas.openxmlformats.org/drawingml/2006/main"/>
        </p:blipFill>
        <p:spPr>
          <a:xfrm xmlns:a="http://schemas.openxmlformats.org/drawingml/2006/main">
            <a:off x="6877050" y="1728788"/>
            <a:ext cx="4552950" cy="22764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59EA7E-FCAA-4DAC-A573-F08CA8768D94}"/>
              </a:ext>
            </a:extLst>
          </p:cNvPr>
          <p:cNvSpPr>
            <a:spLocks xmlns:a="http://schemas.openxmlformats.org/drawingml/2006/main" noGrp="1"/>
          </p:cNvSpPr>
          <p:nvPr/>
        </p:nvSpPr>
        <p:spPr>
          <a:xfrm xmlns:a="http://schemas.openxmlformats.org/drawingml/2006/main" rot="0">
            <a:off x="704850" y="4572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A9956D"/>
                </a:solidFill>
                <a:latin typeface="Segoe UI"/>
                <a:ea typeface="Segoe UI"/>
                <a:cs typeface="Segoe UI"/>
              </a:defRPr>
            </a:defPPr>
          </a:lstStyle>
          <a:p xmlns:a="http://schemas.openxmlformats.org/drawingml/2006/main">
            <a:pPr algn="l">
              <a:defRPr sz="900" b="1" i="0">
                <a:solidFill>
                  <a:srgbClr val="A9956D"/>
                </a:solidFill>
                <a:latin typeface="Segoe UI"/>
                <a:ea typeface="Segoe UI"/>
                <a:cs typeface="Segoe UI"/>
              </a:defRPr>
            </a:pPr>
            <a:r>
              <a:rPr sz="900" b="1" i="0">
                <a:solidFill>
                  <a:srgbClr val="A9956D"/>
                </a:solidFill>
                <a:latin typeface="Segoe UI"/>
                <a:ea typeface="Segoe UI"/>
                <a:cs typeface="Segoe UI"/>
              </a:rPr>
              <a:t>ROMEO &amp; JULIET / ROUND 2</a:t>
            </a:r>
          </a:p>
        </p:txBody>
      </p:sp>
      <p:sp>
        <p:nvSpPr>
          <p:cNvPr id="3" name="">
            <a:extLst xmlns:a="http://schemas.openxmlformats.org/drawingml/2006/main">
              <a:ext uri="{FF2B5EF4-FFF2-40B4-BE49-F238E27FC236}">
                <a16:creationId xmlns:a16="http://schemas.microsoft.com/office/drawing/2014/main" id="{3E1C6FDF-2075-42B3-87AF-31A9800207CA}"/>
              </a:ext>
            </a:extLst>
          </p:cNvPr>
          <p:cNvSpPr>
            <a:spLocks xmlns:a="http://schemas.openxmlformats.org/drawingml/2006/main" noGrp="1"/>
          </p:cNvSpPr>
          <p:nvPr/>
        </p:nvSpPr>
        <p:spPr>
          <a:xfrm xmlns:a="http://schemas.openxmlformats.org/drawingml/2006/main" rot="0">
            <a:off x="704850" y="800100"/>
            <a:ext cx="107823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898F4BD-506A-433B-8986-9915D466AB30}"/>
              </a:ext>
            </a:extLst>
          </p:cNvPr>
          <p:cNvSpPr>
            <a:spLocks xmlns:a="http://schemas.openxmlformats.org/drawingml/2006/main" noGrp="1"/>
          </p:cNvSpPr>
          <p:nvPr/>
        </p:nvSpPr>
        <p:spPr>
          <a:xfrm xmlns:a="http://schemas.openxmlformats.org/drawingml/2006/main" rot="0">
            <a:off x="704850" y="1485900"/>
            <a:ext cx="6191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0" i="0">
                <a:solidFill>
                  <a:srgbClr val="2B2E22"/>
                </a:solidFill>
                <a:latin typeface="Georgia"/>
                <a:ea typeface="Georgia"/>
                <a:cs typeface="Georgia"/>
              </a:defRPr>
            </a:defPPr>
          </a:lstStyle>
          <a:p xmlns:a="http://schemas.openxmlformats.org/drawingml/2006/main">
            <a:pPr algn="l">
              <a:defRPr sz="4650" b="0" i="0">
                <a:solidFill>
                  <a:srgbClr val="2B2E22"/>
                </a:solidFill>
                <a:latin typeface="Georgia"/>
                <a:ea typeface="Georgia"/>
                <a:cs typeface="Georgia"/>
              </a:defRPr>
            </a:pPr>
            <a:r>
              <a:rPr sz="4650" b="0" i="0">
                <a:solidFill>
                  <a:srgbClr val="2B2E22"/>
                </a:solidFill>
                <a:latin typeface="Georgia"/>
                <a:ea typeface="Georgia"/>
                <a:cs typeface="Georgia"/>
              </a:rPr>
              <a:t>One introduction,</a:t>
            </a:r>
          </a:p>
        </p:txBody>
      </p:sp>
      <p:sp>
        <p:nvSpPr>
          <p:cNvPr id="5" name="">
            <a:extLst xmlns:a="http://schemas.openxmlformats.org/drawingml/2006/main">
              <a:ext uri="{FF2B5EF4-FFF2-40B4-BE49-F238E27FC236}">
                <a16:creationId xmlns:a16="http://schemas.microsoft.com/office/drawing/2014/main" id="{157959B1-EAFB-4FBA-9623-7560638B8C48}"/>
              </a:ext>
            </a:extLst>
          </p:cNvPr>
          <p:cNvSpPr>
            <a:spLocks xmlns:a="http://schemas.openxmlformats.org/drawingml/2006/main" noGrp="1"/>
          </p:cNvSpPr>
          <p:nvPr/>
        </p:nvSpPr>
        <p:spPr>
          <a:xfrm xmlns:a="http://schemas.openxmlformats.org/drawingml/2006/main" rot="0">
            <a:off x="704850" y="2190750"/>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0" i="1">
                <a:solidFill>
                  <a:srgbClr val="33233F"/>
                </a:solidFill>
                <a:latin typeface="Georgia"/>
                <a:ea typeface="Georgia"/>
                <a:cs typeface="Georgia"/>
              </a:defRPr>
            </a:defPPr>
          </a:lstStyle>
          <a:p xmlns:a="http://schemas.openxmlformats.org/drawingml/2006/main">
            <a:pPr algn="l">
              <a:defRPr sz="4650" b="0" i="1">
                <a:solidFill>
                  <a:srgbClr val="33233F"/>
                </a:solidFill>
                <a:latin typeface="Georgia"/>
                <a:ea typeface="Georgia"/>
                <a:cs typeface="Georgia"/>
              </a:defRPr>
            </a:pPr>
            <a:r>
              <a:rPr sz="4650" b="0" i="1">
                <a:solidFill>
                  <a:srgbClr val="33233F"/>
                </a:solidFill>
                <a:latin typeface="Georgia"/>
                <a:ea typeface="Georgia"/>
                <a:cs typeface="Georgia"/>
              </a:rPr>
              <a:t>when it is right</a:t>
            </a:r>
          </a:p>
        </p:txBody>
      </p:sp>
      <p:sp>
        <p:nvSpPr>
          <p:cNvPr id="6" name="">
            <a:extLst xmlns:a="http://schemas.openxmlformats.org/drawingml/2006/main">
              <a:ext uri="{FF2B5EF4-FFF2-40B4-BE49-F238E27FC236}">
                <a16:creationId xmlns:a16="http://schemas.microsoft.com/office/drawing/2014/main" id="{3F57699F-2446-4F69-9FDF-D2D6BB723D8F}"/>
              </a:ext>
            </a:extLst>
          </p:cNvPr>
          <p:cNvSpPr>
            <a:spLocks xmlns:a="http://schemas.openxmlformats.org/drawingml/2006/main" noGrp="1"/>
          </p:cNvSpPr>
          <p:nvPr/>
        </p:nvSpPr>
        <p:spPr>
          <a:xfrm xmlns:a="http://schemas.openxmlformats.org/drawingml/2006/main" rot="0">
            <a:off x="742950" y="325755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5B624A"/>
                </a:solidFill>
                <a:latin typeface="Segoe UI"/>
                <a:ea typeface="Segoe UI"/>
                <a:cs typeface="Segoe UI"/>
              </a:defRPr>
            </a:defPPr>
          </a:lstStyle>
          <a:p xmlns:a="http://schemas.openxmlformats.org/drawingml/2006/main">
            <a:pPr algn="l">
              <a:defRPr sz="1650" b="0" i="0">
                <a:solidFill>
                  <a:srgbClr val="5B624A"/>
                </a:solidFill>
                <a:latin typeface="Segoe UI"/>
                <a:ea typeface="Segoe UI"/>
                <a:cs typeface="Segoe UI"/>
              </a:defRPr>
            </a:pPr>
            <a:r>
              <a:rPr sz="1650" b="0" i="0">
                <a:solidFill>
                  <a:srgbClr val="5B624A"/>
                </a:solidFill>
                <a:latin typeface="Segoe UI"/>
                <a:ea typeface="Segoe UI"/>
                <a:cs typeface="Segoe UI"/>
              </a:rPr>
              <a:t>A reciprocal matching policy under uncertainty</a:t>
            </a:r>
          </a:p>
        </p:txBody>
      </p:sp>
      <p:sp>
        <p:nvSpPr>
          <p:cNvPr id="7" name="">
            <a:extLst xmlns:a="http://schemas.openxmlformats.org/drawingml/2006/main">
              <a:ext uri="{FF2B5EF4-FFF2-40B4-BE49-F238E27FC236}">
                <a16:creationId xmlns:a16="http://schemas.microsoft.com/office/drawing/2014/main" id="{33E3A57A-21DE-44BD-B96C-8C7AF77694FC}"/>
              </a:ext>
            </a:extLst>
          </p:cNvPr>
          <p:cNvSpPr>
            <a:spLocks xmlns:a="http://schemas.openxmlformats.org/drawingml/2006/main" noGrp="1"/>
          </p:cNvSpPr>
          <p:nvPr/>
        </p:nvSpPr>
        <p:spPr>
          <a:xfrm xmlns:a="http://schemas.openxmlformats.org/drawingml/2006/main" rot="0">
            <a:off x="9486900" y="12954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FOR THE JUDGES</a:t>
            </a:r>
          </a:p>
        </p:txBody>
      </p:sp>
      <p:sp>
        <p:nvSpPr>
          <p:cNvPr id="8" name="">
            <a:extLst xmlns:a="http://schemas.openxmlformats.org/drawingml/2006/main">
              <a:ext uri="{FF2B5EF4-FFF2-40B4-BE49-F238E27FC236}">
                <a16:creationId xmlns:a16="http://schemas.microsoft.com/office/drawing/2014/main" id="{24E6F6A7-22AB-455E-9C20-609C657EF780}"/>
              </a:ext>
            </a:extLst>
          </p:cNvPr>
          <p:cNvSpPr>
            <a:spLocks xmlns:a="http://schemas.openxmlformats.org/drawingml/2006/main" noGrp="1"/>
          </p:cNvSpPr>
          <p:nvPr/>
        </p:nvSpPr>
        <p:spPr>
          <a:xfrm xmlns:a="http://schemas.openxmlformats.org/drawingml/2006/main" rot="0">
            <a:off x="742950" y="4114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SUBMITTED METHOD</a:t>
            </a:r>
          </a:p>
        </p:txBody>
      </p:sp>
      <p:sp>
        <p:nvSpPr>
          <p:cNvPr id="9" name="">
            <a:extLst xmlns:a="http://schemas.openxmlformats.org/drawingml/2006/main">
              <a:ext uri="{FF2B5EF4-FFF2-40B4-BE49-F238E27FC236}">
                <a16:creationId xmlns:a16="http://schemas.microsoft.com/office/drawing/2014/main" id="{8E363644-6943-4554-82DF-579590007B6A}"/>
              </a:ext>
            </a:extLst>
          </p:cNvPr>
          <p:cNvSpPr>
            <a:spLocks xmlns:a="http://schemas.openxmlformats.org/drawingml/2006/main" noGrp="1"/>
          </p:cNvSpPr>
          <p:nvPr/>
        </p:nvSpPr>
        <p:spPr>
          <a:xfrm xmlns:a="http://schemas.openxmlformats.org/drawingml/2006/main" rot="0">
            <a:off x="742950" y="4438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33233F"/>
                </a:solidFill>
                <a:latin typeface="Segoe UI"/>
                <a:ea typeface="Segoe UI"/>
                <a:cs typeface="Segoe UI"/>
              </a:defRPr>
            </a:defPPr>
          </a:lstStyle>
          <a:p xmlns:a="http://schemas.openxmlformats.org/drawingml/2006/main">
            <a:pPr algn="l">
              <a:defRPr sz="1425" b="1" i="0">
                <a:solidFill>
                  <a:srgbClr val="33233F"/>
                </a:solidFill>
                <a:latin typeface="Segoe UI"/>
                <a:ea typeface="Segoe UI"/>
                <a:cs typeface="Segoe UI"/>
              </a:defRPr>
            </a:pPr>
            <a:r>
              <a:rPr sz="1425" b="1" i="0">
                <a:solidFill>
                  <a:srgbClr val="33233F"/>
                </a:solidFill>
                <a:latin typeface="Segoe UI"/>
                <a:ea typeface="Segoe UI"/>
                <a:cs typeface="Segoe UI"/>
              </a:rPr>
              <a:t>adaptive_greedy</a:t>
            </a:r>
          </a:p>
        </p:txBody>
      </p:sp>
      <p:sp>
        <p:nvSpPr>
          <p:cNvPr id="10" name="">
            <a:extLst xmlns:a="http://schemas.openxmlformats.org/drawingml/2006/main">
              <a:ext uri="{FF2B5EF4-FFF2-40B4-BE49-F238E27FC236}">
                <a16:creationId xmlns:a16="http://schemas.microsoft.com/office/drawing/2014/main" id="{53AD6627-1A55-444B-B809-8A33F614158E}"/>
              </a:ext>
            </a:extLst>
          </p:cNvPr>
          <p:cNvSpPr>
            <a:spLocks xmlns:a="http://schemas.openxmlformats.org/drawingml/2006/main" noGrp="1"/>
          </p:cNvSpPr>
          <p:nvPr/>
        </p:nvSpPr>
        <p:spPr>
          <a:xfrm xmlns:a="http://schemas.openxmlformats.org/drawingml/2006/main" rot="0">
            <a:off x="742950" y="4819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5B624A"/>
                </a:solidFill>
                <a:latin typeface="Segoe UI"/>
                <a:ea typeface="Segoe UI"/>
                <a:cs typeface="Segoe UI"/>
              </a:defRPr>
            </a:defPPr>
          </a:lstStyle>
          <a:p xmlns:a="http://schemas.openxmlformats.org/drawingml/2006/main">
            <a:pPr algn="l">
              <a:defRPr sz="1125" b="0" i="0">
                <a:solidFill>
                  <a:srgbClr val="5B624A"/>
                </a:solidFill>
                <a:latin typeface="Segoe UI"/>
                <a:ea typeface="Segoe UI"/>
                <a:cs typeface="Segoe UI"/>
              </a:defRPr>
            </a:pPr>
            <a:r>
              <a:rPr sz="1125" b="0" i="0">
                <a:solidFill>
                  <a:srgbClr val="5B624A"/>
                </a:solidFill>
                <a:latin typeface="Segoe UI"/>
                <a:ea typeface="Segoe UI"/>
                <a:cs typeface="Segoe UI"/>
              </a:rPr>
              <a:t>Deterministic, offline</a:t>
            </a:r>
          </a:p>
        </p:txBody>
      </p:sp>
      <p:sp>
        <p:nvSpPr>
          <p:cNvPr id="11" name="">
            <a:extLst xmlns:a="http://schemas.openxmlformats.org/drawingml/2006/main">
              <a:ext uri="{FF2B5EF4-FFF2-40B4-BE49-F238E27FC236}">
                <a16:creationId xmlns:a16="http://schemas.microsoft.com/office/drawing/2014/main" id="{E52606E8-8C5F-49FA-A838-C50F8814790E}"/>
              </a:ext>
            </a:extLst>
          </p:cNvPr>
          <p:cNvSpPr>
            <a:spLocks xmlns:a="http://schemas.openxmlformats.org/drawingml/2006/main" noGrp="1"/>
          </p:cNvSpPr>
          <p:nvPr/>
        </p:nvSpPr>
        <p:spPr>
          <a:xfrm xmlns:a="http://schemas.openxmlformats.org/drawingml/2006/main" rot="0">
            <a:off x="742950" y="53340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B624A"/>
                </a:solidFill>
                <a:latin typeface="Segoe UI"/>
                <a:ea typeface="Segoe UI"/>
                <a:cs typeface="Segoe UI"/>
              </a:defRPr>
            </a:defPPr>
          </a:lstStyle>
          <a:p xmlns:a="http://schemas.openxmlformats.org/drawingml/2006/main">
            <a:pPr algn="l">
              <a:defRPr sz="1275" b="0" i="0">
                <a:solidFill>
                  <a:srgbClr val="5B624A"/>
                </a:solidFill>
                <a:latin typeface="Segoe UI"/>
                <a:ea typeface="Segoe UI"/>
                <a:cs typeface="Segoe UI"/>
              </a:defRPr>
            </a:pPr>
            <a:r>
              <a:rPr sz="1275" b="0" i="0">
                <a:solidFill>
                  <a:srgbClr val="5B624A"/>
                </a:solidFill>
                <a:latin typeface="Segoe UI"/>
                <a:ea typeface="Segoe UI"/>
                <a:cs typeface="Segoe UI"/>
              </a:rPr>
              <a:t>Ahan Sardar and Enakshee Mondal</a:t>
            </a:r>
          </a:p>
        </p:txBody>
      </p:sp>
      <p:sp>
        <p:nvSpPr>
          <p:cNvPr id="12" name="">
            <a:extLst xmlns:a="http://schemas.openxmlformats.org/drawingml/2006/main">
              <a:ext uri="{FF2B5EF4-FFF2-40B4-BE49-F238E27FC236}">
                <a16:creationId xmlns:a16="http://schemas.microsoft.com/office/drawing/2014/main" id="{8CBEA06F-5ACA-4856-98F0-F7490B183D0F}"/>
              </a:ext>
            </a:extLst>
          </p:cNvPr>
          <p:cNvSpPr>
            <a:spLocks xmlns:a="http://schemas.openxmlformats.org/drawingml/2006/main" noGrp="1"/>
          </p:cNvSpPr>
          <p:nvPr/>
        </p:nvSpPr>
        <p:spPr>
          <a:xfrm xmlns:a="http://schemas.openxmlformats.org/drawingml/2006/main" rot="0">
            <a:off x="704850" y="5924550"/>
            <a:ext cx="107823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28CB1CF-1AE5-4FAA-9F88-EF9E65EADCD5}"/>
              </a:ext>
            </a:extLst>
          </p:cNvPr>
          <p:cNvSpPr>
            <a:spLocks xmlns:a="http://schemas.openxmlformats.org/drawingml/2006/main" noGrp="1"/>
          </p:cNvSpPr>
          <p:nvPr/>
        </p:nvSpPr>
        <p:spPr>
          <a:xfrm xmlns:a="http://schemas.openxmlformats.org/drawingml/2006/main" rot="0">
            <a:off x="704850" y="60960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i="0">
                <a:solidFill>
                  <a:srgbClr val="A9956D"/>
                </a:solidFill>
                <a:latin typeface="Segoe UI"/>
                <a:ea typeface="Segoe UI"/>
                <a:cs typeface="Segoe UI"/>
              </a:defRPr>
            </a:defPPr>
          </a:lstStyle>
          <a:p xmlns:a="http://schemas.openxmlformats.org/drawingml/2006/main">
            <a:pPr algn="l">
              <a:defRPr sz="750" b="1" i="0">
                <a:solidFill>
                  <a:srgbClr val="A9956D"/>
                </a:solidFill>
                <a:latin typeface="Segoe UI"/>
                <a:ea typeface="Segoe UI"/>
                <a:cs typeface="Segoe UI"/>
              </a:defRPr>
            </a:pPr>
            <a:r>
              <a:rPr sz="750" b="1" i="0">
                <a:solidFill>
                  <a:srgbClr val="A9956D"/>
                </a:solidFill>
                <a:latin typeface="Segoe UI"/>
                <a:ea typeface="Segoe UI"/>
                <a:cs typeface="Segoe UI"/>
              </a:rPr>
              <a:t>PUBLIC SIMULATOR EVIDENCE</a:t>
            </a:r>
          </a:p>
        </p:txBody>
      </p:sp>
      <p:sp>
        <p:nvSpPr>
          <p:cNvPr id="14" name="">
            <a:extLst xmlns:a="http://schemas.openxmlformats.org/drawingml/2006/main">
              <a:ext uri="{FF2B5EF4-FFF2-40B4-BE49-F238E27FC236}">
                <a16:creationId xmlns:a16="http://schemas.microsoft.com/office/drawing/2014/main" id="{503C657A-B5FF-4CF5-AEC2-58F4248D5D38}"/>
              </a:ext>
            </a:extLst>
          </p:cNvPr>
          <p:cNvSpPr>
            <a:spLocks xmlns:a="http://schemas.openxmlformats.org/drawingml/2006/main" noGrp="1"/>
          </p:cNvSpPr>
          <p:nvPr/>
        </p:nvSpPr>
        <p:spPr>
          <a:xfrm xmlns:a="http://schemas.openxmlformats.org/drawingml/2006/main" rot="0">
            <a:off x="9525000" y="6096000"/>
            <a:ext cx="1962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October 2026</a:t>
            </a:r>
          </a:p>
        </p:txBody>
      </p:sp>
    </p:spTree>
    <p:extLst>
      <p:ext uri="{BB962C8B-B14F-4D97-AF65-F5344CB8AC3E}">
        <p14:creationId xmlns:p14="http://schemas.microsoft.com/office/powerpoint/2010/main" val="1213219293"/>
      </p:ext>
    </p:extLst>
  </p:cSld>
</p:sld>
</file>

<file path=ppt/slides/slide2.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C6834BD-6E5E-4DDE-9542-8B3B0A0A5F89}"/>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32DED75E-EAD5-4A95-AC6D-14BD023B5B37}"/>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PROBLEM</a:t>
            </a:r>
          </a:p>
        </p:txBody>
      </p:sp>
      <p:sp>
        <p:nvSpPr>
          <p:cNvPr id="3" name="">
            <a:extLst xmlns:a="http://schemas.openxmlformats.org/drawingml/2006/main">
              <a:ext uri="{FF2B5EF4-FFF2-40B4-BE49-F238E27FC236}">
                <a16:creationId xmlns:a16="http://schemas.microsoft.com/office/drawing/2014/main" id="{8B1DE55E-BAF0-49B0-8730-B2EE0A096C67}"/>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96AC5BCC-EB19-4A36-95FE-47261C878549}"/>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809451-CC38-48D0-B70D-0D7D25375E31}"/>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1FF9A6-4202-4A4F-976E-D12F168D585A}"/>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CE03D1A6-2AFB-4C88-AFE6-0BFA8C7255F1}"/>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70F59AF1-81CF-4DEE-B749-9AAD20F2D645}"/>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The sequential matching problem</a:t>
            </a:r>
          </a:p>
        </p:txBody>
      </p:sp>
      <p:sp>
        <p:nvSpPr>
          <p:cNvPr id="9" name="">
            <a:extLst xmlns:a="http://schemas.openxmlformats.org/drawingml/2006/main">
              <a:ext uri="{FF2B5EF4-FFF2-40B4-BE49-F238E27FC236}">
                <a16:creationId xmlns:a16="http://schemas.microsoft.com/office/drawing/2014/main" id="{05AAC049-7B16-48BF-811B-91F6AF77799E}"/>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Every choice changes the options that remain</a:t>
            </a:r>
          </a:p>
        </p:txBody>
      </p:sp>
      <p:sp>
        <p:nvSpPr>
          <p:cNvPr id="10" name="">
            <a:extLst xmlns:a="http://schemas.openxmlformats.org/drawingml/2006/main">
              <a:ext uri="{FF2B5EF4-FFF2-40B4-BE49-F238E27FC236}">
                <a16:creationId xmlns:a16="http://schemas.microsoft.com/office/drawing/2014/main" id="{BE7B602B-04AF-41E5-8710-4E2A2C9A8CA0}"/>
              </a:ext>
            </a:extLst>
          </p:cNvPr>
          <p:cNvSpPr>
            <a:spLocks xmlns:a="http://schemas.openxmlformats.org/drawingml/2006/main" noGrp="1"/>
          </p:cNvSpPr>
          <p:nvPr/>
        </p:nvSpPr>
        <p:spPr>
          <a:xfrm xmlns:a="http://schemas.openxmlformats.org/drawingml/2006/main" rot="0">
            <a:off x="723900" y="1924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33233F"/>
                </a:solidFill>
                <a:latin typeface="Georgia"/>
                <a:ea typeface="Georgia"/>
                <a:cs typeface="Georgia"/>
              </a:defRPr>
            </a:defPPr>
          </a:lstStyle>
          <a:p xmlns:a="http://schemas.openxmlformats.org/drawingml/2006/main">
            <a:pPr algn="l">
              <a:defRPr sz="1425" b="1" i="0">
                <a:solidFill>
                  <a:srgbClr val="33233F"/>
                </a:solidFill>
                <a:latin typeface="Georgia"/>
                <a:ea typeface="Georgia"/>
                <a:cs typeface="Georgia"/>
              </a:defRPr>
            </a:pPr>
            <a:r>
              <a:rPr sz="1425" b="1" i="0">
                <a:solidFill>
                  <a:srgbClr val="33233F"/>
                </a:solidFill>
                <a:latin typeface="Georgia"/>
                <a:ea typeface="Georgia"/>
                <a:cs typeface="Georgia"/>
              </a:rPr>
              <a:t>Reciprocal</a:t>
            </a:r>
          </a:p>
        </p:txBody>
      </p:sp>
      <p:sp>
        <p:nvSpPr>
          <p:cNvPr id="11" name="">
            <a:extLst xmlns:a="http://schemas.openxmlformats.org/drawingml/2006/main">
              <a:ext uri="{FF2B5EF4-FFF2-40B4-BE49-F238E27FC236}">
                <a16:creationId xmlns:a16="http://schemas.microsoft.com/office/drawing/2014/main" id="{62E89B7E-9658-4C12-9637-DF1493C4B909}"/>
              </a:ext>
            </a:extLst>
          </p:cNvPr>
          <p:cNvSpPr>
            <a:spLocks xmlns:a="http://schemas.openxmlformats.org/drawingml/2006/main" noGrp="1"/>
          </p:cNvSpPr>
          <p:nvPr/>
        </p:nvSpPr>
        <p:spPr>
          <a:xfrm xmlns:a="http://schemas.openxmlformats.org/drawingml/2006/main" rot="0">
            <a:off x="2247900" y="1933575"/>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B2E22"/>
                </a:solidFill>
                <a:latin typeface="Segoe UI"/>
                <a:ea typeface="Segoe UI"/>
                <a:cs typeface="Segoe UI"/>
              </a:defRPr>
            </a:defPPr>
          </a:lstStyle>
          <a:p xmlns:a="http://schemas.openxmlformats.org/drawingml/2006/main">
            <a:pPr algn="l">
              <a:defRPr sz="1275" b="0" i="0">
                <a:solidFill>
                  <a:srgbClr val="2B2E22"/>
                </a:solidFill>
                <a:latin typeface="Segoe UI"/>
                <a:ea typeface="Segoe UI"/>
                <a:cs typeface="Segoe UI"/>
              </a:defRPr>
            </a:pPr>
            <a:r>
              <a:rPr sz="1275" b="0" i="0">
                <a:solidFill>
                  <a:srgbClr val="2B2E22"/>
                </a:solidFill>
                <a:latin typeface="Segoe UI"/>
                <a:ea typeface="Segoe UI"/>
                <a:cs typeface="Segoe UI"/>
              </a:rPr>
              <a:t>Both people must satisfy every hard constraint.</a:t>
            </a:r>
          </a:p>
        </p:txBody>
      </p:sp>
      <p:sp>
        <p:nvSpPr>
          <p:cNvPr id="12" name="">
            <a:extLst xmlns:a="http://schemas.openxmlformats.org/drawingml/2006/main">
              <a:ext uri="{FF2B5EF4-FFF2-40B4-BE49-F238E27FC236}">
                <a16:creationId xmlns:a16="http://schemas.microsoft.com/office/drawing/2014/main" id="{9A8BC3AA-0834-4551-BC16-B8A6ADD7E3C7}"/>
              </a:ext>
            </a:extLst>
          </p:cNvPr>
          <p:cNvSpPr>
            <a:spLocks xmlns:a="http://schemas.openxmlformats.org/drawingml/2006/main" noGrp="1"/>
          </p:cNvSpPr>
          <p:nvPr/>
        </p:nvSpPr>
        <p:spPr>
          <a:xfrm xmlns:a="http://schemas.openxmlformats.org/drawingml/2006/main" rot="0">
            <a:off x="723900" y="2438400"/>
            <a:ext cx="581025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911F032-D7A2-403B-B392-1D07D0B4B2F5}"/>
              </a:ext>
            </a:extLst>
          </p:cNvPr>
          <p:cNvSpPr>
            <a:spLocks xmlns:a="http://schemas.openxmlformats.org/drawingml/2006/main" noGrp="1"/>
          </p:cNvSpPr>
          <p:nvPr/>
        </p:nvSpPr>
        <p:spPr>
          <a:xfrm xmlns:a="http://schemas.openxmlformats.org/drawingml/2006/main" rot="0">
            <a:off x="723900" y="2724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33233F"/>
                </a:solidFill>
                <a:latin typeface="Georgia"/>
                <a:ea typeface="Georgia"/>
                <a:cs typeface="Georgia"/>
              </a:defRPr>
            </a:defPPr>
          </a:lstStyle>
          <a:p xmlns:a="http://schemas.openxmlformats.org/drawingml/2006/main">
            <a:pPr algn="l">
              <a:defRPr sz="1425" b="1" i="0">
                <a:solidFill>
                  <a:srgbClr val="33233F"/>
                </a:solidFill>
                <a:latin typeface="Georgia"/>
                <a:ea typeface="Georgia"/>
                <a:cs typeface="Georgia"/>
              </a:defRPr>
            </a:pPr>
            <a:r>
              <a:rPr sz="1425" b="1" i="0">
                <a:solidFill>
                  <a:srgbClr val="33233F"/>
                </a:solidFill>
                <a:latin typeface="Georgia"/>
                <a:ea typeface="Georgia"/>
                <a:cs typeface="Georgia"/>
              </a:rPr>
              <a:t>Incomplete</a:t>
            </a:r>
          </a:p>
        </p:txBody>
      </p:sp>
      <p:sp>
        <p:nvSpPr>
          <p:cNvPr id="14" name="">
            <a:extLst xmlns:a="http://schemas.openxmlformats.org/drawingml/2006/main">
              <a:ext uri="{FF2B5EF4-FFF2-40B4-BE49-F238E27FC236}">
                <a16:creationId xmlns:a16="http://schemas.microsoft.com/office/drawing/2014/main" id="{27030FF5-661E-491D-82AD-447A0642A786}"/>
              </a:ext>
            </a:extLst>
          </p:cNvPr>
          <p:cNvSpPr>
            <a:spLocks xmlns:a="http://schemas.openxmlformats.org/drawingml/2006/main" noGrp="1"/>
          </p:cNvSpPr>
          <p:nvPr/>
        </p:nvSpPr>
        <p:spPr>
          <a:xfrm xmlns:a="http://schemas.openxmlformats.org/drawingml/2006/main" rot="0">
            <a:off x="2247900" y="2733675"/>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B2E22"/>
                </a:solidFill>
                <a:latin typeface="Segoe UI"/>
                <a:ea typeface="Segoe UI"/>
                <a:cs typeface="Segoe UI"/>
              </a:defRPr>
            </a:defPPr>
          </a:lstStyle>
          <a:p xmlns:a="http://schemas.openxmlformats.org/drawingml/2006/main">
            <a:pPr algn="l">
              <a:defRPr sz="1275" b="0" i="0">
                <a:solidFill>
                  <a:srgbClr val="2B2E22"/>
                </a:solidFill>
                <a:latin typeface="Segoe UI"/>
                <a:ea typeface="Segoe UI"/>
                <a:cs typeface="Segoe UI"/>
              </a:defRPr>
            </a:pPr>
            <a:r>
              <a:rPr sz="1275" b="0" i="0">
                <a:solidFill>
                  <a:srgbClr val="2B2E22"/>
                </a:solidFill>
                <a:latin typeface="Segoe UI"/>
                <a:ea typeface="Segoe UI"/>
                <a:cs typeface="Segoe UI"/>
              </a:rPr>
              <a:t>Some information must be clarified before an edge exists.</a:t>
            </a:r>
          </a:p>
        </p:txBody>
      </p:sp>
      <p:sp>
        <p:nvSpPr>
          <p:cNvPr id="15" name="">
            <a:extLst xmlns:a="http://schemas.openxmlformats.org/drawingml/2006/main">
              <a:ext uri="{FF2B5EF4-FFF2-40B4-BE49-F238E27FC236}">
                <a16:creationId xmlns:a16="http://schemas.microsoft.com/office/drawing/2014/main" id="{756BB3C7-EF0B-4F2C-B8B6-A1BA6CA066A7}"/>
              </a:ext>
            </a:extLst>
          </p:cNvPr>
          <p:cNvSpPr>
            <a:spLocks xmlns:a="http://schemas.openxmlformats.org/drawingml/2006/main" noGrp="1"/>
          </p:cNvSpPr>
          <p:nvPr/>
        </p:nvSpPr>
        <p:spPr>
          <a:xfrm xmlns:a="http://schemas.openxmlformats.org/drawingml/2006/main" rot="0">
            <a:off x="723900" y="3238500"/>
            <a:ext cx="581025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5DB6DA9-5399-4F23-B107-D4CE7B438AEF}"/>
              </a:ext>
            </a:extLst>
          </p:cNvPr>
          <p:cNvSpPr>
            <a:spLocks xmlns:a="http://schemas.openxmlformats.org/drawingml/2006/main" noGrp="1"/>
          </p:cNvSpPr>
          <p:nvPr/>
        </p:nvSpPr>
        <p:spPr>
          <a:xfrm xmlns:a="http://schemas.openxmlformats.org/drawingml/2006/main" rot="0">
            <a:off x="723900" y="35242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33233F"/>
                </a:solidFill>
                <a:latin typeface="Georgia"/>
                <a:ea typeface="Georgia"/>
                <a:cs typeface="Georgia"/>
              </a:defRPr>
            </a:defPPr>
          </a:lstStyle>
          <a:p xmlns:a="http://schemas.openxmlformats.org/drawingml/2006/main">
            <a:pPr algn="l">
              <a:defRPr sz="1425" b="1" i="0">
                <a:solidFill>
                  <a:srgbClr val="33233F"/>
                </a:solidFill>
                <a:latin typeface="Georgia"/>
                <a:ea typeface="Georgia"/>
                <a:cs typeface="Georgia"/>
              </a:defRPr>
            </a:pPr>
            <a:r>
              <a:rPr sz="1425" b="1" i="0">
                <a:solidFill>
                  <a:srgbClr val="33233F"/>
                </a:solidFill>
                <a:latin typeface="Georgia"/>
                <a:ea typeface="Georgia"/>
                <a:cs typeface="Georgia"/>
              </a:rPr>
              <a:t>Sequential</a:t>
            </a:r>
          </a:p>
        </p:txBody>
      </p:sp>
      <p:sp>
        <p:nvSpPr>
          <p:cNvPr id="17" name="">
            <a:extLst xmlns:a="http://schemas.openxmlformats.org/drawingml/2006/main">
              <a:ext uri="{FF2B5EF4-FFF2-40B4-BE49-F238E27FC236}">
                <a16:creationId xmlns:a16="http://schemas.microsoft.com/office/drawing/2014/main" id="{48796CE8-F5ED-4A5E-9ADF-386FB1B3E7C6}"/>
              </a:ext>
            </a:extLst>
          </p:cNvPr>
          <p:cNvSpPr>
            <a:spLocks xmlns:a="http://schemas.openxmlformats.org/drawingml/2006/main" noGrp="1"/>
          </p:cNvSpPr>
          <p:nvPr/>
        </p:nvSpPr>
        <p:spPr>
          <a:xfrm xmlns:a="http://schemas.openxmlformats.org/drawingml/2006/main" rot="0">
            <a:off x="2247900" y="3533775"/>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B2E22"/>
                </a:solidFill>
                <a:latin typeface="Segoe UI"/>
                <a:ea typeface="Segoe UI"/>
                <a:cs typeface="Segoe UI"/>
              </a:defRPr>
            </a:defPPr>
          </a:lstStyle>
          <a:p xmlns:a="http://schemas.openxmlformats.org/drawingml/2006/main">
            <a:pPr algn="l">
              <a:defRPr sz="1275" b="0" i="0">
                <a:solidFill>
                  <a:srgbClr val="2B2E22"/>
                </a:solidFill>
                <a:latin typeface="Segoe UI"/>
                <a:ea typeface="Segoe UI"/>
                <a:cs typeface="Segoe UI"/>
              </a:defRPr>
            </a:pPr>
            <a:r>
              <a:rPr sz="1275" b="0" i="0">
                <a:solidFill>
                  <a:srgbClr val="2B2E22"/>
                </a:solidFill>
                <a:latin typeface="Segoe UI"/>
                <a:ea typeface="Segoe UI"/>
                <a:cs typeface="Segoe UI"/>
              </a:rPr>
              <a:t>Answers and outcomes arrive after the decision.</a:t>
            </a:r>
          </a:p>
        </p:txBody>
      </p:sp>
      <p:sp>
        <p:nvSpPr>
          <p:cNvPr id="18" name="">
            <a:extLst xmlns:a="http://schemas.openxmlformats.org/drawingml/2006/main">
              <a:ext uri="{FF2B5EF4-FFF2-40B4-BE49-F238E27FC236}">
                <a16:creationId xmlns:a16="http://schemas.microsoft.com/office/drawing/2014/main" id="{E00DF79E-4F4E-4287-BCE7-CC2259E60AB1}"/>
              </a:ext>
            </a:extLst>
          </p:cNvPr>
          <p:cNvSpPr>
            <a:spLocks xmlns:a="http://schemas.openxmlformats.org/drawingml/2006/main" noGrp="1"/>
          </p:cNvSpPr>
          <p:nvPr/>
        </p:nvSpPr>
        <p:spPr>
          <a:xfrm xmlns:a="http://schemas.openxmlformats.org/drawingml/2006/main" rot="0">
            <a:off x="723900" y="4038600"/>
            <a:ext cx="581025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848CA5-CB01-4974-8C6F-30587A04F4CE}"/>
              </a:ext>
            </a:extLst>
          </p:cNvPr>
          <p:cNvSpPr>
            <a:spLocks xmlns:a="http://schemas.openxmlformats.org/drawingml/2006/main" noGrp="1"/>
          </p:cNvSpPr>
          <p:nvPr/>
        </p:nvSpPr>
        <p:spPr>
          <a:xfrm xmlns:a="http://schemas.openxmlformats.org/drawingml/2006/main" rot="0">
            <a:off x="723900" y="43243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33233F"/>
                </a:solidFill>
                <a:latin typeface="Georgia"/>
                <a:ea typeface="Georgia"/>
                <a:cs typeface="Georgia"/>
              </a:defRPr>
            </a:defPPr>
          </a:lstStyle>
          <a:p xmlns:a="http://schemas.openxmlformats.org/drawingml/2006/main">
            <a:pPr algn="l">
              <a:defRPr sz="1425" b="1" i="0">
                <a:solidFill>
                  <a:srgbClr val="33233F"/>
                </a:solidFill>
                <a:latin typeface="Georgia"/>
                <a:ea typeface="Georgia"/>
                <a:cs typeface="Georgia"/>
              </a:defRPr>
            </a:pPr>
            <a:r>
              <a:rPr sz="1425" b="1" i="0">
                <a:solidFill>
                  <a:srgbClr val="33233F"/>
                </a:solidFill>
                <a:latin typeface="Georgia"/>
                <a:ea typeface="Georgia"/>
                <a:cs typeface="Georgia"/>
              </a:rPr>
              <a:t>Coupled</a:t>
            </a:r>
          </a:p>
        </p:txBody>
      </p:sp>
      <p:sp>
        <p:nvSpPr>
          <p:cNvPr id="20" name="">
            <a:extLst xmlns:a="http://schemas.openxmlformats.org/drawingml/2006/main">
              <a:ext uri="{FF2B5EF4-FFF2-40B4-BE49-F238E27FC236}">
                <a16:creationId xmlns:a16="http://schemas.microsoft.com/office/drawing/2014/main" id="{D1B29F4E-2BE7-4F6D-87DB-F923CA735109}"/>
              </a:ext>
            </a:extLst>
          </p:cNvPr>
          <p:cNvSpPr>
            <a:spLocks xmlns:a="http://schemas.openxmlformats.org/drawingml/2006/main" noGrp="1"/>
          </p:cNvSpPr>
          <p:nvPr/>
        </p:nvSpPr>
        <p:spPr>
          <a:xfrm xmlns:a="http://schemas.openxmlformats.org/drawingml/2006/main" rot="0">
            <a:off x="2247900" y="4333875"/>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B2E22"/>
                </a:solidFill>
                <a:latin typeface="Segoe UI"/>
                <a:ea typeface="Segoe UI"/>
                <a:cs typeface="Segoe UI"/>
              </a:defRPr>
            </a:defPPr>
          </a:lstStyle>
          <a:p xmlns:a="http://schemas.openxmlformats.org/drawingml/2006/main">
            <a:pPr algn="l">
              <a:defRPr sz="1275" b="0" i="0">
                <a:solidFill>
                  <a:srgbClr val="2B2E22"/>
                </a:solidFill>
                <a:latin typeface="Segoe UI"/>
                <a:ea typeface="Segoe UI"/>
                <a:cs typeface="Segoe UI"/>
              </a:defRPr>
            </a:pPr>
            <a:r>
              <a:rPr sz="1275" b="0" i="0">
                <a:solidFill>
                  <a:srgbClr val="2B2E22"/>
                </a:solidFill>
                <a:latin typeface="Segoe UI"/>
                <a:ea typeface="Segoe UI"/>
                <a:cs typeface="Segoe UI"/>
              </a:rPr>
              <a:t>One match removes two people from competing edges.</a:t>
            </a:r>
          </a:p>
        </p:txBody>
      </p:sp>
      <p:sp>
        <p:nvSpPr>
          <p:cNvPr id="21" name="">
            <a:extLst xmlns:a="http://schemas.openxmlformats.org/drawingml/2006/main">
              <a:ext uri="{FF2B5EF4-FFF2-40B4-BE49-F238E27FC236}">
                <a16:creationId xmlns:a16="http://schemas.microsoft.com/office/drawing/2014/main" id="{7F1F7153-7E7C-4E9C-89FE-72509BBF34E9}"/>
              </a:ext>
            </a:extLst>
          </p:cNvPr>
          <p:cNvSpPr>
            <a:spLocks xmlns:a="http://schemas.openxmlformats.org/drawingml/2006/main" noGrp="1"/>
          </p:cNvSpPr>
          <p:nvPr/>
        </p:nvSpPr>
        <p:spPr>
          <a:xfrm xmlns:a="http://schemas.openxmlformats.org/drawingml/2006/main" rot="0">
            <a:off x="723900" y="4838700"/>
            <a:ext cx="581025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316CA3-078D-4A99-BA6A-ACBEBE71DCBD}"/>
              </a:ext>
            </a:extLst>
          </p:cNvPr>
          <p:cNvSpPr>
            <a:spLocks xmlns:a="http://schemas.openxmlformats.org/drawingml/2006/main" noGrp="1"/>
          </p:cNvSpPr>
          <p:nvPr/>
        </p:nvSpPr>
        <p:spPr>
          <a:xfrm xmlns:a="http://schemas.openxmlformats.org/drawingml/2006/main" flipH="0" flipV="0">
            <a:off x="8286750" y="2514600"/>
            <a:ext cx="1581150" cy="0"/>
          </a:xfrm>
          <a:prstGeom xmlns:a="http://schemas.openxmlformats.org/drawingml/2006/main" prst="line">
            <a:avLst/>
          </a:prstGeom>
          <a:noFill xmlns:a="http://schemas.openxmlformats.org/drawingml/2006/main"/>
          <a:ln xmlns:a="http://schemas.openxmlformats.org/drawingml/2006/main" w="47625">
            <a:solidFill>
              <a:srgbClr val="33233F"/>
            </a:solidFill>
            <a:prstDash val="solid"/>
          </a:ln>
        </p:spPr>
      </p:sp>
      <p:sp>
        <p:nvSpPr>
          <p:cNvPr id="23" name="">
            <a:extLst xmlns:a="http://schemas.openxmlformats.org/drawingml/2006/main">
              <a:ext uri="{FF2B5EF4-FFF2-40B4-BE49-F238E27FC236}">
                <a16:creationId xmlns:a16="http://schemas.microsoft.com/office/drawing/2014/main" id="{F5983C0C-751A-43A7-AF8C-A6E895EC865A}"/>
              </a:ext>
            </a:extLst>
          </p:cNvPr>
          <p:cNvSpPr>
            <a:spLocks xmlns:a="http://schemas.openxmlformats.org/drawingml/2006/main" noGrp="1"/>
          </p:cNvSpPr>
          <p:nvPr/>
        </p:nvSpPr>
        <p:spPr>
          <a:xfrm xmlns:a="http://schemas.openxmlformats.org/drawingml/2006/main" flipH="1" flipV="0">
            <a:off x="7277100" y="2724150"/>
            <a:ext cx="781050" cy="990600"/>
          </a:xfrm>
          <a:prstGeom xmlns:a="http://schemas.openxmlformats.org/drawingml/2006/main" prst="line">
            <a:avLst/>
          </a:prstGeom>
          <a:noFill xmlns:a="http://schemas.openxmlformats.org/drawingml/2006/main"/>
          <a:ln xmlns:a="http://schemas.openxmlformats.org/drawingml/2006/main" w="19050">
            <a:solidFill>
              <a:srgbClr val="A9956D"/>
            </a:solidFill>
            <a:prstDash val="solid"/>
          </a:ln>
        </p:spPr>
      </p:sp>
      <p:sp>
        <p:nvSpPr>
          <p:cNvPr id="24" name="">
            <a:extLst xmlns:a="http://schemas.openxmlformats.org/drawingml/2006/main">
              <a:ext uri="{FF2B5EF4-FFF2-40B4-BE49-F238E27FC236}">
                <a16:creationId xmlns:a16="http://schemas.microsoft.com/office/drawing/2014/main" id="{79CB40B4-BD39-4968-B0AD-86C7602555DD}"/>
              </a:ext>
            </a:extLst>
          </p:cNvPr>
          <p:cNvSpPr>
            <a:spLocks xmlns:a="http://schemas.openxmlformats.org/drawingml/2006/main" noGrp="1"/>
          </p:cNvSpPr>
          <p:nvPr/>
        </p:nvSpPr>
        <p:spPr>
          <a:xfrm xmlns:a="http://schemas.openxmlformats.org/drawingml/2006/main" flipH="0" flipV="0">
            <a:off x="10077450" y="2724150"/>
            <a:ext cx="781050" cy="990600"/>
          </a:xfrm>
          <a:prstGeom xmlns:a="http://schemas.openxmlformats.org/drawingml/2006/main" prst="line">
            <a:avLst/>
          </a:prstGeom>
          <a:noFill xmlns:a="http://schemas.openxmlformats.org/drawingml/2006/main"/>
          <a:ln xmlns:a="http://schemas.openxmlformats.org/drawingml/2006/main" w="19050">
            <a:solidFill>
              <a:srgbClr val="A9956D"/>
            </a:solidFill>
            <a:prstDash val="solid"/>
          </a:ln>
        </p:spPr>
      </p:sp>
      <p:sp>
        <p:nvSpPr>
          <p:cNvPr id="25" name="">
            <a:extLst xmlns:a="http://schemas.openxmlformats.org/drawingml/2006/main">
              <a:ext uri="{FF2B5EF4-FFF2-40B4-BE49-F238E27FC236}">
                <a16:creationId xmlns:a16="http://schemas.microsoft.com/office/drawing/2014/main" id="{A345FCBB-D3DB-4FD1-9154-541120CEDD95}"/>
              </a:ext>
            </a:extLst>
          </p:cNvPr>
          <p:cNvSpPr>
            <a:spLocks xmlns:a="http://schemas.openxmlformats.org/drawingml/2006/main" noGrp="1"/>
          </p:cNvSpPr>
          <p:nvPr/>
        </p:nvSpPr>
        <p:spPr>
          <a:xfrm xmlns:a="http://schemas.openxmlformats.org/drawingml/2006/main" flipH="0" flipV="0">
            <a:off x="8058150" y="4057650"/>
            <a:ext cx="2019300" cy="0"/>
          </a:xfrm>
          <a:prstGeom xmlns:a="http://schemas.openxmlformats.org/drawingml/2006/main" prst="line">
            <a:avLst/>
          </a:prstGeom>
          <a:noFill xmlns:a="http://schemas.openxmlformats.org/drawingml/2006/main"/>
          <a:ln xmlns:a="http://schemas.openxmlformats.org/drawingml/2006/main" w="19050">
            <a:solidFill>
              <a:srgbClr val="D8CBB7"/>
            </a:solidFill>
            <a:prstDash val="solid"/>
          </a:ln>
        </p:spPr>
      </p:sp>
      <p:sp>
        <p:nvSpPr>
          <p:cNvPr id="26" name="">
            <a:extLst xmlns:a="http://schemas.openxmlformats.org/drawingml/2006/main">
              <a:ext uri="{FF2B5EF4-FFF2-40B4-BE49-F238E27FC236}">
                <a16:creationId xmlns:a16="http://schemas.microsoft.com/office/drawing/2014/main" id="{98290B3B-66B8-431D-AC30-D0F0FA26A5CE}"/>
              </a:ext>
            </a:extLst>
          </p:cNvPr>
          <p:cNvSpPr>
            <a:spLocks xmlns:a="http://schemas.openxmlformats.org/drawingml/2006/main" noGrp="1"/>
          </p:cNvSpPr>
          <p:nvPr/>
        </p:nvSpPr>
        <p:spPr>
          <a:xfrm xmlns:a="http://schemas.openxmlformats.org/drawingml/2006/main">
            <a:off x="7791450" y="2209800"/>
            <a:ext cx="609600" cy="609600"/>
          </a:xfrm>
          <a:prstGeom xmlns:a="http://schemas.openxmlformats.org/drawingml/2006/main" prst="ellipse">
            <a:avLst/>
          </a:prstGeom>
          <a:solidFill xmlns:a="http://schemas.openxmlformats.org/drawingml/2006/main">
            <a:srgbClr val="33233F"/>
          </a:solidFill>
          <a:ln xmlns:a="http://schemas.openxmlformats.org/drawingml/2006/main" w="19050">
            <a:solidFill>
              <a:srgbClr val="33233F"/>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BF2E3"/>
                </a:solidFill>
                <a:latin typeface="Georgia"/>
                <a:ea typeface="Georgia"/>
                <a:cs typeface="Georgia"/>
              </a:defRPr>
            </a:defPPr>
          </a:lstStyle>
          <a:p xmlns:a="http://schemas.openxmlformats.org/drawingml/2006/main">
            <a:pPr algn="ctr">
              <a:defRPr sz="1650" b="1">
                <a:solidFill>
                  <a:srgbClr val="FBF2E3"/>
                </a:solidFill>
                <a:latin typeface="Georgia"/>
                <a:ea typeface="Georgia"/>
                <a:cs typeface="Georgia"/>
              </a:defRPr>
            </a:pPr>
            <a:r>
              <a:rPr sz="1650" b="1">
                <a:solidFill>
                  <a:srgbClr val="FBF2E3"/>
                </a:solidFill>
                <a:latin typeface="Georgia"/>
                <a:ea typeface="Georgia"/>
                <a:cs typeface="Georgia"/>
              </a:rPr>
              <a:t>A</a:t>
            </a:r>
          </a:p>
        </p:txBody>
      </p:sp>
      <p:sp>
        <p:nvSpPr>
          <p:cNvPr id="27" name="">
            <a:extLst xmlns:a="http://schemas.openxmlformats.org/drawingml/2006/main">
              <a:ext uri="{FF2B5EF4-FFF2-40B4-BE49-F238E27FC236}">
                <a16:creationId xmlns:a16="http://schemas.microsoft.com/office/drawing/2014/main" id="{1188687B-C681-4FAB-B4AD-D731F62F87FF}"/>
              </a:ext>
            </a:extLst>
          </p:cNvPr>
          <p:cNvSpPr>
            <a:spLocks xmlns:a="http://schemas.openxmlformats.org/drawingml/2006/main" noGrp="1"/>
          </p:cNvSpPr>
          <p:nvPr/>
        </p:nvSpPr>
        <p:spPr>
          <a:xfrm xmlns:a="http://schemas.openxmlformats.org/drawingml/2006/main">
            <a:off x="9772650" y="2209800"/>
            <a:ext cx="609600" cy="609600"/>
          </a:xfrm>
          <a:prstGeom xmlns:a="http://schemas.openxmlformats.org/drawingml/2006/main" prst="ellipse">
            <a:avLst/>
          </a:prstGeom>
          <a:solidFill xmlns:a="http://schemas.openxmlformats.org/drawingml/2006/main">
            <a:srgbClr val="33233F"/>
          </a:solidFill>
          <a:ln xmlns:a="http://schemas.openxmlformats.org/drawingml/2006/main" w="19050">
            <a:solidFill>
              <a:srgbClr val="33233F"/>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BF2E3"/>
                </a:solidFill>
                <a:latin typeface="Georgia"/>
                <a:ea typeface="Georgia"/>
                <a:cs typeface="Georgia"/>
              </a:defRPr>
            </a:defPPr>
          </a:lstStyle>
          <a:p xmlns:a="http://schemas.openxmlformats.org/drawingml/2006/main">
            <a:pPr algn="ctr">
              <a:defRPr sz="1650" b="1">
                <a:solidFill>
                  <a:srgbClr val="FBF2E3"/>
                </a:solidFill>
                <a:latin typeface="Georgia"/>
                <a:ea typeface="Georgia"/>
                <a:cs typeface="Georgia"/>
              </a:defRPr>
            </a:pPr>
            <a:r>
              <a:rPr sz="1650" b="1">
                <a:solidFill>
                  <a:srgbClr val="FBF2E3"/>
                </a:solidFill>
                <a:latin typeface="Georgia"/>
                <a:ea typeface="Georgia"/>
                <a:cs typeface="Georgia"/>
              </a:rPr>
              <a:t>B</a:t>
            </a:r>
          </a:p>
        </p:txBody>
      </p:sp>
      <p:sp>
        <p:nvSpPr>
          <p:cNvPr id="28" name="">
            <a:extLst xmlns:a="http://schemas.openxmlformats.org/drawingml/2006/main">
              <a:ext uri="{FF2B5EF4-FFF2-40B4-BE49-F238E27FC236}">
                <a16:creationId xmlns:a16="http://schemas.microsoft.com/office/drawing/2014/main" id="{C6E4409C-09FC-4D2D-A380-30BD9CD05D35}"/>
              </a:ext>
            </a:extLst>
          </p:cNvPr>
          <p:cNvSpPr>
            <a:spLocks xmlns:a="http://schemas.openxmlformats.org/drawingml/2006/main" noGrp="1"/>
          </p:cNvSpPr>
          <p:nvPr/>
        </p:nvSpPr>
        <p:spPr>
          <a:xfrm xmlns:a="http://schemas.openxmlformats.org/drawingml/2006/main">
            <a:off x="6972300" y="3676650"/>
            <a:ext cx="609600" cy="609600"/>
          </a:xfrm>
          <a:prstGeom xmlns:a="http://schemas.openxmlformats.org/drawingml/2006/main" prst="ellipse">
            <a:avLst/>
          </a:prstGeom>
          <a:solidFill xmlns:a="http://schemas.openxmlformats.org/drawingml/2006/main">
            <a:srgbClr val="FBF2E3"/>
          </a:solidFill>
          <a:ln xmlns:a="http://schemas.openxmlformats.org/drawingml/2006/main" w="19050">
            <a:solidFill>
              <a:srgbClr val="A9956D"/>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C</a:t>
            </a:r>
          </a:p>
        </p:txBody>
      </p:sp>
      <p:sp>
        <p:nvSpPr>
          <p:cNvPr id="29" name="">
            <a:extLst xmlns:a="http://schemas.openxmlformats.org/drawingml/2006/main">
              <a:ext uri="{FF2B5EF4-FFF2-40B4-BE49-F238E27FC236}">
                <a16:creationId xmlns:a16="http://schemas.microsoft.com/office/drawing/2014/main" id="{D0A46E8C-9F8D-45A2-8950-F14DD61B3956}"/>
              </a:ext>
            </a:extLst>
          </p:cNvPr>
          <p:cNvSpPr>
            <a:spLocks xmlns:a="http://schemas.openxmlformats.org/drawingml/2006/main" noGrp="1"/>
          </p:cNvSpPr>
          <p:nvPr/>
        </p:nvSpPr>
        <p:spPr>
          <a:xfrm xmlns:a="http://schemas.openxmlformats.org/drawingml/2006/main">
            <a:off x="10591800" y="3676650"/>
            <a:ext cx="609600" cy="609600"/>
          </a:xfrm>
          <a:prstGeom xmlns:a="http://schemas.openxmlformats.org/drawingml/2006/main" prst="ellipse">
            <a:avLst/>
          </a:prstGeom>
          <a:solidFill xmlns:a="http://schemas.openxmlformats.org/drawingml/2006/main">
            <a:srgbClr val="FBF2E3"/>
          </a:solidFill>
          <a:ln xmlns:a="http://schemas.openxmlformats.org/drawingml/2006/main" w="19050">
            <a:solidFill>
              <a:srgbClr val="A9956D"/>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D</a:t>
            </a:r>
          </a:p>
        </p:txBody>
      </p:sp>
      <p:sp>
        <p:nvSpPr>
          <p:cNvPr id="30" name="">
            <a:extLst xmlns:a="http://schemas.openxmlformats.org/drawingml/2006/main">
              <a:ext uri="{FF2B5EF4-FFF2-40B4-BE49-F238E27FC236}">
                <a16:creationId xmlns:a16="http://schemas.microsoft.com/office/drawing/2014/main" id="{872F21A9-C81B-400F-A5AB-9F560F30D0E9}"/>
              </a:ext>
            </a:extLst>
          </p:cNvPr>
          <p:cNvSpPr>
            <a:spLocks xmlns:a="http://schemas.openxmlformats.org/drawingml/2006/main" noGrp="1"/>
          </p:cNvSpPr>
          <p:nvPr/>
        </p:nvSpPr>
        <p:spPr>
          <a:xfrm xmlns:a="http://schemas.openxmlformats.org/drawingml/2006/main" rot="0">
            <a:off x="8401050" y="198120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33233F"/>
                </a:solidFill>
                <a:latin typeface="Segoe UI"/>
                <a:ea typeface="Segoe UI"/>
                <a:cs typeface="Segoe UI"/>
              </a:defRPr>
            </a:defPPr>
          </a:lstStyle>
          <a:p xmlns:a="http://schemas.openxmlformats.org/drawingml/2006/main">
            <a:pPr algn="ctr">
              <a:defRPr sz="900" b="1" i="0">
                <a:solidFill>
                  <a:srgbClr val="33233F"/>
                </a:solidFill>
                <a:latin typeface="Segoe UI"/>
                <a:ea typeface="Segoe UI"/>
                <a:cs typeface="Segoe UI"/>
              </a:defRPr>
            </a:pPr>
            <a:r>
              <a:rPr sz="900" b="1" i="0">
                <a:solidFill>
                  <a:srgbClr val="33233F"/>
                </a:solidFill>
                <a:latin typeface="Segoe UI"/>
                <a:ea typeface="Segoe UI"/>
                <a:cs typeface="Segoe UI"/>
              </a:rPr>
              <a:t>selected pair</a:t>
            </a:r>
          </a:p>
        </p:txBody>
      </p:sp>
      <p:sp>
        <p:nvSpPr>
          <p:cNvPr id="31" name="">
            <a:extLst xmlns:a="http://schemas.openxmlformats.org/drawingml/2006/main">
              <a:ext uri="{FF2B5EF4-FFF2-40B4-BE49-F238E27FC236}">
                <a16:creationId xmlns:a16="http://schemas.microsoft.com/office/drawing/2014/main" id="{72F10938-12AF-4A50-A484-F1DDE5B886E0}"/>
              </a:ext>
            </a:extLst>
          </p:cNvPr>
          <p:cNvSpPr>
            <a:spLocks xmlns:a="http://schemas.openxmlformats.org/drawingml/2006/main" noGrp="1"/>
          </p:cNvSpPr>
          <p:nvPr/>
        </p:nvSpPr>
        <p:spPr>
          <a:xfrm xmlns:a="http://schemas.openxmlformats.org/drawingml/2006/main" rot="0">
            <a:off x="7277100" y="47625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i="0">
                <a:solidFill>
                  <a:srgbClr val="5B624A"/>
                </a:solidFill>
                <a:latin typeface="Georgia"/>
                <a:ea typeface="Georgia"/>
                <a:cs typeface="Georgia"/>
              </a:defRPr>
            </a:defPPr>
          </a:lstStyle>
          <a:p xmlns:a="http://schemas.openxmlformats.org/drawingml/2006/main">
            <a:pPr algn="ctr">
              <a:defRPr sz="1350" b="0" i="0">
                <a:solidFill>
                  <a:srgbClr val="5B624A"/>
                </a:solidFill>
                <a:latin typeface="Georgia"/>
                <a:ea typeface="Georgia"/>
                <a:cs typeface="Georgia"/>
              </a:defRPr>
            </a:pPr>
            <a:r>
              <a:rPr sz="1350" b="0" i="0">
                <a:solidFill>
                  <a:srgbClr val="5B624A"/>
                </a:solidFill>
                <a:latin typeface="Georgia"/>
                <a:ea typeface="Georgia"/>
                <a:cs typeface="Georgia"/>
              </a:rPr>
              <a:t>Selecting A and B removes every competing edge that uses A or B.</a:t>
            </a:r>
          </a:p>
        </p:txBody>
      </p:sp>
    </p:spTree>
    <p:extLst>
      <p:ext uri="{BB962C8B-B14F-4D97-AF65-F5344CB8AC3E}">
        <p14:creationId xmlns:p14="http://schemas.microsoft.com/office/powerpoint/2010/main" val="100378301"/>
      </p:ext>
    </p:extLst>
  </p:cSld>
</p:sld>
</file>

<file path=ppt/slides/slide3.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7A65D99-6E9A-4AD9-A39E-0D0E3B55E615}"/>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741F9FFA-CD4E-48DA-B26D-A1707E7DE9A7}"/>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DECISION BOUNDARY</a:t>
            </a:r>
          </a:p>
        </p:txBody>
      </p:sp>
      <p:sp>
        <p:nvSpPr>
          <p:cNvPr id="3" name="">
            <a:extLst xmlns:a="http://schemas.openxmlformats.org/drawingml/2006/main">
              <a:ext uri="{FF2B5EF4-FFF2-40B4-BE49-F238E27FC236}">
                <a16:creationId xmlns:a16="http://schemas.microsoft.com/office/drawing/2014/main" id="{791457CE-EF2E-44FB-87E8-E2B6A1884455}"/>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03</a:t>
            </a:r>
          </a:p>
        </p:txBody>
      </p:sp>
      <p:sp>
        <p:nvSpPr>
          <p:cNvPr id="4" name="">
            <a:extLst xmlns:a="http://schemas.openxmlformats.org/drawingml/2006/main">
              <a:ext uri="{FF2B5EF4-FFF2-40B4-BE49-F238E27FC236}">
                <a16:creationId xmlns:a16="http://schemas.microsoft.com/office/drawing/2014/main" id="{AABE94D4-2941-402D-B983-3248F48A21AE}"/>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179152-1CBA-4F38-861A-6F2259DF81E5}"/>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8E47EF-48F5-4693-BD7D-6B5220E6AB64}"/>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0283A19A-4E94-4399-BFB0-EA02A0A1A702}"/>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AB465302-3669-4DF3-B19F-6A43D1A3D613}"/>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Feasibility comes before priority</a:t>
            </a:r>
          </a:p>
        </p:txBody>
      </p:sp>
      <p:sp>
        <p:nvSpPr>
          <p:cNvPr id="9" name="">
            <a:extLst xmlns:a="http://schemas.openxmlformats.org/drawingml/2006/main">
              <a:ext uri="{FF2B5EF4-FFF2-40B4-BE49-F238E27FC236}">
                <a16:creationId xmlns:a16="http://schemas.microsoft.com/office/drawing/2014/main" id="{0F89D405-305D-4152-A63C-C61DB6232D08}"/>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The score ranks allowed edges only</a:t>
            </a:r>
          </a:p>
        </p:txBody>
      </p:sp>
      <p:sp>
        <p:nvSpPr>
          <p:cNvPr id="10" name="">
            <a:extLst xmlns:a="http://schemas.openxmlformats.org/drawingml/2006/main">
              <a:ext uri="{FF2B5EF4-FFF2-40B4-BE49-F238E27FC236}">
                <a16:creationId xmlns:a16="http://schemas.microsoft.com/office/drawing/2014/main" id="{5F7125B2-0A3F-446B-B1FF-D20901D95D64}"/>
              </a:ext>
            </a:extLst>
          </p:cNvPr>
          <p:cNvSpPr>
            <a:spLocks xmlns:a="http://schemas.openxmlformats.org/drawingml/2006/main" noGrp="1"/>
          </p:cNvSpPr>
          <p:nvPr/>
        </p:nvSpPr>
        <p:spPr>
          <a:xfrm xmlns:a="http://schemas.openxmlformats.org/drawingml/2006/main" rot="0">
            <a:off x="6086475" y="1752600"/>
            <a:ext cx="9525" cy="373380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030BFA5-AD92-457D-883C-AAEB2DCA3707}"/>
              </a:ext>
            </a:extLst>
          </p:cNvPr>
          <p:cNvSpPr>
            <a:spLocks xmlns:a="http://schemas.openxmlformats.org/drawingml/2006/main" noGrp="1"/>
          </p:cNvSpPr>
          <p:nvPr/>
        </p:nvSpPr>
        <p:spPr>
          <a:xfrm xmlns:a="http://schemas.openxmlformats.org/drawingml/2006/main" rot="0">
            <a:off x="781050" y="18669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0" i="0">
                <a:solidFill>
                  <a:srgbClr val="A9956D"/>
                </a:solidFill>
                <a:latin typeface="Georgia"/>
                <a:ea typeface="Georgia"/>
                <a:cs typeface="Georgia"/>
              </a:defRPr>
            </a:defPPr>
          </a:lstStyle>
          <a:p xmlns:a="http://schemas.openxmlformats.org/drawingml/2006/main">
            <a:pPr algn="l">
              <a:defRPr sz="3000" b="0" i="0">
                <a:solidFill>
                  <a:srgbClr val="A9956D"/>
                </a:solidFill>
                <a:latin typeface="Georgia"/>
                <a:ea typeface="Georgia"/>
                <a:cs typeface="Georgia"/>
              </a:defRPr>
            </a:pPr>
            <a:r>
              <a:rPr sz="3000" b="0" i="0">
                <a:solidFill>
                  <a:srgbClr val="A9956D"/>
                </a:solidFill>
                <a:latin typeface="Georgia"/>
                <a:ea typeface="Georgia"/>
                <a:cs typeface="Georgia"/>
              </a:rPr>
              <a:t>1</a:t>
            </a:r>
          </a:p>
        </p:txBody>
      </p:sp>
      <p:sp>
        <p:nvSpPr>
          <p:cNvPr id="12" name="">
            <a:extLst xmlns:a="http://schemas.openxmlformats.org/drawingml/2006/main">
              <a:ext uri="{FF2B5EF4-FFF2-40B4-BE49-F238E27FC236}">
                <a16:creationId xmlns:a16="http://schemas.microsoft.com/office/drawing/2014/main" id="{EE9B2548-0911-43FC-80E8-71294D0A271E}"/>
              </a:ext>
            </a:extLst>
          </p:cNvPr>
          <p:cNvSpPr>
            <a:spLocks xmlns:a="http://schemas.openxmlformats.org/drawingml/2006/main" noGrp="1"/>
          </p:cNvSpPr>
          <p:nvPr/>
        </p:nvSpPr>
        <p:spPr>
          <a:xfrm xmlns:a="http://schemas.openxmlformats.org/drawingml/2006/main" rot="0">
            <a:off x="1428750" y="19145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i="0">
                <a:solidFill>
                  <a:srgbClr val="2B2E22"/>
                </a:solidFill>
                <a:latin typeface="Georgia"/>
                <a:ea typeface="Georgia"/>
                <a:cs typeface="Georgia"/>
              </a:defRPr>
            </a:defPPr>
          </a:lstStyle>
          <a:p xmlns:a="http://schemas.openxmlformats.org/drawingml/2006/main">
            <a:pPr algn="l">
              <a:defRPr sz="2250" b="0" i="0">
                <a:solidFill>
                  <a:srgbClr val="2B2E22"/>
                </a:solidFill>
                <a:latin typeface="Georgia"/>
                <a:ea typeface="Georgia"/>
                <a:cs typeface="Georgia"/>
              </a:defRPr>
            </a:pPr>
            <a:r>
              <a:rPr sz="2250" b="0" i="0">
                <a:solidFill>
                  <a:srgbClr val="2B2E22"/>
                </a:solidFill>
                <a:latin typeface="Georgia"/>
                <a:ea typeface="Georgia"/>
                <a:cs typeface="Georgia"/>
              </a:rPr>
              <a:t>Feasible?</a:t>
            </a:r>
          </a:p>
        </p:txBody>
      </p:sp>
      <p:sp>
        <p:nvSpPr>
          <p:cNvPr id="13" name="">
            <a:extLst xmlns:a="http://schemas.openxmlformats.org/drawingml/2006/main">
              <a:ext uri="{FF2B5EF4-FFF2-40B4-BE49-F238E27FC236}">
                <a16:creationId xmlns:a16="http://schemas.microsoft.com/office/drawing/2014/main" id="{BC42CFCF-5829-4536-AD9D-CE5C4D1D1925}"/>
              </a:ext>
            </a:extLst>
          </p:cNvPr>
          <p:cNvSpPr>
            <a:spLocks xmlns:a="http://schemas.openxmlformats.org/drawingml/2006/main" noGrp="1"/>
          </p:cNvSpPr>
          <p:nvPr/>
        </p:nvSpPr>
        <p:spPr>
          <a:xfrm xmlns:a="http://schemas.openxmlformats.org/drawingml/2006/main" rot="0">
            <a:off x="1428750" y="2571750"/>
            <a:ext cx="4000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B624A"/>
                </a:solidFill>
                <a:latin typeface="Segoe UI"/>
                <a:ea typeface="Segoe UI"/>
                <a:cs typeface="Segoe UI"/>
              </a:defRPr>
            </a:defPPr>
          </a:lstStyle>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Reciprocal age and gender preferences</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Relationship structure</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Smoking and children constraints</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Zone and schedule compatibility</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No open or repeated introduction</a:t>
            </a:r>
          </a:p>
        </p:txBody>
      </p:sp>
      <p:sp>
        <p:nvSpPr>
          <p:cNvPr id="14" name="">
            <a:extLst xmlns:a="http://schemas.openxmlformats.org/drawingml/2006/main">
              <a:ext uri="{FF2B5EF4-FFF2-40B4-BE49-F238E27FC236}">
                <a16:creationId xmlns:a16="http://schemas.microsoft.com/office/drawing/2014/main" id="{B4F0AFC2-394A-4849-BE14-8D2FE0473A12}"/>
              </a:ext>
            </a:extLst>
          </p:cNvPr>
          <p:cNvSpPr>
            <a:spLocks xmlns:a="http://schemas.openxmlformats.org/drawingml/2006/main" noGrp="1"/>
          </p:cNvSpPr>
          <p:nvPr/>
        </p:nvSpPr>
        <p:spPr>
          <a:xfrm xmlns:a="http://schemas.openxmlformats.org/drawingml/2006/main" rot="0">
            <a:off x="6572250" y="18669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0" i="0">
                <a:solidFill>
                  <a:srgbClr val="A9956D"/>
                </a:solidFill>
                <a:latin typeface="Georgia"/>
                <a:ea typeface="Georgia"/>
                <a:cs typeface="Georgia"/>
              </a:defRPr>
            </a:defPPr>
          </a:lstStyle>
          <a:p xmlns:a="http://schemas.openxmlformats.org/drawingml/2006/main">
            <a:pPr algn="l">
              <a:defRPr sz="3000" b="0" i="0">
                <a:solidFill>
                  <a:srgbClr val="A9956D"/>
                </a:solidFill>
                <a:latin typeface="Georgia"/>
                <a:ea typeface="Georgia"/>
                <a:cs typeface="Georgia"/>
              </a:defRPr>
            </a:pPr>
            <a:r>
              <a:rPr sz="3000" b="0" i="0">
                <a:solidFill>
                  <a:srgbClr val="A9956D"/>
                </a:solidFill>
                <a:latin typeface="Georgia"/>
                <a:ea typeface="Georgia"/>
                <a:cs typeface="Georgia"/>
              </a:rPr>
              <a:t>2</a:t>
            </a:r>
          </a:p>
        </p:txBody>
      </p:sp>
      <p:sp>
        <p:nvSpPr>
          <p:cNvPr id="15" name="">
            <a:extLst xmlns:a="http://schemas.openxmlformats.org/drawingml/2006/main">
              <a:ext uri="{FF2B5EF4-FFF2-40B4-BE49-F238E27FC236}">
                <a16:creationId xmlns:a16="http://schemas.microsoft.com/office/drawing/2014/main" id="{DE08A592-8590-4AB3-8E1E-9D25355161DD}"/>
              </a:ext>
            </a:extLst>
          </p:cNvPr>
          <p:cNvSpPr>
            <a:spLocks xmlns:a="http://schemas.openxmlformats.org/drawingml/2006/main" noGrp="1"/>
          </p:cNvSpPr>
          <p:nvPr/>
        </p:nvSpPr>
        <p:spPr>
          <a:xfrm xmlns:a="http://schemas.openxmlformats.org/drawingml/2006/main" rot="0">
            <a:off x="7219950" y="19145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i="0">
                <a:solidFill>
                  <a:srgbClr val="2B2E22"/>
                </a:solidFill>
                <a:latin typeface="Georgia"/>
                <a:ea typeface="Georgia"/>
                <a:cs typeface="Georgia"/>
              </a:defRPr>
            </a:defPPr>
          </a:lstStyle>
          <a:p xmlns:a="http://schemas.openxmlformats.org/drawingml/2006/main">
            <a:pPr algn="l">
              <a:defRPr sz="2250" b="0" i="0">
                <a:solidFill>
                  <a:srgbClr val="2B2E22"/>
                </a:solidFill>
                <a:latin typeface="Georgia"/>
                <a:ea typeface="Georgia"/>
                <a:cs typeface="Georgia"/>
              </a:defRPr>
            </a:pPr>
            <a:r>
              <a:rPr sz="2250" b="0" i="0">
                <a:solidFill>
                  <a:srgbClr val="2B2E22"/>
                </a:solidFill>
                <a:latin typeface="Georgia"/>
                <a:ea typeface="Georgia"/>
                <a:cs typeface="Georgia"/>
              </a:rPr>
              <a:t>Priority?</a:t>
            </a:r>
          </a:p>
        </p:txBody>
      </p:sp>
      <p:sp>
        <p:nvSpPr>
          <p:cNvPr id="16" name="">
            <a:extLst xmlns:a="http://schemas.openxmlformats.org/drawingml/2006/main">
              <a:ext uri="{FF2B5EF4-FFF2-40B4-BE49-F238E27FC236}">
                <a16:creationId xmlns:a16="http://schemas.microsoft.com/office/drawing/2014/main" id="{9C04457E-51BB-4E75-8505-AF1A92802E59}"/>
              </a:ext>
            </a:extLst>
          </p:cNvPr>
          <p:cNvSpPr>
            <a:spLocks xmlns:a="http://schemas.openxmlformats.org/drawingml/2006/main" noGrp="1"/>
          </p:cNvSpPr>
          <p:nvPr/>
        </p:nvSpPr>
        <p:spPr>
          <a:xfrm xmlns:a="http://schemas.openxmlformats.org/drawingml/2006/main" rot="0">
            <a:off x="7219950" y="2571750"/>
            <a:ext cx="3810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B624A"/>
                </a:solidFill>
                <a:latin typeface="Segoe UI"/>
                <a:ea typeface="Segoe UI"/>
                <a:cs typeface="Segoe UI"/>
              </a:defRPr>
            </a:defPPr>
          </a:lstStyle>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Count observed equal soft fields</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Give missing soft fields zero credit</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Sort higher scores first</a:t>
            </a:r>
          </a:p>
          <a:p xmlns:a="http://schemas.openxmlformats.org/drawingml/2006/main">
            <a:pPr algn="l">
              <a:lnSpc>
                <a:spcPct val="120000"/>
              </a:lnSpc>
              <a:buNone/>
              <a:defRPr sz="1350" b="0" i="0">
                <a:solidFill>
                  <a:srgbClr val="5B624A"/>
                </a:solidFill>
                <a:latin typeface="Segoe UI"/>
                <a:ea typeface="Segoe UI"/>
                <a:cs typeface="Segoe UI"/>
              </a:defRPr>
            </a:pPr>
            <a:r>
              <a:rPr sz="1350" b="0" i="0">
                <a:solidFill>
                  <a:srgbClr val="5B624A"/>
                </a:solidFill>
                <a:latin typeface="Segoe UI"/>
                <a:ea typeface="Segoe UI"/>
                <a:cs typeface="Segoe UI"/>
              </a:rPr>
              <a:t>Break ties with a canonical pair ID</a:t>
            </a:r>
          </a:p>
        </p:txBody>
      </p:sp>
      <p:sp>
        <p:nvSpPr>
          <p:cNvPr id="17" name="">
            <a:extLst xmlns:a="http://schemas.openxmlformats.org/drawingml/2006/main">
              <a:ext uri="{FF2B5EF4-FFF2-40B4-BE49-F238E27FC236}">
                <a16:creationId xmlns:a16="http://schemas.microsoft.com/office/drawing/2014/main" id="{E3FE13FE-D4DA-41A3-B969-77C62AF853C2}"/>
              </a:ext>
            </a:extLst>
          </p:cNvPr>
          <p:cNvSpPr>
            <a:spLocks xmlns:a="http://schemas.openxmlformats.org/drawingml/2006/main" noGrp="1"/>
          </p:cNvSpPr>
          <p:nvPr/>
        </p:nvSpPr>
        <p:spPr>
          <a:xfrm xmlns:a="http://schemas.openxmlformats.org/drawingml/2006/main" rot="0">
            <a:off x="1428750" y="4933950"/>
            <a:ext cx="9429750" cy="742950"/>
          </a:xfrm>
          <a:prstGeom xmlns:a="http://schemas.openxmlformats.org/drawingml/2006/main" prst="rect">
            <a:avLst/>
          </a:prstGeom>
          <a:solidFill xmlns:a="http://schemas.openxmlformats.org/drawingml/2006/main">
            <a:srgbClr val="33233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ECF3F8-B947-4001-BE93-9A6B755A72EE}"/>
              </a:ext>
            </a:extLst>
          </p:cNvPr>
          <p:cNvSpPr>
            <a:spLocks xmlns:a="http://schemas.openxmlformats.org/drawingml/2006/main" noGrp="1"/>
          </p:cNvSpPr>
          <p:nvPr/>
        </p:nvSpPr>
        <p:spPr>
          <a:xfrm xmlns:a="http://schemas.openxmlformats.org/drawingml/2006/main" rot="0">
            <a:off x="1752600" y="5105400"/>
            <a:ext cx="8782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00" b="0" i="0">
                <a:solidFill>
                  <a:srgbClr val="FBF2E3"/>
                </a:solidFill>
                <a:latin typeface="Georgia"/>
                <a:ea typeface="Georgia"/>
                <a:cs typeface="Georgia"/>
              </a:defRPr>
            </a:defPPr>
          </a:lstStyle>
          <a:p xmlns:a="http://schemas.openxmlformats.org/drawingml/2006/main">
            <a:pPr algn="ctr">
              <a:defRPr sz="1800" b="0" i="0">
                <a:solidFill>
                  <a:srgbClr val="FBF2E3"/>
                </a:solidFill>
                <a:latin typeface="Georgia"/>
                <a:ea typeface="Georgia"/>
                <a:cs typeface="Georgia"/>
              </a:defRPr>
            </a:pPr>
            <a:r>
              <a:rPr sz="1800" b="0" i="0">
                <a:solidFill>
                  <a:srgbClr val="FBF2E3"/>
                </a:solidFill>
                <a:latin typeface="Georgia"/>
                <a:ea typeface="Georgia"/>
                <a:cs typeface="Georgia"/>
              </a:rPr>
              <a:t>Only reciprocal feasible edges receive a score.</a:t>
            </a:r>
          </a:p>
        </p:txBody>
      </p:sp>
    </p:spTree>
    <p:extLst>
      <p:ext uri="{BB962C8B-B14F-4D97-AF65-F5344CB8AC3E}">
        <p14:creationId xmlns:p14="http://schemas.microsoft.com/office/powerpoint/2010/main" val="60311708"/>
      </p:ext>
    </p:extLst>
  </p:cSld>
</p:sld>
</file>

<file path=ppt/slides/slide4.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38E7837-464D-453A-B24D-25BC81EA5305}"/>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38328E6C-9E6A-42AB-86FE-733B1C3ED7A3}"/>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ALGORITHM</a:t>
            </a:r>
          </a:p>
        </p:txBody>
      </p:sp>
      <p:sp>
        <p:nvSpPr>
          <p:cNvPr id="3" name="">
            <a:extLst xmlns:a="http://schemas.openxmlformats.org/drawingml/2006/main">
              <a:ext uri="{FF2B5EF4-FFF2-40B4-BE49-F238E27FC236}">
                <a16:creationId xmlns:a16="http://schemas.microsoft.com/office/drawing/2014/main" id="{DD3418EF-1748-4425-ACEC-B4B6B45F84D8}"/>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04</a:t>
            </a:r>
          </a:p>
        </p:txBody>
      </p:sp>
      <p:sp>
        <p:nvSpPr>
          <p:cNvPr id="4" name="">
            <a:extLst xmlns:a="http://schemas.openxmlformats.org/drawingml/2006/main">
              <a:ext uri="{FF2B5EF4-FFF2-40B4-BE49-F238E27FC236}">
                <a16:creationId xmlns:a16="http://schemas.microsoft.com/office/drawing/2014/main" id="{2E64EE12-C27C-4E29-8262-3C3510798916}"/>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B92F26-9501-4841-9E34-32A7822B67E0}"/>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97874B-9A98-45F5-8ACB-A65E3CD11CDA}"/>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E26A659F-17EE-4230-948E-F3CD6857883A}"/>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BDF1BEDC-1C5E-4E86-BE69-DFD653AF2E1D}"/>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The daily policy</a:t>
            </a:r>
          </a:p>
        </p:txBody>
      </p:sp>
      <p:sp>
        <p:nvSpPr>
          <p:cNvPr id="9" name="">
            <a:extLst xmlns:a="http://schemas.openxmlformats.org/drawingml/2006/main">
              <a:ext uri="{FF2B5EF4-FFF2-40B4-BE49-F238E27FC236}">
                <a16:creationId xmlns:a16="http://schemas.microsoft.com/office/drawing/2014/main" id="{F4F4D223-E9AB-4FA7-ACC7-E04E19E7079E}"/>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Four deterministic steps use the refreshed observable state</a:t>
            </a:r>
          </a:p>
        </p:txBody>
      </p:sp>
      <p:sp>
        <p:nvSpPr>
          <p:cNvPr id="10" name="">
            <a:extLst xmlns:a="http://schemas.openxmlformats.org/drawingml/2006/main">
              <a:ext uri="{FF2B5EF4-FFF2-40B4-BE49-F238E27FC236}">
                <a16:creationId xmlns:a16="http://schemas.microsoft.com/office/drawing/2014/main" id="{781000A0-11F6-44B7-90E0-00ABC1F65E72}"/>
              </a:ext>
            </a:extLst>
          </p:cNvPr>
          <p:cNvSpPr>
            <a:spLocks xmlns:a="http://schemas.openxmlformats.org/drawingml/2006/main" noGrp="1"/>
          </p:cNvSpPr>
          <p:nvPr/>
        </p:nvSpPr>
        <p:spPr>
          <a:xfrm xmlns:a="http://schemas.openxmlformats.org/drawingml/2006/main" rot="0">
            <a:off x="1428750" y="2781300"/>
            <a:ext cx="9334500" cy="19050"/>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31DAAC-5DAD-48E5-A74F-EBA80CB7F2AA}"/>
              </a:ext>
            </a:extLst>
          </p:cNvPr>
          <p:cNvSpPr>
            <a:spLocks xmlns:a="http://schemas.openxmlformats.org/drawingml/2006/main" noGrp="1"/>
          </p:cNvSpPr>
          <p:nvPr/>
        </p:nvSpPr>
        <p:spPr>
          <a:xfrm xmlns:a="http://schemas.openxmlformats.org/drawingml/2006/main">
            <a:off x="1047750" y="2476500"/>
            <a:ext cx="628650" cy="628650"/>
          </a:xfrm>
          <a:prstGeom xmlns:a="http://schemas.openxmlformats.org/drawingml/2006/main" prst="ellipse">
            <a:avLst/>
          </a:prstGeom>
          <a:solidFill xmlns:a="http://schemas.openxmlformats.org/drawingml/2006/main">
            <a:srgbClr val="FBF2E3"/>
          </a:solidFill>
          <a:ln xmlns:a="http://schemas.openxmlformats.org/drawingml/2006/main" w="19050">
            <a:solidFill>
              <a:srgbClr val="A9956D"/>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1</a:t>
            </a:r>
          </a:p>
        </p:txBody>
      </p:sp>
      <p:sp>
        <p:nvSpPr>
          <p:cNvPr id="12" name="">
            <a:extLst xmlns:a="http://schemas.openxmlformats.org/drawingml/2006/main">
              <a:ext uri="{FF2B5EF4-FFF2-40B4-BE49-F238E27FC236}">
                <a16:creationId xmlns:a16="http://schemas.microsoft.com/office/drawing/2014/main" id="{4C279AE6-9F32-457B-8518-2D27BFA48882}"/>
              </a:ext>
            </a:extLst>
          </p:cNvPr>
          <p:cNvSpPr>
            <a:spLocks xmlns:a="http://schemas.openxmlformats.org/drawingml/2006/main" noGrp="1"/>
          </p:cNvSpPr>
          <p:nvPr/>
        </p:nvSpPr>
        <p:spPr>
          <a:xfrm xmlns:a="http://schemas.openxmlformats.org/drawingml/2006/main" rot="0">
            <a:off x="504825" y="3333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i="0">
                <a:solidFill>
                  <a:srgbClr val="2B2E22"/>
                </a:solidFill>
                <a:latin typeface="Georgia"/>
                <a:ea typeface="Georgia"/>
                <a:cs typeface="Georgia"/>
              </a:defRPr>
            </a:defPPr>
          </a:lstStyle>
          <a:p xmlns:a="http://schemas.openxmlformats.org/drawingml/2006/main">
            <a:pPr algn="ctr">
              <a:defRPr sz="1725" b="1" i="0">
                <a:solidFill>
                  <a:srgbClr val="2B2E22"/>
                </a:solidFill>
                <a:latin typeface="Georgia"/>
                <a:ea typeface="Georgia"/>
                <a:cs typeface="Georgia"/>
              </a:defRPr>
            </a:pPr>
            <a:r>
              <a:rPr sz="1725" b="1" i="0">
                <a:solidFill>
                  <a:srgbClr val="2B2E22"/>
                </a:solidFill>
                <a:latin typeface="Georgia"/>
                <a:ea typeface="Georgia"/>
                <a:cs typeface="Georgia"/>
              </a:rPr>
              <a:t>Validate</a:t>
            </a:r>
          </a:p>
        </p:txBody>
      </p:sp>
      <p:sp>
        <p:nvSpPr>
          <p:cNvPr id="13" name="">
            <a:extLst xmlns:a="http://schemas.openxmlformats.org/drawingml/2006/main">
              <a:ext uri="{FF2B5EF4-FFF2-40B4-BE49-F238E27FC236}">
                <a16:creationId xmlns:a16="http://schemas.microsoft.com/office/drawing/2014/main" id="{B3D89E7E-AA5B-4ADA-9A36-1E8DB5438EC3}"/>
              </a:ext>
            </a:extLst>
          </p:cNvPr>
          <p:cNvSpPr>
            <a:spLocks xmlns:a="http://schemas.openxmlformats.org/drawingml/2006/main" noGrp="1"/>
          </p:cNvSpPr>
          <p:nvPr/>
        </p:nvSpPr>
        <p:spPr>
          <a:xfrm xmlns:a="http://schemas.openxmlformats.org/drawingml/2006/main" rot="0">
            <a:off x="381000" y="3790950"/>
            <a:ext cx="19621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5B624A"/>
                </a:solidFill>
                <a:latin typeface="Segoe UI"/>
                <a:ea typeface="Segoe UI"/>
                <a:cs typeface="Segoe UI"/>
              </a:defRPr>
            </a:defPPr>
          </a:lstStyle>
          <a:p xmlns:a="http://schemas.openxmlformats.org/drawingml/2006/main">
            <a:pPr algn="ctr">
              <a:defRPr sz="1200" b="0" i="0">
                <a:solidFill>
                  <a:srgbClr val="5B624A"/>
                </a:solidFill>
                <a:latin typeface="Segoe UI"/>
                <a:ea typeface="Segoe UI"/>
                <a:cs typeface="Segoe UI"/>
              </a:defRPr>
            </a:pPr>
            <a:r>
              <a:rPr sz="1200" b="0" i="0">
                <a:solidFill>
                  <a:srgbClr val="5B624A"/>
                </a:solidFill>
                <a:latin typeface="Segoe UI"/>
                <a:ea typeface="Segoe UI"/>
                <a:cs typeface="Segoe UI"/>
              </a:rPr>
              <a:t>Reject malformed, future, or conflicting observations.</a:t>
            </a:r>
          </a:p>
        </p:txBody>
      </p:sp>
      <p:sp>
        <p:nvSpPr>
          <p:cNvPr id="14" name="">
            <a:extLst xmlns:a="http://schemas.openxmlformats.org/drawingml/2006/main">
              <a:ext uri="{FF2B5EF4-FFF2-40B4-BE49-F238E27FC236}">
                <a16:creationId xmlns:a16="http://schemas.microsoft.com/office/drawing/2014/main" id="{CC60CC25-01AF-4B47-A152-0F698B72B357}"/>
              </a:ext>
            </a:extLst>
          </p:cNvPr>
          <p:cNvSpPr>
            <a:spLocks xmlns:a="http://schemas.openxmlformats.org/drawingml/2006/main" noGrp="1"/>
          </p:cNvSpPr>
          <p:nvPr/>
        </p:nvSpPr>
        <p:spPr>
          <a:xfrm xmlns:a="http://schemas.openxmlformats.org/drawingml/2006/main">
            <a:off x="3714750" y="2476500"/>
            <a:ext cx="628650" cy="628650"/>
          </a:xfrm>
          <a:prstGeom xmlns:a="http://schemas.openxmlformats.org/drawingml/2006/main" prst="ellipse">
            <a:avLst/>
          </a:prstGeom>
          <a:solidFill xmlns:a="http://schemas.openxmlformats.org/drawingml/2006/main">
            <a:srgbClr val="33233F"/>
          </a:solidFill>
          <a:ln xmlns:a="http://schemas.openxmlformats.org/drawingml/2006/main" w="19050">
            <a:solidFill>
              <a:srgbClr val="33233F"/>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BF2E3"/>
                </a:solidFill>
                <a:latin typeface="Georgia"/>
                <a:ea typeface="Georgia"/>
                <a:cs typeface="Georgia"/>
              </a:defRPr>
            </a:defPPr>
          </a:lstStyle>
          <a:p xmlns:a="http://schemas.openxmlformats.org/drawingml/2006/main">
            <a:pPr algn="ctr">
              <a:defRPr sz="1650" b="1">
                <a:solidFill>
                  <a:srgbClr val="FBF2E3"/>
                </a:solidFill>
                <a:latin typeface="Georgia"/>
                <a:ea typeface="Georgia"/>
                <a:cs typeface="Georgia"/>
              </a:defRPr>
            </a:pPr>
            <a:r>
              <a:rPr sz="1650" b="1">
                <a:solidFill>
                  <a:srgbClr val="FBF2E3"/>
                </a:solidFill>
                <a:latin typeface="Georgia"/>
                <a:ea typeface="Georgia"/>
                <a:cs typeface="Georgia"/>
              </a:rPr>
              <a:t>2</a:t>
            </a:r>
          </a:p>
        </p:txBody>
      </p:sp>
      <p:sp>
        <p:nvSpPr>
          <p:cNvPr id="15" name="">
            <a:extLst xmlns:a="http://schemas.openxmlformats.org/drawingml/2006/main">
              <a:ext uri="{FF2B5EF4-FFF2-40B4-BE49-F238E27FC236}">
                <a16:creationId xmlns:a16="http://schemas.microsoft.com/office/drawing/2014/main" id="{8579456C-AB69-43D0-B358-EC9DA10054C3}"/>
              </a:ext>
            </a:extLst>
          </p:cNvPr>
          <p:cNvSpPr>
            <a:spLocks xmlns:a="http://schemas.openxmlformats.org/drawingml/2006/main" noGrp="1"/>
          </p:cNvSpPr>
          <p:nvPr/>
        </p:nvSpPr>
        <p:spPr>
          <a:xfrm xmlns:a="http://schemas.openxmlformats.org/drawingml/2006/main" rot="0">
            <a:off x="3171825" y="3333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i="0">
                <a:solidFill>
                  <a:srgbClr val="2B2E22"/>
                </a:solidFill>
                <a:latin typeface="Georgia"/>
                <a:ea typeface="Georgia"/>
                <a:cs typeface="Georgia"/>
              </a:defRPr>
            </a:defPPr>
          </a:lstStyle>
          <a:p xmlns:a="http://schemas.openxmlformats.org/drawingml/2006/main">
            <a:pPr algn="ctr">
              <a:defRPr sz="1725" b="1" i="0">
                <a:solidFill>
                  <a:srgbClr val="2B2E22"/>
                </a:solidFill>
                <a:latin typeface="Georgia"/>
                <a:ea typeface="Georgia"/>
                <a:cs typeface="Georgia"/>
              </a:defRPr>
            </a:pPr>
            <a:r>
              <a:rPr sz="1725" b="1" i="0">
                <a:solidFill>
                  <a:srgbClr val="2B2E22"/>
                </a:solidFill>
                <a:latin typeface="Georgia"/>
                <a:ea typeface="Georgia"/>
                <a:cs typeface="Georgia"/>
              </a:rPr>
              <a:t>Clarify</a:t>
            </a:r>
          </a:p>
        </p:txBody>
      </p:sp>
      <p:sp>
        <p:nvSpPr>
          <p:cNvPr id="16" name="">
            <a:extLst xmlns:a="http://schemas.openxmlformats.org/drawingml/2006/main">
              <a:ext uri="{FF2B5EF4-FFF2-40B4-BE49-F238E27FC236}">
                <a16:creationId xmlns:a16="http://schemas.microsoft.com/office/drawing/2014/main" id="{F5406EE9-6D2E-4781-989D-5C21D8991CA9}"/>
              </a:ext>
            </a:extLst>
          </p:cNvPr>
          <p:cNvSpPr>
            <a:spLocks xmlns:a="http://schemas.openxmlformats.org/drawingml/2006/main" noGrp="1"/>
          </p:cNvSpPr>
          <p:nvPr/>
        </p:nvSpPr>
        <p:spPr>
          <a:xfrm xmlns:a="http://schemas.openxmlformats.org/drawingml/2006/main" rot="0">
            <a:off x="3048000" y="3790950"/>
            <a:ext cx="19621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5B624A"/>
                </a:solidFill>
                <a:latin typeface="Segoe UI"/>
                <a:ea typeface="Segoe UI"/>
                <a:cs typeface="Segoe UI"/>
              </a:defRPr>
            </a:defPPr>
          </a:lstStyle>
          <a:p xmlns:a="http://schemas.openxmlformats.org/drawingml/2006/main">
            <a:pPr algn="ctr">
              <a:defRPr sz="1200" b="0" i="0">
                <a:solidFill>
                  <a:srgbClr val="5B624A"/>
                </a:solidFill>
                <a:latin typeface="Segoe UI"/>
                <a:ea typeface="Segoe UI"/>
                <a:cs typeface="Segoe UI"/>
              </a:defRPr>
            </a:pPr>
            <a:r>
              <a:rPr sz="1200" b="0" i="0">
                <a:solidFill>
                  <a:srgbClr val="5B624A"/>
                </a:solidFill>
                <a:latin typeface="Segoe UI"/>
                <a:ea typeface="Segoe UI"/>
                <a:cs typeface="Segoe UI"/>
              </a:rPr>
              <a:t>Ask incomplete hard fields in stable arrival order.</a:t>
            </a:r>
          </a:p>
        </p:txBody>
      </p:sp>
      <p:sp>
        <p:nvSpPr>
          <p:cNvPr id="17" name="">
            <a:extLst xmlns:a="http://schemas.openxmlformats.org/drawingml/2006/main">
              <a:ext uri="{FF2B5EF4-FFF2-40B4-BE49-F238E27FC236}">
                <a16:creationId xmlns:a16="http://schemas.microsoft.com/office/drawing/2014/main" id="{EF8D7C72-A57A-40A6-8BEB-70BC1CCB3414}"/>
              </a:ext>
            </a:extLst>
          </p:cNvPr>
          <p:cNvSpPr>
            <a:spLocks xmlns:a="http://schemas.openxmlformats.org/drawingml/2006/main" noGrp="1"/>
          </p:cNvSpPr>
          <p:nvPr/>
        </p:nvSpPr>
        <p:spPr>
          <a:xfrm xmlns:a="http://schemas.openxmlformats.org/drawingml/2006/main">
            <a:off x="6381750" y="2476500"/>
            <a:ext cx="628650" cy="628650"/>
          </a:xfrm>
          <a:prstGeom xmlns:a="http://schemas.openxmlformats.org/drawingml/2006/main" prst="ellipse">
            <a:avLst/>
          </a:prstGeom>
          <a:solidFill xmlns:a="http://schemas.openxmlformats.org/drawingml/2006/main">
            <a:srgbClr val="FBF2E3"/>
          </a:solidFill>
          <a:ln xmlns:a="http://schemas.openxmlformats.org/drawingml/2006/main" w="19050">
            <a:solidFill>
              <a:srgbClr val="A9956D"/>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3</a:t>
            </a:r>
          </a:p>
        </p:txBody>
      </p:sp>
      <p:sp>
        <p:nvSpPr>
          <p:cNvPr id="18" name="">
            <a:extLst xmlns:a="http://schemas.openxmlformats.org/drawingml/2006/main">
              <a:ext uri="{FF2B5EF4-FFF2-40B4-BE49-F238E27FC236}">
                <a16:creationId xmlns:a16="http://schemas.microsoft.com/office/drawing/2014/main" id="{2C42C6C0-9B61-422F-AE66-00CEF4814C89}"/>
              </a:ext>
            </a:extLst>
          </p:cNvPr>
          <p:cNvSpPr>
            <a:spLocks xmlns:a="http://schemas.openxmlformats.org/drawingml/2006/main" noGrp="1"/>
          </p:cNvSpPr>
          <p:nvPr/>
        </p:nvSpPr>
        <p:spPr>
          <a:xfrm xmlns:a="http://schemas.openxmlformats.org/drawingml/2006/main" rot="0">
            <a:off x="5838825" y="3333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i="0">
                <a:solidFill>
                  <a:srgbClr val="2B2E22"/>
                </a:solidFill>
                <a:latin typeface="Georgia"/>
                <a:ea typeface="Georgia"/>
                <a:cs typeface="Georgia"/>
              </a:defRPr>
            </a:defPPr>
          </a:lstStyle>
          <a:p xmlns:a="http://schemas.openxmlformats.org/drawingml/2006/main">
            <a:pPr algn="ctr">
              <a:defRPr sz="1725" b="1" i="0">
                <a:solidFill>
                  <a:srgbClr val="2B2E22"/>
                </a:solidFill>
                <a:latin typeface="Georgia"/>
                <a:ea typeface="Georgia"/>
                <a:cs typeface="Georgia"/>
              </a:defRPr>
            </a:pPr>
            <a:r>
              <a:rPr sz="1725" b="1" i="0">
                <a:solidFill>
                  <a:srgbClr val="2B2E22"/>
                </a:solidFill>
                <a:latin typeface="Georgia"/>
                <a:ea typeface="Georgia"/>
                <a:cs typeface="Georgia"/>
              </a:rPr>
              <a:t>Build graph</a:t>
            </a:r>
          </a:p>
        </p:txBody>
      </p:sp>
      <p:sp>
        <p:nvSpPr>
          <p:cNvPr id="19" name="">
            <a:extLst xmlns:a="http://schemas.openxmlformats.org/drawingml/2006/main">
              <a:ext uri="{FF2B5EF4-FFF2-40B4-BE49-F238E27FC236}">
                <a16:creationId xmlns:a16="http://schemas.microsoft.com/office/drawing/2014/main" id="{1B55D70D-2FF3-4A9C-A84F-FBF747382A95}"/>
              </a:ext>
            </a:extLst>
          </p:cNvPr>
          <p:cNvSpPr>
            <a:spLocks xmlns:a="http://schemas.openxmlformats.org/drawingml/2006/main" noGrp="1"/>
          </p:cNvSpPr>
          <p:nvPr/>
        </p:nvSpPr>
        <p:spPr>
          <a:xfrm xmlns:a="http://schemas.openxmlformats.org/drawingml/2006/main" rot="0">
            <a:off x="5715000" y="3790950"/>
            <a:ext cx="19621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5B624A"/>
                </a:solidFill>
                <a:latin typeface="Segoe UI"/>
                <a:ea typeface="Segoe UI"/>
                <a:cs typeface="Segoe UI"/>
              </a:defRPr>
            </a:defPPr>
          </a:lstStyle>
          <a:p xmlns:a="http://schemas.openxmlformats.org/drawingml/2006/main">
            <a:pPr algn="ctr">
              <a:defRPr sz="1200" b="0" i="0">
                <a:solidFill>
                  <a:srgbClr val="5B624A"/>
                </a:solidFill>
                <a:latin typeface="Segoe UI"/>
                <a:ea typeface="Segoe UI"/>
                <a:cs typeface="Segoe UI"/>
              </a:defRPr>
            </a:pPr>
            <a:r>
              <a:rPr sz="1200" b="0" i="0">
                <a:solidFill>
                  <a:srgbClr val="5B624A"/>
                </a:solidFill>
                <a:latin typeface="Segoe UI"/>
                <a:ea typeface="Segoe UI"/>
                <a:cs typeface="Segoe UI"/>
              </a:rPr>
              <a:t>Add an edge only after reciprocal eligibility passes.</a:t>
            </a:r>
          </a:p>
        </p:txBody>
      </p:sp>
      <p:sp>
        <p:nvSpPr>
          <p:cNvPr id="20" name="">
            <a:extLst xmlns:a="http://schemas.openxmlformats.org/drawingml/2006/main">
              <a:ext uri="{FF2B5EF4-FFF2-40B4-BE49-F238E27FC236}">
                <a16:creationId xmlns:a16="http://schemas.microsoft.com/office/drawing/2014/main" id="{4BC71098-3487-4CBA-9684-2234ED88BD9F}"/>
              </a:ext>
            </a:extLst>
          </p:cNvPr>
          <p:cNvSpPr>
            <a:spLocks xmlns:a="http://schemas.openxmlformats.org/drawingml/2006/main" noGrp="1"/>
          </p:cNvSpPr>
          <p:nvPr/>
        </p:nvSpPr>
        <p:spPr>
          <a:xfrm xmlns:a="http://schemas.openxmlformats.org/drawingml/2006/main">
            <a:off x="9048750" y="2476500"/>
            <a:ext cx="628650" cy="628650"/>
          </a:xfrm>
          <a:prstGeom xmlns:a="http://schemas.openxmlformats.org/drawingml/2006/main" prst="ellipse">
            <a:avLst/>
          </a:prstGeom>
          <a:solidFill xmlns:a="http://schemas.openxmlformats.org/drawingml/2006/main">
            <a:srgbClr val="FBF2E3"/>
          </a:solidFill>
          <a:ln xmlns:a="http://schemas.openxmlformats.org/drawingml/2006/main" w="19050">
            <a:solidFill>
              <a:srgbClr val="A9956D"/>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4</a:t>
            </a:r>
          </a:p>
        </p:txBody>
      </p:sp>
      <p:sp>
        <p:nvSpPr>
          <p:cNvPr id="21" name="">
            <a:extLst xmlns:a="http://schemas.openxmlformats.org/drawingml/2006/main">
              <a:ext uri="{FF2B5EF4-FFF2-40B4-BE49-F238E27FC236}">
                <a16:creationId xmlns:a16="http://schemas.microsoft.com/office/drawing/2014/main" id="{1B9FC0BA-DFD8-4AAD-9918-CE54B7323274}"/>
              </a:ext>
            </a:extLst>
          </p:cNvPr>
          <p:cNvSpPr>
            <a:spLocks xmlns:a="http://schemas.openxmlformats.org/drawingml/2006/main" noGrp="1"/>
          </p:cNvSpPr>
          <p:nvPr/>
        </p:nvSpPr>
        <p:spPr>
          <a:xfrm xmlns:a="http://schemas.openxmlformats.org/drawingml/2006/main" rot="0">
            <a:off x="8505825" y="3333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i="0">
                <a:solidFill>
                  <a:srgbClr val="2B2E22"/>
                </a:solidFill>
                <a:latin typeface="Georgia"/>
                <a:ea typeface="Georgia"/>
                <a:cs typeface="Georgia"/>
              </a:defRPr>
            </a:defPPr>
          </a:lstStyle>
          <a:p xmlns:a="http://schemas.openxmlformats.org/drawingml/2006/main">
            <a:pPr algn="ctr">
              <a:defRPr sz="1725" b="1" i="0">
                <a:solidFill>
                  <a:srgbClr val="2B2E22"/>
                </a:solidFill>
                <a:latin typeface="Georgia"/>
                <a:ea typeface="Georgia"/>
                <a:cs typeface="Georgia"/>
              </a:defRPr>
            </a:pPr>
            <a:r>
              <a:rPr sz="1725" b="1" i="0">
                <a:solidFill>
                  <a:srgbClr val="2B2E22"/>
                </a:solidFill>
                <a:latin typeface="Georgia"/>
                <a:ea typeface="Georgia"/>
                <a:cs typeface="Georgia"/>
              </a:rPr>
              <a:t>Allocate</a:t>
            </a:r>
          </a:p>
        </p:txBody>
      </p:sp>
      <p:sp>
        <p:nvSpPr>
          <p:cNvPr id="22" name="">
            <a:extLst xmlns:a="http://schemas.openxmlformats.org/drawingml/2006/main">
              <a:ext uri="{FF2B5EF4-FFF2-40B4-BE49-F238E27FC236}">
                <a16:creationId xmlns:a16="http://schemas.microsoft.com/office/drawing/2014/main" id="{354AC518-7BAB-4278-80F3-AD52236D54AE}"/>
              </a:ext>
            </a:extLst>
          </p:cNvPr>
          <p:cNvSpPr>
            <a:spLocks xmlns:a="http://schemas.openxmlformats.org/drawingml/2006/main" noGrp="1"/>
          </p:cNvSpPr>
          <p:nvPr/>
        </p:nvSpPr>
        <p:spPr>
          <a:xfrm xmlns:a="http://schemas.openxmlformats.org/drawingml/2006/main" rot="0">
            <a:off x="8382000" y="3790950"/>
            <a:ext cx="19621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5B624A"/>
                </a:solidFill>
                <a:latin typeface="Segoe UI"/>
                <a:ea typeface="Segoe UI"/>
                <a:cs typeface="Segoe UI"/>
              </a:defRPr>
            </a:defPPr>
          </a:lstStyle>
          <a:p xmlns:a="http://schemas.openxmlformats.org/drawingml/2006/main">
            <a:pPr algn="ctr">
              <a:defRPr sz="1200" b="0" i="0">
                <a:solidFill>
                  <a:srgbClr val="5B624A"/>
                </a:solidFill>
                <a:latin typeface="Segoe UI"/>
                <a:ea typeface="Segoe UI"/>
                <a:cs typeface="Segoe UI"/>
              </a:defRPr>
            </a:pPr>
            <a:r>
              <a:rPr sz="1200" b="0" i="0">
                <a:solidFill>
                  <a:srgbClr val="5B624A"/>
                </a:solidFill>
                <a:latin typeface="Segoe UI"/>
                <a:ea typeface="Segoe UI"/>
                <a:cs typeface="Segoe UI"/>
              </a:rPr>
              <a:t>Sort by score and take disjoint edges greedily.</a:t>
            </a:r>
          </a:p>
        </p:txBody>
      </p:sp>
      <p:sp>
        <p:nvSpPr>
          <p:cNvPr id="23" name="">
            <a:extLst xmlns:a="http://schemas.openxmlformats.org/drawingml/2006/main">
              <a:ext uri="{FF2B5EF4-FFF2-40B4-BE49-F238E27FC236}">
                <a16:creationId xmlns:a16="http://schemas.microsoft.com/office/drawing/2014/main" id="{F8FECF4D-8CD9-4E5B-A76F-73A03E2CD0A1}"/>
              </a:ext>
            </a:extLst>
          </p:cNvPr>
          <p:cNvSpPr>
            <a:spLocks xmlns:a="http://schemas.openxmlformats.org/drawingml/2006/main" noGrp="1"/>
          </p:cNvSpPr>
          <p:nvPr/>
        </p:nvSpPr>
        <p:spPr>
          <a:xfrm xmlns:a="http://schemas.openxmlformats.org/drawingml/2006/main" rot="0">
            <a:off x="2114550" y="5219700"/>
            <a:ext cx="7962900" cy="552450"/>
          </a:xfrm>
          <a:prstGeom xmlns:a="http://schemas.openxmlformats.org/drawingml/2006/main" prst="rect">
            <a:avLst/>
          </a:prstGeom>
          <a:solidFill xmlns:a="http://schemas.openxmlformats.org/drawingml/2006/main">
            <a:srgbClr val="F4E8D5"/>
          </a:solidFill>
          <a:ln xmlns:a="http://schemas.openxmlformats.org/drawingml/2006/main" w="9525">
            <a:solidFill>
              <a:srgbClr val="A9956D"/>
            </a:solidFill>
            <a:prstDash val="solid"/>
          </a:ln>
        </p:spPr>
      </p:sp>
      <p:sp>
        <p:nvSpPr>
          <p:cNvPr id="24" name="">
            <a:extLst xmlns:a="http://schemas.openxmlformats.org/drawingml/2006/main">
              <a:ext uri="{FF2B5EF4-FFF2-40B4-BE49-F238E27FC236}">
                <a16:creationId xmlns:a16="http://schemas.microsoft.com/office/drawing/2014/main" id="{0841D293-C280-474B-AA7A-210A4C3D7E5A}"/>
              </a:ext>
            </a:extLst>
          </p:cNvPr>
          <p:cNvSpPr>
            <a:spLocks xmlns:a="http://schemas.openxmlformats.org/drawingml/2006/main" noGrp="1"/>
          </p:cNvSpPr>
          <p:nvPr/>
        </p:nvSpPr>
        <p:spPr>
          <a:xfrm xmlns:a="http://schemas.openxmlformats.org/drawingml/2006/main" rot="0">
            <a:off x="2362200" y="5353050"/>
            <a:ext cx="746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i="0">
                <a:solidFill>
                  <a:srgbClr val="33233F"/>
                </a:solidFill>
                <a:latin typeface="Georgia"/>
                <a:ea typeface="Georgia"/>
                <a:cs typeface="Georgia"/>
              </a:defRPr>
            </a:defPPr>
          </a:lstStyle>
          <a:p xmlns:a="http://schemas.openxmlformats.org/drawingml/2006/main">
            <a:pPr algn="ctr">
              <a:defRPr sz="1500" b="0" i="0">
                <a:solidFill>
                  <a:srgbClr val="33233F"/>
                </a:solidFill>
                <a:latin typeface="Georgia"/>
                <a:ea typeface="Georgia"/>
                <a:cs typeface="Georgia"/>
              </a:defRPr>
            </a:pPr>
            <a:r>
              <a:rPr sz="1500" b="0" i="0">
                <a:solidFill>
                  <a:srgbClr val="33233F"/>
                </a:solidFill>
                <a:latin typeface="Georgia"/>
                <a:ea typeface="Georgia"/>
                <a:cs typeface="Georgia"/>
              </a:rPr>
              <a:t>Budget B supports floor(B / 3) hard-constraint bundles.</a:t>
            </a:r>
          </a:p>
        </p:txBody>
      </p:sp>
    </p:spTree>
    <p:extLst>
      <p:ext uri="{BB962C8B-B14F-4D97-AF65-F5344CB8AC3E}">
        <p14:creationId xmlns:p14="http://schemas.microsoft.com/office/powerpoint/2010/main" val="1921944808"/>
      </p:ext>
    </p:extLst>
  </p:cSld>
</p:sld>
</file>

<file path=ppt/slides/slide5.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AA09D6F-1924-4B77-B522-D02D25F7A6DC}"/>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4725F3E1-9F63-450F-8653-C4E0E42CCB73}"/>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WALKTHROUGH</a:t>
            </a:r>
          </a:p>
        </p:txBody>
      </p:sp>
      <p:sp>
        <p:nvSpPr>
          <p:cNvPr id="3" name="">
            <a:extLst xmlns:a="http://schemas.openxmlformats.org/drawingml/2006/main">
              <a:ext uri="{FF2B5EF4-FFF2-40B4-BE49-F238E27FC236}">
                <a16:creationId xmlns:a16="http://schemas.microsoft.com/office/drawing/2014/main" id="{AD8AD04D-F858-43D1-9421-D9C2653BCCBC}"/>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05</a:t>
            </a:r>
          </a:p>
        </p:txBody>
      </p:sp>
      <p:sp>
        <p:nvSpPr>
          <p:cNvPr id="4" name="">
            <a:extLst xmlns:a="http://schemas.openxmlformats.org/drawingml/2006/main">
              <a:ext uri="{FF2B5EF4-FFF2-40B4-BE49-F238E27FC236}">
                <a16:creationId xmlns:a16="http://schemas.microsoft.com/office/drawing/2014/main" id="{324A04D4-23CE-4FBE-B198-EBCA5AF76EA3}"/>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957E32-269B-47B6-826E-38613E2B1E72}"/>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489958-96CE-4DE0-94A4-D151F8052C4B}"/>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475907CC-43AC-48FA-9B3F-DD8ACEA5736B}"/>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9A374391-FAE6-47AA-85BC-55FD77DA25F1}"/>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One day, step by step</a:t>
            </a:r>
          </a:p>
        </p:txBody>
      </p:sp>
      <p:sp>
        <p:nvSpPr>
          <p:cNvPr id="9" name="">
            <a:extLst xmlns:a="http://schemas.openxmlformats.org/drawingml/2006/main">
              <a:ext uri="{FF2B5EF4-FFF2-40B4-BE49-F238E27FC236}">
                <a16:creationId xmlns:a16="http://schemas.microsoft.com/office/drawing/2014/main" id="{880A5BB5-CE00-4FEC-B206-6EFE1BDC69F9}"/>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A simplified example of the submitted policy</a:t>
            </a:r>
          </a:p>
        </p:txBody>
      </p:sp>
      <p:sp>
        <p:nvSpPr>
          <p:cNvPr id="10" name="">
            <a:extLst xmlns:a="http://schemas.openxmlformats.org/drawingml/2006/main">
              <a:ext uri="{FF2B5EF4-FFF2-40B4-BE49-F238E27FC236}">
                <a16:creationId xmlns:a16="http://schemas.microsoft.com/office/drawing/2014/main" id="{980296C4-0CF3-4A21-B757-7169A739C3D3}"/>
              </a:ext>
            </a:extLst>
          </p:cNvPr>
          <p:cNvSpPr>
            <a:spLocks xmlns:a="http://schemas.openxmlformats.org/drawingml/2006/main" noGrp="1"/>
          </p:cNvSpPr>
          <p:nvPr/>
        </p:nvSpPr>
        <p:spPr>
          <a:xfrm xmlns:a="http://schemas.openxmlformats.org/drawingml/2006/main" rot="0">
            <a:off x="8858250" y="838200"/>
            <a:ext cx="2647950" cy="304800"/>
          </a:xfrm>
          <a:prstGeom xmlns:a="http://schemas.openxmlformats.org/drawingml/2006/main" prst="rect">
            <a:avLst/>
          </a:prstGeom>
          <a:solidFill xmlns:a="http://schemas.openxmlformats.org/drawingml/2006/main">
            <a:srgbClr val="F4E8D5"/>
          </a:solidFill>
          <a:ln xmlns:a="http://schemas.openxmlformats.org/drawingml/2006/main" w="9525">
            <a:solidFill>
              <a:srgbClr val="A9956D"/>
            </a:solidFill>
            <a:prstDash val="solid"/>
          </a:ln>
        </p:spPr>
      </p:sp>
      <p:sp>
        <p:nvSpPr>
          <p:cNvPr id="11" name="">
            <a:extLst xmlns:a="http://schemas.openxmlformats.org/drawingml/2006/main">
              <a:ext uri="{FF2B5EF4-FFF2-40B4-BE49-F238E27FC236}">
                <a16:creationId xmlns:a16="http://schemas.microsoft.com/office/drawing/2014/main" id="{FE22D04B-EE0B-4FE9-A59C-B2BBB19126E8}"/>
              </a:ext>
            </a:extLst>
          </p:cNvPr>
          <p:cNvSpPr>
            <a:spLocks xmlns:a="http://schemas.openxmlformats.org/drawingml/2006/main" noGrp="1"/>
          </p:cNvSpPr>
          <p:nvPr/>
        </p:nvSpPr>
        <p:spPr>
          <a:xfrm xmlns:a="http://schemas.openxmlformats.org/drawingml/2006/main" rot="0">
            <a:off x="8991600" y="9048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1" i="0">
                <a:solidFill>
                  <a:srgbClr val="33233F"/>
                </a:solidFill>
                <a:latin typeface="Segoe UI"/>
                <a:ea typeface="Segoe UI"/>
                <a:cs typeface="Segoe UI"/>
              </a:defRPr>
            </a:defPPr>
          </a:lstStyle>
          <a:p xmlns:a="http://schemas.openxmlformats.org/drawingml/2006/main">
            <a:pPr algn="ctr">
              <a:defRPr sz="825" b="1" i="0">
                <a:solidFill>
                  <a:srgbClr val="33233F"/>
                </a:solidFill>
                <a:latin typeface="Segoe UI"/>
                <a:ea typeface="Segoe UI"/>
                <a:cs typeface="Segoe UI"/>
              </a:defRPr>
            </a:pPr>
            <a:r>
              <a:rPr sz="825" b="1" i="0">
                <a:solidFill>
                  <a:srgbClr val="33233F"/>
                </a:solidFill>
                <a:latin typeface="Segoe UI"/>
                <a:ea typeface="Segoe UI"/>
                <a:cs typeface="Segoe UI"/>
              </a:rPr>
              <a:t>ILLUSTRATIVE EXAMPLE</a:t>
            </a:r>
          </a:p>
        </p:txBody>
      </p:sp>
      <p:sp>
        <p:nvSpPr>
          <p:cNvPr id="12" name="">
            <a:extLst xmlns:a="http://schemas.openxmlformats.org/drawingml/2006/main">
              <a:ext uri="{FF2B5EF4-FFF2-40B4-BE49-F238E27FC236}">
                <a16:creationId xmlns:a16="http://schemas.microsoft.com/office/drawing/2014/main" id="{AD5558F8-C9D7-4028-BD06-EDDDDAD3971A}"/>
              </a:ext>
            </a:extLst>
          </p:cNvPr>
          <p:cNvSpPr>
            <a:spLocks xmlns:a="http://schemas.openxmlformats.org/drawingml/2006/main" noGrp="1"/>
          </p:cNvSpPr>
          <p:nvPr/>
        </p:nvSpPr>
        <p:spPr>
          <a:xfrm xmlns:a="http://schemas.openxmlformats.org/drawingml/2006/main" rot="0">
            <a:off x="704850" y="1809750"/>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33233F"/>
                </a:solidFill>
                <a:latin typeface="Georgia"/>
                <a:ea typeface="Georgia"/>
                <a:cs typeface="Georgia"/>
              </a:defRPr>
            </a:defPPr>
          </a:lstStyle>
          <a:p xmlns:a="http://schemas.openxmlformats.org/drawingml/2006/main">
            <a:pPr algn="l">
              <a:defRPr sz="1650" b="1" i="0">
                <a:solidFill>
                  <a:srgbClr val="33233F"/>
                </a:solidFill>
                <a:latin typeface="Georgia"/>
                <a:ea typeface="Georgia"/>
                <a:cs typeface="Georgia"/>
              </a:defRPr>
            </a:pPr>
            <a:r>
              <a:rPr sz="1650" b="1" i="0">
                <a:solidFill>
                  <a:srgbClr val="33233F"/>
                </a:solidFill>
                <a:latin typeface="Georgia"/>
                <a:ea typeface="Georgia"/>
                <a:cs typeface="Georgia"/>
              </a:rPr>
              <a:t>1  Observe and clarify</a:t>
            </a:r>
          </a:p>
        </p:txBody>
      </p:sp>
      <p:sp>
        <p:nvSpPr>
          <p:cNvPr id="13" name="">
            <a:extLst xmlns:a="http://schemas.openxmlformats.org/drawingml/2006/main">
              <a:ext uri="{FF2B5EF4-FFF2-40B4-BE49-F238E27FC236}">
                <a16:creationId xmlns:a16="http://schemas.microsoft.com/office/drawing/2014/main" id="{162324DB-BAF1-498F-9273-674CD4DEE110}"/>
              </a:ext>
            </a:extLst>
          </p:cNvPr>
          <p:cNvSpPr>
            <a:spLocks xmlns:a="http://schemas.openxmlformats.org/drawingml/2006/main" noGrp="1"/>
          </p:cNvSpPr>
          <p:nvPr/>
        </p:nvSpPr>
        <p:spPr>
          <a:xfrm xmlns:a="http://schemas.openxmlformats.org/drawingml/2006/main" rot="0">
            <a:off x="723900" y="23050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2B2E22"/>
                </a:solidFill>
                <a:latin typeface="Segoe UI"/>
                <a:ea typeface="Segoe UI"/>
                <a:cs typeface="Segoe UI"/>
              </a:defRPr>
            </a:defPPr>
          </a:lstStyle>
          <a:p xmlns:a="http://schemas.openxmlformats.org/drawingml/2006/main">
            <a:pPr algn="l">
              <a:defRPr sz="1275" b="0" i="0">
                <a:solidFill>
                  <a:srgbClr val="2B2E22"/>
                </a:solidFill>
                <a:latin typeface="Segoe UI"/>
                <a:ea typeface="Segoe UI"/>
                <a:cs typeface="Segoe UI"/>
              </a:defRPr>
            </a:pPr>
            <a:r>
              <a:rPr sz="1275" b="0" i="0">
                <a:solidFill>
                  <a:srgbClr val="2B2E22"/>
                </a:solidFill>
                <a:latin typeface="Segoe UI"/>
                <a:ea typeface="Segoe UI"/>
                <a:cs typeface="Segoe UI"/>
              </a:rPr>
              <a:t>Available: A, B, C, D</a:t>
            </a:r>
          </a:p>
        </p:txBody>
      </p:sp>
      <p:sp>
        <p:nvSpPr>
          <p:cNvPr id="14" name="">
            <a:extLst xmlns:a="http://schemas.openxmlformats.org/drawingml/2006/main">
              <a:ext uri="{FF2B5EF4-FFF2-40B4-BE49-F238E27FC236}">
                <a16:creationId xmlns:a16="http://schemas.microsoft.com/office/drawing/2014/main" id="{726D1117-B550-4709-82D5-FF22E16B567C}"/>
              </a:ext>
            </a:extLst>
          </p:cNvPr>
          <p:cNvSpPr>
            <a:spLocks xmlns:a="http://schemas.openxmlformats.org/drawingml/2006/main" noGrp="1"/>
          </p:cNvSpPr>
          <p:nvPr/>
        </p:nvSpPr>
        <p:spPr>
          <a:xfrm xmlns:a="http://schemas.openxmlformats.org/drawingml/2006/main" rot="0">
            <a:off x="723900" y="2667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A75F5A"/>
                </a:solidFill>
                <a:latin typeface="Segoe UI"/>
                <a:ea typeface="Segoe UI"/>
                <a:cs typeface="Segoe UI"/>
              </a:defRPr>
            </a:defPPr>
          </a:lstStyle>
          <a:p xmlns:a="http://schemas.openxmlformats.org/drawingml/2006/main">
            <a:pPr algn="l">
              <a:defRPr sz="1275" b="1" i="0">
                <a:solidFill>
                  <a:srgbClr val="A75F5A"/>
                </a:solidFill>
                <a:latin typeface="Segoe UI"/>
                <a:ea typeface="Segoe UI"/>
                <a:cs typeface="Segoe UI"/>
              </a:defRPr>
            </a:pPr>
            <a:r>
              <a:rPr sz="1275" b="1" i="0">
                <a:solidFill>
                  <a:srgbClr val="A75F5A"/>
                </a:solidFill>
                <a:latin typeface="Segoe UI"/>
                <a:ea typeface="Segoe UI"/>
                <a:cs typeface="Segoe UI"/>
              </a:rPr>
              <a:t>D: schedule missing</a:t>
            </a:r>
          </a:p>
        </p:txBody>
      </p:sp>
      <p:sp>
        <p:nvSpPr>
          <p:cNvPr id="15" name="">
            <a:extLst xmlns:a="http://schemas.openxmlformats.org/drawingml/2006/main">
              <a:ext uri="{FF2B5EF4-FFF2-40B4-BE49-F238E27FC236}">
                <a16:creationId xmlns:a16="http://schemas.microsoft.com/office/drawing/2014/main" id="{2FF7E58A-3DC4-4C9C-825C-18E3C0F9DAEC}"/>
              </a:ext>
            </a:extLst>
          </p:cNvPr>
          <p:cNvSpPr>
            <a:spLocks xmlns:a="http://schemas.openxmlformats.org/drawingml/2006/main" noGrp="1"/>
          </p:cNvSpPr>
          <p:nvPr/>
        </p:nvSpPr>
        <p:spPr>
          <a:xfrm xmlns:a="http://schemas.openxmlformats.org/drawingml/2006/main" rot="0">
            <a:off x="723900" y="3143250"/>
            <a:ext cx="2343150" cy="704850"/>
          </a:xfrm>
          <a:prstGeom xmlns:a="http://schemas.openxmlformats.org/drawingml/2006/main" prst="rect">
            <a:avLst/>
          </a:prstGeom>
          <a:solidFill xmlns:a="http://schemas.openxmlformats.org/drawingml/2006/main">
            <a:srgbClr val="F4E8D5"/>
          </a:solidFill>
          <a:ln xmlns:a="http://schemas.openxmlformats.org/drawingml/2006/main" w="9525">
            <a:solidFill>
              <a:srgbClr val="A9956D"/>
            </a:solidFill>
            <a:prstDash val="solid"/>
          </a:ln>
        </p:spPr>
      </p:sp>
      <p:sp>
        <p:nvSpPr>
          <p:cNvPr id="16" name="">
            <a:extLst xmlns:a="http://schemas.openxmlformats.org/drawingml/2006/main">
              <a:ext uri="{FF2B5EF4-FFF2-40B4-BE49-F238E27FC236}">
                <a16:creationId xmlns:a16="http://schemas.microsoft.com/office/drawing/2014/main" id="{A72077F2-4EA3-4656-8B08-0AFAC6491752}"/>
              </a:ext>
            </a:extLst>
          </p:cNvPr>
          <p:cNvSpPr>
            <a:spLocks xmlns:a="http://schemas.openxmlformats.org/drawingml/2006/main" noGrp="1"/>
          </p:cNvSpPr>
          <p:nvPr/>
        </p:nvSpPr>
        <p:spPr>
          <a:xfrm xmlns:a="http://schemas.openxmlformats.org/drawingml/2006/main" rot="0">
            <a:off x="895350" y="329565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i="0">
                <a:solidFill>
                  <a:srgbClr val="33233F"/>
                </a:solidFill>
                <a:latin typeface="Segoe UI"/>
                <a:ea typeface="Segoe UI"/>
                <a:cs typeface="Segoe UI"/>
              </a:defRPr>
            </a:defPPr>
          </a:lstStyle>
          <a:p xmlns:a="http://schemas.openxmlformats.org/drawingml/2006/main">
            <a:pPr algn="ctr">
              <a:defRPr sz="1275" b="0" i="0">
                <a:solidFill>
                  <a:srgbClr val="33233F"/>
                </a:solidFill>
                <a:latin typeface="Segoe UI"/>
                <a:ea typeface="Segoe UI"/>
                <a:cs typeface="Segoe UI"/>
              </a:defRPr>
            </a:pPr>
            <a:r>
              <a:rPr sz="1275" b="0" i="0">
                <a:solidFill>
                  <a:srgbClr val="33233F"/>
                </a:solidFill>
                <a:latin typeface="Segoe UI"/>
                <a:ea typeface="Segoe UI"/>
                <a:cs typeface="Segoe UI"/>
              </a:rPr>
              <a:t>Ask D's hard bundle</a:t>
            </a:r>
          </a:p>
          <a:p xmlns:a="http://schemas.openxmlformats.org/drawingml/2006/main">
            <a:pPr algn="ctr">
              <a:defRPr sz="1275" b="0" i="0">
                <a:solidFill>
                  <a:srgbClr val="33233F"/>
                </a:solidFill>
                <a:latin typeface="Segoe UI"/>
                <a:ea typeface="Segoe UI"/>
                <a:cs typeface="Segoe UI"/>
              </a:defRPr>
            </a:pPr>
            <a:r>
              <a:rPr sz="1275" b="0" i="0">
                <a:solidFill>
                  <a:srgbClr val="33233F"/>
                </a:solidFill>
                <a:latin typeface="Segoe UI"/>
                <a:ea typeface="Segoe UI"/>
                <a:cs typeface="Segoe UI"/>
              </a:rPr>
              <a:t>Cost: 3 units</a:t>
            </a:r>
          </a:p>
        </p:txBody>
      </p:sp>
      <p:sp>
        <p:nvSpPr>
          <p:cNvPr id="17" name="">
            <a:extLst xmlns:a="http://schemas.openxmlformats.org/drawingml/2006/main">
              <a:ext uri="{FF2B5EF4-FFF2-40B4-BE49-F238E27FC236}">
                <a16:creationId xmlns:a16="http://schemas.microsoft.com/office/drawing/2014/main" id="{6409AA04-C95B-4D75-9943-248158CF5D4F}"/>
              </a:ext>
            </a:extLst>
          </p:cNvPr>
          <p:cNvSpPr>
            <a:spLocks xmlns:a="http://schemas.openxmlformats.org/drawingml/2006/main" noGrp="1"/>
          </p:cNvSpPr>
          <p:nvPr/>
        </p:nvSpPr>
        <p:spPr>
          <a:xfrm xmlns:a="http://schemas.openxmlformats.org/drawingml/2006/main" rot="0">
            <a:off x="723900" y="417195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lnSpc>
                <a:spcPct val="115000"/>
              </a:lnSpc>
              <a:buNone/>
              <a:defRPr sz="1200" b="0" i="0">
                <a:solidFill>
                  <a:srgbClr val="5B624A"/>
                </a:solidFill>
                <a:latin typeface="Segoe UI"/>
                <a:ea typeface="Segoe UI"/>
                <a:cs typeface="Segoe UI"/>
              </a:defRPr>
            </a:pPr>
            <a:r>
              <a:rPr sz="1200" b="0" i="0">
                <a:solidFill>
                  <a:srgbClr val="5B624A"/>
                </a:solidFill>
                <a:latin typeface="Segoe UI"/>
                <a:ea typeface="Segoe UI"/>
                <a:cs typeface="Segoe UI"/>
              </a:rPr>
              <a:t>Use the refreshed reply</a:t>
            </a:r>
          </a:p>
          <a:p xmlns:a="http://schemas.openxmlformats.org/drawingml/2006/main">
            <a:pPr algn="l">
              <a:lnSpc>
                <a:spcPct val="115000"/>
              </a:lnSpc>
              <a:buNone/>
              <a:defRPr sz="1200" b="0" i="0">
                <a:solidFill>
                  <a:srgbClr val="5B624A"/>
                </a:solidFill>
                <a:latin typeface="Segoe UI"/>
                <a:ea typeface="Segoe UI"/>
                <a:cs typeface="Segoe UI"/>
              </a:defRPr>
            </a:pPr>
            <a:r>
              <a:rPr sz="1200" b="0" i="0">
                <a:solidFill>
                  <a:srgbClr val="5B624A"/>
                </a:solidFill>
                <a:latin typeface="Segoe UI"/>
                <a:ea typeface="Segoe UI"/>
                <a:cs typeface="Segoe UI"/>
              </a:rPr>
              <a:t>before building edges.</a:t>
            </a:r>
          </a:p>
        </p:txBody>
      </p:sp>
      <p:sp>
        <p:nvSpPr>
          <p:cNvPr id="18" name="">
            <a:extLst xmlns:a="http://schemas.openxmlformats.org/drawingml/2006/main">
              <a:ext uri="{FF2B5EF4-FFF2-40B4-BE49-F238E27FC236}">
                <a16:creationId xmlns:a16="http://schemas.microsoft.com/office/drawing/2014/main" id="{B2E738C3-5E83-4404-B182-8136BCDAF421}"/>
              </a:ext>
            </a:extLst>
          </p:cNvPr>
          <p:cNvSpPr>
            <a:spLocks xmlns:a="http://schemas.openxmlformats.org/drawingml/2006/main" noGrp="1"/>
          </p:cNvSpPr>
          <p:nvPr/>
        </p:nvSpPr>
        <p:spPr>
          <a:xfrm xmlns:a="http://schemas.openxmlformats.org/drawingml/2006/main" rot="0">
            <a:off x="3467100" y="1790700"/>
            <a:ext cx="9525" cy="386715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7098239-5217-4FB3-9EA4-68DA31BD0F6E}"/>
              </a:ext>
            </a:extLst>
          </p:cNvPr>
          <p:cNvSpPr>
            <a:spLocks xmlns:a="http://schemas.openxmlformats.org/drawingml/2006/main" noGrp="1"/>
          </p:cNvSpPr>
          <p:nvPr/>
        </p:nvSpPr>
        <p:spPr>
          <a:xfrm xmlns:a="http://schemas.openxmlformats.org/drawingml/2006/main" rot="0">
            <a:off x="3752850" y="18097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33233F"/>
                </a:solidFill>
                <a:latin typeface="Georgia"/>
                <a:ea typeface="Georgia"/>
                <a:cs typeface="Georgia"/>
              </a:defRPr>
            </a:defPPr>
          </a:lstStyle>
          <a:p xmlns:a="http://schemas.openxmlformats.org/drawingml/2006/main">
            <a:pPr algn="l">
              <a:defRPr sz="1650" b="1" i="0">
                <a:solidFill>
                  <a:srgbClr val="33233F"/>
                </a:solidFill>
                <a:latin typeface="Georgia"/>
                <a:ea typeface="Georgia"/>
                <a:cs typeface="Georgia"/>
              </a:defRPr>
            </a:pPr>
            <a:r>
              <a:rPr sz="1650" b="1" i="0">
                <a:solidFill>
                  <a:srgbClr val="33233F"/>
                </a:solidFill>
                <a:latin typeface="Georgia"/>
                <a:ea typeface="Georgia"/>
                <a:cs typeface="Georgia"/>
              </a:rPr>
              <a:t>2  Build feasible graph</a:t>
            </a:r>
          </a:p>
        </p:txBody>
      </p:sp>
      <p:sp>
        <p:nvSpPr>
          <p:cNvPr id="20" name="">
            <a:extLst xmlns:a="http://schemas.openxmlformats.org/drawingml/2006/main">
              <a:ext uri="{FF2B5EF4-FFF2-40B4-BE49-F238E27FC236}">
                <a16:creationId xmlns:a16="http://schemas.microsoft.com/office/drawing/2014/main" id="{73DFBD27-4692-4FCB-BDF9-9904A4AD2442}"/>
              </a:ext>
            </a:extLst>
          </p:cNvPr>
          <p:cNvSpPr>
            <a:spLocks xmlns:a="http://schemas.openxmlformats.org/drawingml/2006/main" noGrp="1"/>
          </p:cNvSpPr>
          <p:nvPr/>
        </p:nvSpPr>
        <p:spPr>
          <a:xfrm xmlns:a="http://schemas.openxmlformats.org/drawingml/2006/main" flipH="0" flipV="0">
            <a:off x="4667250" y="2781300"/>
            <a:ext cx="1371600" cy="0"/>
          </a:xfrm>
          <a:prstGeom xmlns:a="http://schemas.openxmlformats.org/drawingml/2006/main" prst="line">
            <a:avLst/>
          </a:prstGeom>
          <a:noFill xmlns:a="http://schemas.openxmlformats.org/drawingml/2006/main"/>
          <a:ln xmlns:a="http://schemas.openxmlformats.org/drawingml/2006/main" w="47625">
            <a:solidFill>
              <a:srgbClr val="33233F"/>
            </a:solidFill>
            <a:prstDash val="solid"/>
          </a:ln>
        </p:spPr>
      </p:sp>
      <p:sp>
        <p:nvSpPr>
          <p:cNvPr id="21" name="">
            <a:extLst xmlns:a="http://schemas.openxmlformats.org/drawingml/2006/main">
              <a:ext uri="{FF2B5EF4-FFF2-40B4-BE49-F238E27FC236}">
                <a16:creationId xmlns:a16="http://schemas.microsoft.com/office/drawing/2014/main" id="{BE275223-F07C-4F87-9BCE-FEAFB7A90DDF}"/>
              </a:ext>
            </a:extLst>
          </p:cNvPr>
          <p:cNvSpPr>
            <a:spLocks xmlns:a="http://schemas.openxmlformats.org/drawingml/2006/main" noGrp="1"/>
          </p:cNvSpPr>
          <p:nvPr/>
        </p:nvSpPr>
        <p:spPr>
          <a:xfrm xmlns:a="http://schemas.openxmlformats.org/drawingml/2006/main" flipH="1" flipV="0">
            <a:off x="4229100" y="2990850"/>
            <a:ext cx="438150" cy="1276350"/>
          </a:xfrm>
          <a:prstGeom xmlns:a="http://schemas.openxmlformats.org/drawingml/2006/main" prst="line">
            <a:avLst/>
          </a:prstGeom>
          <a:noFill xmlns:a="http://schemas.openxmlformats.org/drawingml/2006/main"/>
          <a:ln xmlns:a="http://schemas.openxmlformats.org/drawingml/2006/main" w="19050">
            <a:solidFill>
              <a:srgbClr val="A9956D"/>
            </a:solidFill>
            <a:prstDash val="solid"/>
          </a:ln>
        </p:spPr>
      </p:sp>
      <p:sp>
        <p:nvSpPr>
          <p:cNvPr id="22" name="">
            <a:extLst xmlns:a="http://schemas.openxmlformats.org/drawingml/2006/main">
              <a:ext uri="{FF2B5EF4-FFF2-40B4-BE49-F238E27FC236}">
                <a16:creationId xmlns:a16="http://schemas.microsoft.com/office/drawing/2014/main" id="{04562EF1-B3D9-4B5C-AB5F-836E33A29B3C}"/>
              </a:ext>
            </a:extLst>
          </p:cNvPr>
          <p:cNvSpPr>
            <a:spLocks xmlns:a="http://schemas.openxmlformats.org/drawingml/2006/main" noGrp="1"/>
          </p:cNvSpPr>
          <p:nvPr/>
        </p:nvSpPr>
        <p:spPr>
          <a:xfrm xmlns:a="http://schemas.openxmlformats.org/drawingml/2006/main" flipH="0" flipV="0">
            <a:off x="4324350" y="4467225"/>
            <a:ext cx="2266950" cy="0"/>
          </a:xfrm>
          <a:prstGeom xmlns:a="http://schemas.openxmlformats.org/drawingml/2006/main" prst="line">
            <a:avLst/>
          </a:prstGeom>
          <a:noFill xmlns:a="http://schemas.openxmlformats.org/drawingml/2006/main"/>
          <a:ln xmlns:a="http://schemas.openxmlformats.org/drawingml/2006/main" w="19050">
            <a:solidFill>
              <a:srgbClr val="5B624A"/>
            </a:solidFill>
            <a:prstDash val="solid"/>
          </a:ln>
        </p:spPr>
      </p:sp>
      <p:sp>
        <p:nvSpPr>
          <p:cNvPr id="23" name="">
            <a:extLst xmlns:a="http://schemas.openxmlformats.org/drawingml/2006/main">
              <a:ext uri="{FF2B5EF4-FFF2-40B4-BE49-F238E27FC236}">
                <a16:creationId xmlns:a16="http://schemas.microsoft.com/office/drawing/2014/main" id="{CDE28AAE-2C3B-433C-B13B-C512C7019928}"/>
              </a:ext>
            </a:extLst>
          </p:cNvPr>
          <p:cNvSpPr>
            <a:spLocks xmlns:a="http://schemas.openxmlformats.org/drawingml/2006/main" noGrp="1"/>
          </p:cNvSpPr>
          <p:nvPr/>
        </p:nvSpPr>
        <p:spPr>
          <a:xfrm xmlns:a="http://schemas.openxmlformats.org/drawingml/2006/main">
            <a:off x="4362450" y="2476500"/>
            <a:ext cx="590550" cy="590550"/>
          </a:xfrm>
          <a:prstGeom xmlns:a="http://schemas.openxmlformats.org/drawingml/2006/main" prst="ellipse">
            <a:avLst/>
          </a:prstGeom>
          <a:solidFill xmlns:a="http://schemas.openxmlformats.org/drawingml/2006/main">
            <a:srgbClr val="33233F"/>
          </a:solidFill>
          <a:ln xmlns:a="http://schemas.openxmlformats.org/drawingml/2006/main" w="19050">
            <a:solidFill>
              <a:srgbClr val="33233F"/>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BF2E3"/>
                </a:solidFill>
                <a:latin typeface="Georgia"/>
                <a:ea typeface="Georgia"/>
                <a:cs typeface="Georgia"/>
              </a:defRPr>
            </a:defPPr>
          </a:lstStyle>
          <a:p xmlns:a="http://schemas.openxmlformats.org/drawingml/2006/main">
            <a:pPr algn="ctr">
              <a:defRPr sz="1650" b="1">
                <a:solidFill>
                  <a:srgbClr val="FBF2E3"/>
                </a:solidFill>
                <a:latin typeface="Georgia"/>
                <a:ea typeface="Georgia"/>
                <a:cs typeface="Georgia"/>
              </a:defRPr>
            </a:pPr>
            <a:r>
              <a:rPr sz="1650" b="1">
                <a:solidFill>
                  <a:srgbClr val="FBF2E3"/>
                </a:solidFill>
                <a:latin typeface="Georgia"/>
                <a:ea typeface="Georgia"/>
                <a:cs typeface="Georgia"/>
              </a:rPr>
              <a:t>A</a:t>
            </a:r>
          </a:p>
        </p:txBody>
      </p:sp>
      <p:sp>
        <p:nvSpPr>
          <p:cNvPr id="24" name="">
            <a:extLst xmlns:a="http://schemas.openxmlformats.org/drawingml/2006/main">
              <a:ext uri="{FF2B5EF4-FFF2-40B4-BE49-F238E27FC236}">
                <a16:creationId xmlns:a16="http://schemas.microsoft.com/office/drawing/2014/main" id="{2C0BFB7F-EAE4-4795-8715-3519140FB58D}"/>
              </a:ext>
            </a:extLst>
          </p:cNvPr>
          <p:cNvSpPr>
            <a:spLocks xmlns:a="http://schemas.openxmlformats.org/drawingml/2006/main" noGrp="1"/>
          </p:cNvSpPr>
          <p:nvPr/>
        </p:nvSpPr>
        <p:spPr>
          <a:xfrm xmlns:a="http://schemas.openxmlformats.org/drawingml/2006/main">
            <a:off x="5943600" y="2476500"/>
            <a:ext cx="590550" cy="590550"/>
          </a:xfrm>
          <a:prstGeom xmlns:a="http://schemas.openxmlformats.org/drawingml/2006/main" prst="ellipse">
            <a:avLst/>
          </a:prstGeom>
          <a:solidFill xmlns:a="http://schemas.openxmlformats.org/drawingml/2006/main">
            <a:srgbClr val="33233F"/>
          </a:solidFill>
          <a:ln xmlns:a="http://schemas.openxmlformats.org/drawingml/2006/main" w="19050">
            <a:solidFill>
              <a:srgbClr val="33233F"/>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BF2E3"/>
                </a:solidFill>
                <a:latin typeface="Georgia"/>
                <a:ea typeface="Georgia"/>
                <a:cs typeface="Georgia"/>
              </a:defRPr>
            </a:defPPr>
          </a:lstStyle>
          <a:p xmlns:a="http://schemas.openxmlformats.org/drawingml/2006/main">
            <a:pPr algn="ctr">
              <a:defRPr sz="1650" b="1">
                <a:solidFill>
                  <a:srgbClr val="FBF2E3"/>
                </a:solidFill>
                <a:latin typeface="Georgia"/>
                <a:ea typeface="Georgia"/>
                <a:cs typeface="Georgia"/>
              </a:defRPr>
            </a:pPr>
            <a:r>
              <a:rPr sz="1650" b="1">
                <a:solidFill>
                  <a:srgbClr val="FBF2E3"/>
                </a:solidFill>
                <a:latin typeface="Georgia"/>
                <a:ea typeface="Georgia"/>
                <a:cs typeface="Georgia"/>
              </a:rPr>
              <a:t>D</a:t>
            </a:r>
          </a:p>
        </p:txBody>
      </p:sp>
      <p:sp>
        <p:nvSpPr>
          <p:cNvPr id="25" name="">
            <a:extLst xmlns:a="http://schemas.openxmlformats.org/drawingml/2006/main">
              <a:ext uri="{FF2B5EF4-FFF2-40B4-BE49-F238E27FC236}">
                <a16:creationId xmlns:a16="http://schemas.microsoft.com/office/drawing/2014/main" id="{EEAB839F-F10C-48DF-A51D-26078DC4747A}"/>
              </a:ext>
            </a:extLst>
          </p:cNvPr>
          <p:cNvSpPr>
            <a:spLocks xmlns:a="http://schemas.openxmlformats.org/drawingml/2006/main" noGrp="1"/>
          </p:cNvSpPr>
          <p:nvPr/>
        </p:nvSpPr>
        <p:spPr>
          <a:xfrm xmlns:a="http://schemas.openxmlformats.org/drawingml/2006/main">
            <a:off x="3733800" y="4171950"/>
            <a:ext cx="590550" cy="590550"/>
          </a:xfrm>
          <a:prstGeom xmlns:a="http://schemas.openxmlformats.org/drawingml/2006/main" prst="ellipse">
            <a:avLst/>
          </a:prstGeom>
          <a:solidFill xmlns:a="http://schemas.openxmlformats.org/drawingml/2006/main">
            <a:srgbClr val="FBF2E3"/>
          </a:solidFill>
          <a:ln xmlns:a="http://schemas.openxmlformats.org/drawingml/2006/main" w="19050">
            <a:solidFill>
              <a:srgbClr val="A9956D"/>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B</a:t>
            </a:r>
          </a:p>
        </p:txBody>
      </p:sp>
      <p:sp>
        <p:nvSpPr>
          <p:cNvPr id="26" name="">
            <a:extLst xmlns:a="http://schemas.openxmlformats.org/drawingml/2006/main">
              <a:ext uri="{FF2B5EF4-FFF2-40B4-BE49-F238E27FC236}">
                <a16:creationId xmlns:a16="http://schemas.microsoft.com/office/drawing/2014/main" id="{279E0E0D-741C-4D5F-9839-9F3EC56BD7C4}"/>
              </a:ext>
            </a:extLst>
          </p:cNvPr>
          <p:cNvSpPr>
            <a:spLocks xmlns:a="http://schemas.openxmlformats.org/drawingml/2006/main" noGrp="1"/>
          </p:cNvSpPr>
          <p:nvPr/>
        </p:nvSpPr>
        <p:spPr>
          <a:xfrm xmlns:a="http://schemas.openxmlformats.org/drawingml/2006/main">
            <a:off x="6591300" y="4171950"/>
            <a:ext cx="590550" cy="590550"/>
          </a:xfrm>
          <a:prstGeom xmlns:a="http://schemas.openxmlformats.org/drawingml/2006/main" prst="ellipse">
            <a:avLst/>
          </a:prstGeom>
          <a:solidFill xmlns:a="http://schemas.openxmlformats.org/drawingml/2006/main">
            <a:srgbClr val="FBF2E3"/>
          </a:solidFill>
          <a:ln xmlns:a="http://schemas.openxmlformats.org/drawingml/2006/main" w="19050">
            <a:solidFill>
              <a:srgbClr val="5B624A"/>
            </a:solid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2B2E22"/>
                </a:solidFill>
                <a:latin typeface="Georgia"/>
                <a:ea typeface="Georgia"/>
                <a:cs typeface="Georgia"/>
              </a:defRPr>
            </a:defPPr>
          </a:lstStyle>
          <a:p xmlns:a="http://schemas.openxmlformats.org/drawingml/2006/main">
            <a:pPr algn="ctr">
              <a:defRPr sz="1650" b="1">
                <a:solidFill>
                  <a:srgbClr val="2B2E22"/>
                </a:solidFill>
                <a:latin typeface="Georgia"/>
                <a:ea typeface="Georgia"/>
                <a:cs typeface="Georgia"/>
              </a:defRPr>
            </a:pPr>
            <a:r>
              <a:rPr sz="1650" b="1">
                <a:solidFill>
                  <a:srgbClr val="2B2E22"/>
                </a:solidFill>
                <a:latin typeface="Georgia"/>
                <a:ea typeface="Georgia"/>
                <a:cs typeface="Georgia"/>
              </a:rPr>
              <a:t>C</a:t>
            </a:r>
          </a:p>
        </p:txBody>
      </p:sp>
      <p:sp>
        <p:nvSpPr>
          <p:cNvPr id="27" name="">
            <a:extLst xmlns:a="http://schemas.openxmlformats.org/drawingml/2006/main">
              <a:ext uri="{FF2B5EF4-FFF2-40B4-BE49-F238E27FC236}">
                <a16:creationId xmlns:a16="http://schemas.microsoft.com/office/drawing/2014/main" id="{3C691764-9406-4B1F-91CC-111114F74E11}"/>
              </a:ext>
            </a:extLst>
          </p:cNvPr>
          <p:cNvSpPr>
            <a:spLocks xmlns:a="http://schemas.openxmlformats.org/drawingml/2006/main" noGrp="1"/>
          </p:cNvSpPr>
          <p:nvPr/>
        </p:nvSpPr>
        <p:spPr>
          <a:xfrm xmlns:a="http://schemas.openxmlformats.org/drawingml/2006/main" rot="0">
            <a:off x="5162550" y="247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33233F"/>
                </a:solidFill>
                <a:latin typeface="Segoe UI"/>
                <a:ea typeface="Segoe UI"/>
                <a:cs typeface="Segoe UI"/>
              </a:defRPr>
            </a:defPPr>
          </a:lstStyle>
          <a:p xmlns:a="http://schemas.openxmlformats.org/drawingml/2006/main">
            <a:pPr algn="ctr">
              <a:defRPr sz="1275" b="1" i="0">
                <a:solidFill>
                  <a:srgbClr val="33233F"/>
                </a:solidFill>
                <a:latin typeface="Segoe UI"/>
                <a:ea typeface="Segoe UI"/>
                <a:cs typeface="Segoe UI"/>
              </a:defRPr>
            </a:pPr>
            <a:r>
              <a:rPr sz="1275" b="1" i="0">
                <a:solidFill>
                  <a:srgbClr val="33233F"/>
                </a:solidFill>
                <a:latin typeface="Segoe UI"/>
                <a:ea typeface="Segoe UI"/>
                <a:cs typeface="Segoe UI"/>
              </a:rPr>
              <a:t>2</a:t>
            </a:r>
          </a:p>
        </p:txBody>
      </p:sp>
      <p:sp>
        <p:nvSpPr>
          <p:cNvPr id="28" name="">
            <a:extLst xmlns:a="http://schemas.openxmlformats.org/drawingml/2006/main">
              <a:ext uri="{FF2B5EF4-FFF2-40B4-BE49-F238E27FC236}">
                <a16:creationId xmlns:a16="http://schemas.microsoft.com/office/drawing/2014/main" id="{ED72DE2E-EB30-4FB8-8CC3-038032A37C79}"/>
              </a:ext>
            </a:extLst>
          </p:cNvPr>
          <p:cNvSpPr>
            <a:spLocks xmlns:a="http://schemas.openxmlformats.org/drawingml/2006/main" noGrp="1"/>
          </p:cNvSpPr>
          <p:nvPr/>
        </p:nvSpPr>
        <p:spPr>
          <a:xfrm xmlns:a="http://schemas.openxmlformats.org/drawingml/2006/main" rot="0">
            <a:off x="4076700" y="3390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A9956D"/>
                </a:solidFill>
                <a:latin typeface="Segoe UI"/>
                <a:ea typeface="Segoe UI"/>
                <a:cs typeface="Segoe UI"/>
              </a:defRPr>
            </a:defPPr>
          </a:lstStyle>
          <a:p xmlns:a="http://schemas.openxmlformats.org/drawingml/2006/main">
            <a:pPr algn="ctr">
              <a:defRPr sz="1200" b="1" i="0">
                <a:solidFill>
                  <a:srgbClr val="A9956D"/>
                </a:solidFill>
                <a:latin typeface="Segoe UI"/>
                <a:ea typeface="Segoe UI"/>
                <a:cs typeface="Segoe UI"/>
              </a:defRPr>
            </a:pPr>
            <a:r>
              <a:rPr sz="1200" b="1" i="0">
                <a:solidFill>
                  <a:srgbClr val="A9956D"/>
                </a:solidFill>
                <a:latin typeface="Segoe UI"/>
                <a:ea typeface="Segoe UI"/>
                <a:cs typeface="Segoe UI"/>
              </a:rPr>
              <a:t>1</a:t>
            </a:r>
          </a:p>
        </p:txBody>
      </p:sp>
      <p:sp>
        <p:nvSpPr>
          <p:cNvPr id="29" name="">
            <a:extLst xmlns:a="http://schemas.openxmlformats.org/drawingml/2006/main">
              <a:ext uri="{FF2B5EF4-FFF2-40B4-BE49-F238E27FC236}">
                <a16:creationId xmlns:a16="http://schemas.microsoft.com/office/drawing/2014/main" id="{9E7F7F77-1472-4F78-892C-902748D44F03}"/>
              </a:ext>
            </a:extLst>
          </p:cNvPr>
          <p:cNvSpPr>
            <a:spLocks xmlns:a="http://schemas.openxmlformats.org/drawingml/2006/main" noGrp="1"/>
          </p:cNvSpPr>
          <p:nvPr/>
        </p:nvSpPr>
        <p:spPr>
          <a:xfrm xmlns:a="http://schemas.openxmlformats.org/drawingml/2006/main" rot="0">
            <a:off x="5276850" y="41148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5B624A"/>
                </a:solidFill>
                <a:latin typeface="Segoe UI"/>
                <a:ea typeface="Segoe UI"/>
                <a:cs typeface="Segoe UI"/>
              </a:defRPr>
            </a:defPPr>
          </a:lstStyle>
          <a:p xmlns:a="http://schemas.openxmlformats.org/drawingml/2006/main">
            <a:pPr algn="ctr">
              <a:defRPr sz="1200" b="1" i="0">
                <a:solidFill>
                  <a:srgbClr val="5B624A"/>
                </a:solidFill>
                <a:latin typeface="Segoe UI"/>
                <a:ea typeface="Segoe UI"/>
                <a:cs typeface="Segoe UI"/>
              </a:defRPr>
            </a:pPr>
            <a:r>
              <a:rPr sz="1200" b="1" i="0">
                <a:solidFill>
                  <a:srgbClr val="5B624A"/>
                </a:solidFill>
                <a:latin typeface="Segoe UI"/>
                <a:ea typeface="Segoe UI"/>
                <a:cs typeface="Segoe UI"/>
              </a:rPr>
              <a:t>1</a:t>
            </a:r>
          </a:p>
        </p:txBody>
      </p:sp>
      <p:sp>
        <p:nvSpPr>
          <p:cNvPr id="30" name="">
            <a:extLst xmlns:a="http://schemas.openxmlformats.org/drawingml/2006/main">
              <a:ext uri="{FF2B5EF4-FFF2-40B4-BE49-F238E27FC236}">
                <a16:creationId xmlns:a16="http://schemas.microsoft.com/office/drawing/2014/main" id="{960BC23C-922B-4440-A9B6-EF5E437CBBF5}"/>
              </a:ext>
            </a:extLst>
          </p:cNvPr>
          <p:cNvSpPr>
            <a:spLocks xmlns:a="http://schemas.openxmlformats.org/drawingml/2006/main" noGrp="1"/>
          </p:cNvSpPr>
          <p:nvPr/>
        </p:nvSpPr>
        <p:spPr>
          <a:xfrm xmlns:a="http://schemas.openxmlformats.org/drawingml/2006/main" rot="0">
            <a:off x="3848100" y="5048250"/>
            <a:ext cx="320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5B624A"/>
                </a:solidFill>
                <a:latin typeface="Segoe UI"/>
                <a:ea typeface="Segoe UI"/>
                <a:cs typeface="Segoe UI"/>
              </a:defRPr>
            </a:defPPr>
          </a:lstStyle>
          <a:p xmlns:a="http://schemas.openxmlformats.org/drawingml/2006/main">
            <a:pPr algn="ctr">
              <a:defRPr sz="1200" b="0" i="0">
                <a:solidFill>
                  <a:srgbClr val="5B624A"/>
                </a:solidFill>
                <a:latin typeface="Segoe UI"/>
                <a:ea typeface="Segoe UI"/>
                <a:cs typeface="Segoe UI"/>
              </a:defRPr>
            </a:pPr>
            <a:r>
              <a:rPr sz="1200" b="0" i="0">
                <a:solidFill>
                  <a:srgbClr val="5B624A"/>
                </a:solidFill>
                <a:latin typeface="Segoe UI"/>
                <a:ea typeface="Segoe UI"/>
                <a:cs typeface="Segoe UI"/>
              </a:rPr>
              <a:t>Only reciprocal feasible edges appear.</a:t>
            </a:r>
          </a:p>
        </p:txBody>
      </p:sp>
      <p:sp>
        <p:nvSpPr>
          <p:cNvPr id="31" name="">
            <a:extLst xmlns:a="http://schemas.openxmlformats.org/drawingml/2006/main">
              <a:ext uri="{FF2B5EF4-FFF2-40B4-BE49-F238E27FC236}">
                <a16:creationId xmlns:a16="http://schemas.microsoft.com/office/drawing/2014/main" id="{31FE5E89-8B98-4EEB-AFD3-CA05C9F0D9E8}"/>
              </a:ext>
            </a:extLst>
          </p:cNvPr>
          <p:cNvSpPr>
            <a:spLocks xmlns:a="http://schemas.openxmlformats.org/drawingml/2006/main" noGrp="1"/>
          </p:cNvSpPr>
          <p:nvPr/>
        </p:nvSpPr>
        <p:spPr>
          <a:xfrm xmlns:a="http://schemas.openxmlformats.org/drawingml/2006/main" rot="0">
            <a:off x="7410450" y="1790700"/>
            <a:ext cx="9525" cy="386715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2065AC7-66E8-404B-B663-EE7EC4056FC8}"/>
              </a:ext>
            </a:extLst>
          </p:cNvPr>
          <p:cNvSpPr>
            <a:spLocks xmlns:a="http://schemas.openxmlformats.org/drawingml/2006/main" noGrp="1"/>
          </p:cNvSpPr>
          <p:nvPr/>
        </p:nvSpPr>
        <p:spPr>
          <a:xfrm xmlns:a="http://schemas.openxmlformats.org/drawingml/2006/main" rot="0">
            <a:off x="7696200" y="180975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33233F"/>
                </a:solidFill>
                <a:latin typeface="Georgia"/>
                <a:ea typeface="Georgia"/>
                <a:cs typeface="Georgia"/>
              </a:defRPr>
            </a:defPPr>
          </a:lstStyle>
          <a:p xmlns:a="http://schemas.openxmlformats.org/drawingml/2006/main">
            <a:pPr algn="l">
              <a:defRPr sz="1650" b="1" i="0">
                <a:solidFill>
                  <a:srgbClr val="33233F"/>
                </a:solidFill>
                <a:latin typeface="Georgia"/>
                <a:ea typeface="Georgia"/>
                <a:cs typeface="Georgia"/>
              </a:defRPr>
            </a:pPr>
            <a:r>
              <a:rPr sz="1650" b="1" i="0">
                <a:solidFill>
                  <a:srgbClr val="33233F"/>
                </a:solidFill>
                <a:latin typeface="Georgia"/>
                <a:ea typeface="Georgia"/>
                <a:cs typeface="Georgia"/>
              </a:rPr>
              <a:t>3  Rank and allocate</a:t>
            </a:r>
          </a:p>
        </p:txBody>
      </p:sp>
      <p:sp>
        <p:nvSpPr>
          <p:cNvPr id="33" name="">
            <a:extLst xmlns:a="http://schemas.openxmlformats.org/drawingml/2006/main">
              <a:ext uri="{FF2B5EF4-FFF2-40B4-BE49-F238E27FC236}">
                <a16:creationId xmlns:a16="http://schemas.microsoft.com/office/drawing/2014/main" id="{875019A6-2562-4B66-BFF6-F004797E513C}"/>
              </a:ext>
            </a:extLst>
          </p:cNvPr>
          <p:cNvSpPr>
            <a:spLocks xmlns:a="http://schemas.openxmlformats.org/drawingml/2006/main" noGrp="1"/>
          </p:cNvSpPr>
          <p:nvPr/>
        </p:nvSpPr>
        <p:spPr>
          <a:xfrm xmlns:a="http://schemas.openxmlformats.org/drawingml/2006/main" rot="0">
            <a:off x="7715250" y="2400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2B2E22"/>
                </a:solidFill>
                <a:latin typeface="Segoe UI"/>
                <a:ea typeface="Segoe UI"/>
                <a:cs typeface="Segoe UI"/>
              </a:defRPr>
            </a:defPPr>
          </a:lstStyle>
          <a:p xmlns:a="http://schemas.openxmlformats.org/drawingml/2006/main">
            <a:pPr algn="l">
              <a:defRPr sz="1350" b="1" i="0">
                <a:solidFill>
                  <a:srgbClr val="2B2E22"/>
                </a:solidFill>
                <a:latin typeface="Segoe UI"/>
                <a:ea typeface="Segoe UI"/>
                <a:cs typeface="Segoe UI"/>
              </a:defRPr>
            </a:pPr>
            <a:r>
              <a:rPr sz="1350" b="1" i="0">
                <a:solidFill>
                  <a:srgbClr val="2B2E22"/>
                </a:solidFill>
                <a:latin typeface="Segoe UI"/>
                <a:ea typeface="Segoe UI"/>
                <a:cs typeface="Segoe UI"/>
              </a:rPr>
              <a:t>1. A-D     score 2</a:t>
            </a:r>
          </a:p>
        </p:txBody>
      </p:sp>
      <p:sp>
        <p:nvSpPr>
          <p:cNvPr id="34" name="">
            <a:extLst xmlns:a="http://schemas.openxmlformats.org/drawingml/2006/main">
              <a:ext uri="{FF2B5EF4-FFF2-40B4-BE49-F238E27FC236}">
                <a16:creationId xmlns:a16="http://schemas.microsoft.com/office/drawing/2014/main" id="{6844417F-D8B7-402C-AB3D-5F732C966C55}"/>
              </a:ext>
            </a:extLst>
          </p:cNvPr>
          <p:cNvSpPr>
            <a:spLocks xmlns:a="http://schemas.openxmlformats.org/drawingml/2006/main" noGrp="1"/>
          </p:cNvSpPr>
          <p:nvPr/>
        </p:nvSpPr>
        <p:spPr>
          <a:xfrm xmlns:a="http://schemas.openxmlformats.org/drawingml/2006/main" rot="0">
            <a:off x="77152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B2E22"/>
                </a:solidFill>
                <a:latin typeface="Segoe UI"/>
                <a:ea typeface="Segoe UI"/>
                <a:cs typeface="Segoe UI"/>
              </a:defRPr>
            </a:defPPr>
          </a:lstStyle>
          <a:p xmlns:a="http://schemas.openxmlformats.org/drawingml/2006/main">
            <a:pPr algn="l">
              <a:defRPr sz="1350" b="0" i="0">
                <a:solidFill>
                  <a:srgbClr val="2B2E22"/>
                </a:solidFill>
                <a:latin typeface="Segoe UI"/>
                <a:ea typeface="Segoe UI"/>
                <a:cs typeface="Segoe UI"/>
              </a:defRPr>
            </a:pPr>
            <a:r>
              <a:rPr sz="1350" b="0" i="0">
                <a:solidFill>
                  <a:srgbClr val="2B2E22"/>
                </a:solidFill>
                <a:latin typeface="Segoe UI"/>
                <a:ea typeface="Segoe UI"/>
                <a:cs typeface="Segoe UI"/>
              </a:rPr>
              <a:t>2. A-B     score 1</a:t>
            </a:r>
          </a:p>
        </p:txBody>
      </p:sp>
      <p:sp>
        <p:nvSpPr>
          <p:cNvPr id="35" name="">
            <a:extLst xmlns:a="http://schemas.openxmlformats.org/drawingml/2006/main">
              <a:ext uri="{FF2B5EF4-FFF2-40B4-BE49-F238E27FC236}">
                <a16:creationId xmlns:a16="http://schemas.microsoft.com/office/drawing/2014/main" id="{F8870E1C-5844-4B79-BA61-6D2350298931}"/>
              </a:ext>
            </a:extLst>
          </p:cNvPr>
          <p:cNvSpPr>
            <a:spLocks xmlns:a="http://schemas.openxmlformats.org/drawingml/2006/main" noGrp="1"/>
          </p:cNvSpPr>
          <p:nvPr/>
        </p:nvSpPr>
        <p:spPr>
          <a:xfrm xmlns:a="http://schemas.openxmlformats.org/drawingml/2006/main" rot="0">
            <a:off x="7715250" y="3162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B2E22"/>
                </a:solidFill>
                <a:latin typeface="Segoe UI"/>
                <a:ea typeface="Segoe UI"/>
                <a:cs typeface="Segoe UI"/>
              </a:defRPr>
            </a:defPPr>
          </a:lstStyle>
          <a:p xmlns:a="http://schemas.openxmlformats.org/drawingml/2006/main">
            <a:pPr algn="l">
              <a:defRPr sz="1350" b="0" i="0">
                <a:solidFill>
                  <a:srgbClr val="2B2E22"/>
                </a:solidFill>
                <a:latin typeface="Segoe UI"/>
                <a:ea typeface="Segoe UI"/>
                <a:cs typeface="Segoe UI"/>
              </a:defRPr>
            </a:pPr>
            <a:r>
              <a:rPr sz="1350" b="0" i="0">
                <a:solidFill>
                  <a:srgbClr val="2B2E22"/>
                </a:solidFill>
                <a:latin typeface="Segoe UI"/>
                <a:ea typeface="Segoe UI"/>
                <a:cs typeface="Segoe UI"/>
              </a:rPr>
              <a:t>3. B-C     score 1</a:t>
            </a:r>
          </a:p>
        </p:txBody>
      </p:sp>
      <p:sp>
        <p:nvSpPr>
          <p:cNvPr id="36" name="">
            <a:extLst xmlns:a="http://schemas.openxmlformats.org/drawingml/2006/main">
              <a:ext uri="{FF2B5EF4-FFF2-40B4-BE49-F238E27FC236}">
                <a16:creationId xmlns:a16="http://schemas.microsoft.com/office/drawing/2014/main" id="{C27186B1-1D1B-45B7-9D2E-AC2DD5448DD2}"/>
              </a:ext>
            </a:extLst>
          </p:cNvPr>
          <p:cNvSpPr>
            <a:spLocks xmlns:a="http://schemas.openxmlformats.org/drawingml/2006/main" noGrp="1"/>
          </p:cNvSpPr>
          <p:nvPr/>
        </p:nvSpPr>
        <p:spPr>
          <a:xfrm xmlns:a="http://schemas.openxmlformats.org/drawingml/2006/main" rot="0">
            <a:off x="7715250" y="3714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33233F"/>
                </a:solidFill>
                <a:latin typeface="Segoe UI"/>
                <a:ea typeface="Segoe UI"/>
                <a:cs typeface="Segoe UI"/>
              </a:defRPr>
            </a:defPPr>
          </a:lstStyle>
          <a:p xmlns:a="http://schemas.openxmlformats.org/drawingml/2006/main">
            <a:pPr algn="l">
              <a:defRPr sz="1275" b="1" i="0">
                <a:solidFill>
                  <a:srgbClr val="33233F"/>
                </a:solidFill>
                <a:latin typeface="Segoe UI"/>
                <a:ea typeface="Segoe UI"/>
                <a:cs typeface="Segoe UI"/>
              </a:defRPr>
            </a:pPr>
            <a:r>
              <a:rPr sz="1275" b="1" i="0">
                <a:solidFill>
                  <a:srgbClr val="33233F"/>
                </a:solidFill>
                <a:latin typeface="Segoe UI"/>
                <a:ea typeface="Segoe UI"/>
                <a:cs typeface="Segoe UI"/>
              </a:rPr>
              <a:t>Take A-D</a:t>
            </a:r>
          </a:p>
        </p:txBody>
      </p:sp>
      <p:sp>
        <p:nvSpPr>
          <p:cNvPr id="37" name="">
            <a:extLst xmlns:a="http://schemas.openxmlformats.org/drawingml/2006/main">
              <a:ext uri="{FF2B5EF4-FFF2-40B4-BE49-F238E27FC236}">
                <a16:creationId xmlns:a16="http://schemas.microsoft.com/office/drawing/2014/main" id="{806B5EFF-BD7A-4519-935D-2E88D6E0455F}"/>
              </a:ext>
            </a:extLst>
          </p:cNvPr>
          <p:cNvSpPr>
            <a:spLocks xmlns:a="http://schemas.openxmlformats.org/drawingml/2006/main" noGrp="1"/>
          </p:cNvSpPr>
          <p:nvPr/>
        </p:nvSpPr>
        <p:spPr>
          <a:xfrm xmlns:a="http://schemas.openxmlformats.org/drawingml/2006/main" rot="0">
            <a:off x="7715250" y="4076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A75F5A"/>
                </a:solidFill>
                <a:latin typeface="Segoe UI"/>
                <a:ea typeface="Segoe UI"/>
                <a:cs typeface="Segoe UI"/>
              </a:defRPr>
            </a:defPPr>
          </a:lstStyle>
          <a:p xmlns:a="http://schemas.openxmlformats.org/drawingml/2006/main">
            <a:pPr algn="l">
              <a:defRPr sz="1275" b="0" i="0">
                <a:solidFill>
                  <a:srgbClr val="A75F5A"/>
                </a:solidFill>
                <a:latin typeface="Segoe UI"/>
                <a:ea typeface="Segoe UI"/>
                <a:cs typeface="Segoe UI"/>
              </a:defRPr>
            </a:pPr>
            <a:r>
              <a:rPr sz="1275" b="0" i="0">
                <a:solidFill>
                  <a:srgbClr val="A75F5A"/>
                </a:solidFill>
                <a:latin typeface="Segoe UI"/>
                <a:ea typeface="Segoe UI"/>
                <a:cs typeface="Segoe UI"/>
              </a:rPr>
              <a:t>Skip A-B: A is used</a:t>
            </a:r>
          </a:p>
        </p:txBody>
      </p:sp>
      <p:sp>
        <p:nvSpPr>
          <p:cNvPr id="38" name="">
            <a:extLst xmlns:a="http://schemas.openxmlformats.org/drawingml/2006/main">
              <a:ext uri="{FF2B5EF4-FFF2-40B4-BE49-F238E27FC236}">
                <a16:creationId xmlns:a16="http://schemas.microsoft.com/office/drawing/2014/main" id="{EE185B66-7CF5-4773-89CD-15CF9024E657}"/>
              </a:ext>
            </a:extLst>
          </p:cNvPr>
          <p:cNvSpPr>
            <a:spLocks xmlns:a="http://schemas.openxmlformats.org/drawingml/2006/main" noGrp="1"/>
          </p:cNvSpPr>
          <p:nvPr/>
        </p:nvSpPr>
        <p:spPr>
          <a:xfrm xmlns:a="http://schemas.openxmlformats.org/drawingml/2006/main" rot="0">
            <a:off x="7715250" y="4438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B624A"/>
                </a:solidFill>
                <a:latin typeface="Segoe UI"/>
                <a:ea typeface="Segoe UI"/>
                <a:cs typeface="Segoe UI"/>
              </a:defRPr>
            </a:defPPr>
          </a:lstStyle>
          <a:p xmlns:a="http://schemas.openxmlformats.org/drawingml/2006/main">
            <a:pPr algn="l">
              <a:defRPr sz="1275" b="1" i="0">
                <a:solidFill>
                  <a:srgbClr val="5B624A"/>
                </a:solidFill>
                <a:latin typeface="Segoe UI"/>
                <a:ea typeface="Segoe UI"/>
                <a:cs typeface="Segoe UI"/>
              </a:defRPr>
            </a:pPr>
            <a:r>
              <a:rPr sz="1275" b="1" i="0">
                <a:solidFill>
                  <a:srgbClr val="5B624A"/>
                </a:solidFill>
                <a:latin typeface="Segoe UI"/>
                <a:ea typeface="Segoe UI"/>
                <a:cs typeface="Segoe UI"/>
              </a:rPr>
              <a:t>Take B-C</a:t>
            </a:r>
          </a:p>
        </p:txBody>
      </p:sp>
      <p:sp>
        <p:nvSpPr>
          <p:cNvPr id="39" name="">
            <a:extLst xmlns:a="http://schemas.openxmlformats.org/drawingml/2006/main">
              <a:ext uri="{FF2B5EF4-FFF2-40B4-BE49-F238E27FC236}">
                <a16:creationId xmlns:a16="http://schemas.microsoft.com/office/drawing/2014/main" id="{7DCC5484-D9D9-4CC2-9A81-9ABE53DCB936}"/>
              </a:ext>
            </a:extLst>
          </p:cNvPr>
          <p:cNvSpPr>
            <a:spLocks xmlns:a="http://schemas.openxmlformats.org/drawingml/2006/main" noGrp="1"/>
          </p:cNvSpPr>
          <p:nvPr/>
        </p:nvSpPr>
        <p:spPr>
          <a:xfrm xmlns:a="http://schemas.openxmlformats.org/drawingml/2006/main" rot="0">
            <a:off x="7715250" y="4972050"/>
            <a:ext cx="3467100" cy="704850"/>
          </a:xfrm>
          <a:prstGeom xmlns:a="http://schemas.openxmlformats.org/drawingml/2006/main" prst="rect">
            <a:avLst/>
          </a:prstGeom>
          <a:solidFill xmlns:a="http://schemas.openxmlformats.org/drawingml/2006/main">
            <a:srgbClr val="33233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2D1AC37-4C79-4F27-8729-8952D30A1279}"/>
              </a:ext>
            </a:extLst>
          </p:cNvPr>
          <p:cNvSpPr>
            <a:spLocks xmlns:a="http://schemas.openxmlformats.org/drawingml/2006/main" noGrp="1"/>
          </p:cNvSpPr>
          <p:nvPr/>
        </p:nvSpPr>
        <p:spPr>
          <a:xfrm xmlns:a="http://schemas.openxmlformats.org/drawingml/2006/main" rot="0">
            <a:off x="7905750" y="5172075"/>
            <a:ext cx="3086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i="0">
                <a:solidFill>
                  <a:srgbClr val="FBF2E3"/>
                </a:solidFill>
                <a:latin typeface="Georgia"/>
                <a:ea typeface="Georgia"/>
                <a:cs typeface="Georgia"/>
              </a:defRPr>
            </a:defPPr>
          </a:lstStyle>
          <a:p xmlns:a="http://schemas.openxmlformats.org/drawingml/2006/main">
            <a:pPr algn="ctr">
              <a:defRPr sz="1500" b="0" i="0">
                <a:solidFill>
                  <a:srgbClr val="FBF2E3"/>
                </a:solidFill>
                <a:latin typeface="Georgia"/>
                <a:ea typeface="Georgia"/>
                <a:cs typeface="Georgia"/>
              </a:defRPr>
            </a:pPr>
            <a:r>
              <a:rPr sz="1500" b="0" i="0">
                <a:solidFill>
                  <a:srgbClr val="FBF2E3"/>
                </a:solidFill>
                <a:latin typeface="Georgia"/>
                <a:ea typeface="Georgia"/>
                <a:cs typeface="Georgia"/>
              </a:rPr>
              <a:t>Daily output: (A, D), (B, C)</a:t>
            </a:r>
          </a:p>
        </p:txBody>
      </p:sp>
      <p:sp>
        <p:nvSpPr>
          <p:cNvPr id="41" name="">
            <a:extLst xmlns:a="http://schemas.openxmlformats.org/drawingml/2006/main">
              <a:ext uri="{FF2B5EF4-FFF2-40B4-BE49-F238E27FC236}">
                <a16:creationId xmlns:a16="http://schemas.microsoft.com/office/drawing/2014/main" id="{A6B3E966-FFD0-4F71-B358-64E29D6ABFA9}"/>
              </a:ext>
            </a:extLst>
          </p:cNvPr>
          <p:cNvSpPr>
            <a:spLocks xmlns:a="http://schemas.openxmlformats.org/drawingml/2006/main" noGrp="1"/>
          </p:cNvSpPr>
          <p:nvPr/>
        </p:nvSpPr>
        <p:spPr>
          <a:xfrm xmlns:a="http://schemas.openxmlformats.org/drawingml/2006/main" rot="0">
            <a:off x="2209800" y="5943600"/>
            <a:ext cx="777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A9956D"/>
                </a:solidFill>
                <a:latin typeface="Segoe UI"/>
                <a:ea typeface="Segoe UI"/>
                <a:cs typeface="Segoe UI"/>
              </a:defRPr>
            </a:defPPr>
          </a:lstStyle>
          <a:p xmlns:a="http://schemas.openxmlformats.org/drawingml/2006/main">
            <a:pPr algn="ctr">
              <a:defRPr sz="1125" b="0" i="0">
                <a:solidFill>
                  <a:srgbClr val="A9956D"/>
                </a:solidFill>
                <a:latin typeface="Segoe UI"/>
                <a:ea typeface="Segoe UI"/>
                <a:cs typeface="Segoe UI"/>
              </a:defRPr>
            </a:pPr>
            <a:r>
              <a:rPr sz="1125" b="0" i="0">
                <a:solidFill>
                  <a:srgbClr val="A9956D"/>
                </a:solidFill>
                <a:latin typeface="Segoe UI"/>
                <a:ea typeface="Segoe UI"/>
                <a:cs typeface="Segoe UI"/>
              </a:rPr>
              <a:t>Scores break priority ties; availability keeps the batch disjoint.</a:t>
            </a:r>
          </a:p>
        </p:txBody>
      </p:sp>
    </p:spTree>
    <p:extLst>
      <p:ext uri="{BB962C8B-B14F-4D97-AF65-F5344CB8AC3E}">
        <p14:creationId xmlns:p14="http://schemas.microsoft.com/office/powerpoint/2010/main" val="1805778228"/>
      </p:ext>
    </p:extLst>
  </p:cSld>
</p:sld>
</file>

<file path=ppt/slides/slide6.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524C84F-9888-4CD5-9EBD-5B634B21D4F7}"/>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53693814-2933-44FB-AFFE-69EB4F3A450A}"/>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SAFETY</a:t>
            </a:r>
          </a:p>
        </p:txBody>
      </p:sp>
      <p:sp>
        <p:nvSpPr>
          <p:cNvPr id="3" name="">
            <a:extLst xmlns:a="http://schemas.openxmlformats.org/drawingml/2006/main">
              <a:ext uri="{FF2B5EF4-FFF2-40B4-BE49-F238E27FC236}">
                <a16:creationId xmlns:a16="http://schemas.microsoft.com/office/drawing/2014/main" id="{E4461A9A-4A6B-4D95-9C5E-23D8F2C6679D}"/>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33F739F8-86F0-4AA7-92FF-B70FE40E74BD}"/>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6BEFD2-E42F-4EB5-8142-82909A6E695C}"/>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E8BCE4-0BA7-4BBE-AA79-CBFF318EFA71}"/>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E033EF89-0B99-42AF-8522-C7D784827B36}"/>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45C6946B-C78E-465F-8C8C-D7E6869C428E}"/>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Constraint protection</a:t>
            </a:r>
          </a:p>
        </p:txBody>
      </p:sp>
      <p:sp>
        <p:nvSpPr>
          <p:cNvPr id="9" name="">
            <a:extLst xmlns:a="http://schemas.openxmlformats.org/drawingml/2006/main">
              <a:ext uri="{FF2B5EF4-FFF2-40B4-BE49-F238E27FC236}">
                <a16:creationId xmlns:a16="http://schemas.microsoft.com/office/drawing/2014/main" id="{2FB86E53-3746-4215-BB29-5196489B8A75}"/>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Safety checks remain outside the scoring rule</a:t>
            </a:r>
          </a:p>
        </p:txBody>
      </p:sp>
      <p:sp>
        <p:nvSpPr>
          <p:cNvPr id="10" name="">
            <a:extLst xmlns:a="http://schemas.openxmlformats.org/drawingml/2006/main">
              <a:ext uri="{FF2B5EF4-FFF2-40B4-BE49-F238E27FC236}">
                <a16:creationId xmlns:a16="http://schemas.microsoft.com/office/drawing/2014/main" id="{89916EDA-0A40-4C32-A070-9463904DE306}"/>
              </a:ext>
            </a:extLst>
          </p:cNvPr>
          <p:cNvSpPr>
            <a:spLocks xmlns:a="http://schemas.openxmlformats.org/drawingml/2006/main" noGrp="1"/>
          </p:cNvSpPr>
          <p:nvPr/>
        </p:nvSpPr>
        <p:spPr>
          <a:xfrm xmlns:a="http://schemas.openxmlformats.org/drawingml/2006/main" rot="0">
            <a:off x="857250" y="18669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33233F"/>
                </a:solidFill>
                <a:latin typeface="Georgia"/>
                <a:ea typeface="Georgia"/>
                <a:cs typeface="Georgia"/>
              </a:defRPr>
            </a:defPPr>
          </a:lstStyle>
          <a:p xmlns:a="http://schemas.openxmlformats.org/drawingml/2006/main">
            <a:pPr algn="l">
              <a:defRPr sz="2175" b="0" i="0">
                <a:solidFill>
                  <a:srgbClr val="33233F"/>
                </a:solidFill>
                <a:latin typeface="Georgia"/>
                <a:ea typeface="Georgia"/>
                <a:cs typeface="Georgia"/>
              </a:defRPr>
            </a:pPr>
            <a:r>
              <a:rPr sz="2175" b="0" i="0">
                <a:solidFill>
                  <a:srgbClr val="33233F"/>
                </a:solidFill>
                <a:latin typeface="Georgia"/>
                <a:ea typeface="Georgia"/>
                <a:cs typeface="Georgia"/>
              </a:rPr>
              <a:t>Before scoring</a:t>
            </a:r>
          </a:p>
        </p:txBody>
      </p:sp>
      <p:sp>
        <p:nvSpPr>
          <p:cNvPr id="11" name="">
            <a:extLst xmlns:a="http://schemas.openxmlformats.org/drawingml/2006/main">
              <a:ext uri="{FF2B5EF4-FFF2-40B4-BE49-F238E27FC236}">
                <a16:creationId xmlns:a16="http://schemas.microsoft.com/office/drawing/2014/main" id="{98A787FC-FE04-418E-9BA7-D6C28E6F93EB}"/>
              </a:ext>
            </a:extLst>
          </p:cNvPr>
          <p:cNvSpPr>
            <a:spLocks xmlns:a="http://schemas.openxmlformats.org/drawingml/2006/main" noGrp="1"/>
          </p:cNvSpPr>
          <p:nvPr/>
        </p:nvSpPr>
        <p:spPr>
          <a:xfrm xmlns:a="http://schemas.openxmlformats.org/drawingml/2006/main" rot="0">
            <a:off x="876300" y="2476500"/>
            <a:ext cx="4095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2B2E22"/>
                </a:solidFill>
                <a:latin typeface="Segoe UI"/>
                <a:ea typeface="Segoe UI"/>
                <a:cs typeface="Segoe UI"/>
              </a:defRPr>
            </a:defPPr>
          </a:lstStyle>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Complete hard fields</a:t>
            </a:r>
          </a:p>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Reciprocal preference checks</a:t>
            </a:r>
          </a:p>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Shared zone and schedule</a:t>
            </a:r>
          </a:p>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No repeated pair</a:t>
            </a:r>
          </a:p>
        </p:txBody>
      </p:sp>
      <p:sp>
        <p:nvSpPr>
          <p:cNvPr id="12" name="">
            <a:extLst xmlns:a="http://schemas.openxmlformats.org/drawingml/2006/main">
              <a:ext uri="{FF2B5EF4-FFF2-40B4-BE49-F238E27FC236}">
                <a16:creationId xmlns:a16="http://schemas.microsoft.com/office/drawing/2014/main" id="{EED1A1CD-CD58-48A3-A818-FF6669823CC5}"/>
              </a:ext>
            </a:extLst>
          </p:cNvPr>
          <p:cNvSpPr>
            <a:spLocks xmlns:a="http://schemas.openxmlformats.org/drawingml/2006/main" noGrp="1"/>
          </p:cNvSpPr>
          <p:nvPr/>
        </p:nvSpPr>
        <p:spPr>
          <a:xfrm xmlns:a="http://schemas.openxmlformats.org/drawingml/2006/main" rot="0">
            <a:off x="6838950" y="18669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33233F"/>
                </a:solidFill>
                <a:latin typeface="Georgia"/>
                <a:ea typeface="Georgia"/>
                <a:cs typeface="Georgia"/>
              </a:defRPr>
            </a:defPPr>
          </a:lstStyle>
          <a:p xmlns:a="http://schemas.openxmlformats.org/drawingml/2006/main">
            <a:pPr algn="l">
              <a:defRPr sz="2175" b="0" i="0">
                <a:solidFill>
                  <a:srgbClr val="33233F"/>
                </a:solidFill>
                <a:latin typeface="Georgia"/>
                <a:ea typeface="Georgia"/>
                <a:cs typeface="Georgia"/>
              </a:defRPr>
            </a:pPr>
            <a:r>
              <a:rPr sz="2175" b="0" i="0">
                <a:solidFill>
                  <a:srgbClr val="33233F"/>
                </a:solidFill>
                <a:latin typeface="Georgia"/>
                <a:ea typeface="Georgia"/>
                <a:cs typeface="Georgia"/>
              </a:rPr>
              <a:t>Before output</a:t>
            </a:r>
          </a:p>
        </p:txBody>
      </p:sp>
      <p:sp>
        <p:nvSpPr>
          <p:cNvPr id="13" name="">
            <a:extLst xmlns:a="http://schemas.openxmlformats.org/drawingml/2006/main">
              <a:ext uri="{FF2B5EF4-FFF2-40B4-BE49-F238E27FC236}">
                <a16:creationId xmlns:a16="http://schemas.microsoft.com/office/drawing/2014/main" id="{F1B31172-F950-49E0-B0B2-C9F9586FC818}"/>
              </a:ext>
            </a:extLst>
          </p:cNvPr>
          <p:cNvSpPr>
            <a:spLocks xmlns:a="http://schemas.openxmlformats.org/drawingml/2006/main" noGrp="1"/>
          </p:cNvSpPr>
          <p:nvPr/>
        </p:nvSpPr>
        <p:spPr>
          <a:xfrm xmlns:a="http://schemas.openxmlformats.org/drawingml/2006/main" rot="0">
            <a:off x="6858000" y="2476500"/>
            <a:ext cx="4095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2B2E22"/>
                </a:solidFill>
                <a:latin typeface="Segoe UI"/>
                <a:ea typeface="Segoe UI"/>
                <a:cs typeface="Segoe UI"/>
              </a:defRPr>
            </a:defPPr>
          </a:lstStyle>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Available today</a:t>
            </a:r>
          </a:p>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No open introduction</a:t>
            </a:r>
          </a:p>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No person twice in the batch</a:t>
            </a:r>
          </a:p>
          <a:p xmlns:a="http://schemas.openxmlformats.org/drawingml/2006/main">
            <a:pPr algn="l">
              <a:lnSpc>
                <a:spcPct val="125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Protocol-valid JSON only</a:t>
            </a:r>
          </a:p>
        </p:txBody>
      </p:sp>
      <p:sp>
        <p:nvSpPr>
          <p:cNvPr id="14" name="">
            <a:extLst xmlns:a="http://schemas.openxmlformats.org/drawingml/2006/main">
              <a:ext uri="{FF2B5EF4-FFF2-40B4-BE49-F238E27FC236}">
                <a16:creationId xmlns:a16="http://schemas.microsoft.com/office/drawing/2014/main" id="{F35BD78C-7DF0-4A65-92C7-2DB1CC5FA10D}"/>
              </a:ext>
            </a:extLst>
          </p:cNvPr>
          <p:cNvSpPr>
            <a:spLocks xmlns:a="http://schemas.openxmlformats.org/drawingml/2006/main" noGrp="1"/>
          </p:cNvSpPr>
          <p:nvPr/>
        </p:nvSpPr>
        <p:spPr>
          <a:xfrm xmlns:a="http://schemas.openxmlformats.org/drawingml/2006/main" rot="0">
            <a:off x="6076950" y="1809750"/>
            <a:ext cx="9525" cy="276225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BCE53EA-A3D9-4E57-8FCB-CE72235F9584}"/>
              </a:ext>
            </a:extLst>
          </p:cNvPr>
          <p:cNvSpPr>
            <a:spLocks xmlns:a="http://schemas.openxmlformats.org/drawingml/2006/main" noGrp="1"/>
          </p:cNvSpPr>
          <p:nvPr/>
        </p:nvSpPr>
        <p:spPr>
          <a:xfrm xmlns:a="http://schemas.openxmlformats.org/drawingml/2006/main" rot="0">
            <a:off x="857250" y="4705350"/>
            <a:ext cx="10458450" cy="990600"/>
          </a:xfrm>
          <a:prstGeom xmlns:a="http://schemas.openxmlformats.org/drawingml/2006/main" prst="rect">
            <a:avLst/>
          </a:prstGeom>
          <a:solidFill xmlns:a="http://schemas.openxmlformats.org/drawingml/2006/main">
            <a:srgbClr val="2B2E2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B68E97A-E439-404C-9F30-D4C0A307F3F8}"/>
              </a:ext>
            </a:extLst>
          </p:cNvPr>
          <p:cNvSpPr>
            <a:spLocks xmlns:a="http://schemas.openxmlformats.org/drawingml/2006/main" noGrp="1"/>
          </p:cNvSpPr>
          <p:nvPr/>
        </p:nvSpPr>
        <p:spPr>
          <a:xfrm xmlns:a="http://schemas.openxmlformats.org/drawingml/2006/main" rot="0">
            <a:off x="1352550" y="4943475"/>
            <a:ext cx="946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0" i="0">
                <a:solidFill>
                  <a:srgbClr val="FBF2E3"/>
                </a:solidFill>
                <a:latin typeface="Georgia"/>
                <a:ea typeface="Georgia"/>
                <a:cs typeface="Georgia"/>
              </a:defRPr>
            </a:defPPr>
          </a:lstStyle>
          <a:p xmlns:a="http://schemas.openxmlformats.org/drawingml/2006/main">
            <a:pPr algn="ctr">
              <a:defRPr sz="1875" b="0" i="0">
                <a:solidFill>
                  <a:srgbClr val="FBF2E3"/>
                </a:solidFill>
                <a:latin typeface="Georgia"/>
                <a:ea typeface="Georgia"/>
                <a:cs typeface="Georgia"/>
              </a:defRPr>
            </a:pPr>
            <a:r>
              <a:rPr sz="1875" b="0" i="0">
                <a:solidFill>
                  <a:srgbClr val="FBF2E3"/>
                </a:solidFill>
                <a:latin typeface="Georgia"/>
                <a:ea typeface="Georgia"/>
                <a:cs typeface="Georgia"/>
              </a:rPr>
              <a:t>Scoring changes the order among valid edges. It never changes eligibility.</a:t>
            </a:r>
          </a:p>
        </p:txBody>
      </p:sp>
      <p:sp>
        <p:nvSpPr>
          <p:cNvPr id="17" name="">
            <a:extLst xmlns:a="http://schemas.openxmlformats.org/drawingml/2006/main">
              <a:ext uri="{FF2B5EF4-FFF2-40B4-BE49-F238E27FC236}">
                <a16:creationId xmlns:a16="http://schemas.microsoft.com/office/drawing/2014/main" id="{B8F29F5F-EC14-40AF-99C8-4C323B927F6E}"/>
              </a:ext>
            </a:extLst>
          </p:cNvPr>
          <p:cNvSpPr>
            <a:spLocks xmlns:a="http://schemas.openxmlformats.org/drawingml/2006/main" noGrp="1"/>
          </p:cNvSpPr>
          <p:nvPr/>
        </p:nvSpPr>
        <p:spPr>
          <a:xfrm xmlns:a="http://schemas.openxmlformats.org/drawingml/2006/main" rot="0">
            <a:off x="2800350" y="5924550"/>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A9956D"/>
                </a:solidFill>
                <a:latin typeface="Segoe UI"/>
                <a:ea typeface="Segoe UI"/>
                <a:cs typeface="Segoe UI"/>
              </a:defRPr>
            </a:defPPr>
          </a:lstStyle>
          <a:p xmlns:a="http://schemas.openxmlformats.org/drawingml/2006/main">
            <a:pPr algn="ctr">
              <a:defRPr sz="1050" b="0" i="0">
                <a:solidFill>
                  <a:srgbClr val="A9956D"/>
                </a:solidFill>
                <a:latin typeface="Segoe UI"/>
                <a:ea typeface="Segoe UI"/>
                <a:cs typeface="Segoe UI"/>
              </a:defRPr>
            </a:pPr>
            <a:r>
              <a:rPr sz="1050" b="0" i="0">
                <a:solidFill>
                  <a:srgbClr val="A9956D"/>
                </a:solidFill>
                <a:latin typeface="Segoe UI"/>
                <a:ea typeface="Segoe UI"/>
                <a:cs typeface="Segoe UI"/>
              </a:rPr>
              <a:t>Observable request only. Opaque IDs are used only for stable ties.</a:t>
            </a:r>
          </a:p>
        </p:txBody>
      </p:sp>
    </p:spTree>
    <p:extLst>
      <p:ext uri="{BB962C8B-B14F-4D97-AF65-F5344CB8AC3E}">
        <p14:creationId xmlns:p14="http://schemas.microsoft.com/office/powerpoint/2010/main" val="1236940448"/>
      </p:ext>
    </p:extLst>
  </p:cSld>
</p:sld>
</file>

<file path=ppt/slides/slide7.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E34811C-0E2B-499D-A83C-5B00D658EAF8}"/>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0A0723D5-2D3E-47C1-A962-4CEF55B21D21}"/>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EVIDENCE</a:t>
            </a:r>
          </a:p>
        </p:txBody>
      </p:sp>
      <p:sp>
        <p:nvSpPr>
          <p:cNvPr id="3" name="">
            <a:extLst xmlns:a="http://schemas.openxmlformats.org/drawingml/2006/main">
              <a:ext uri="{FF2B5EF4-FFF2-40B4-BE49-F238E27FC236}">
                <a16:creationId xmlns:a16="http://schemas.microsoft.com/office/drawing/2014/main" id="{C47663E1-61B5-4EC0-AF7B-C7BD2D6E2627}"/>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07</a:t>
            </a:r>
          </a:p>
        </p:txBody>
      </p:sp>
      <p:sp>
        <p:nvSpPr>
          <p:cNvPr id="4" name="">
            <a:extLst xmlns:a="http://schemas.openxmlformats.org/drawingml/2006/main">
              <a:ext uri="{FF2B5EF4-FFF2-40B4-BE49-F238E27FC236}">
                <a16:creationId xmlns:a16="http://schemas.microsoft.com/office/drawing/2014/main" id="{F908082D-E87E-476E-BA48-020A163A43C1}"/>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B343D8-22BF-4A51-8B1E-4C7C04D38AF9}"/>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A06316-86A6-4845-95B6-16BD7FDBD85C}"/>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CFDE6DCB-D5E1-49E6-B2C2-36E37888D6AE}"/>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535BAA65-3EE9-4508-9FCC-736579CA277E}"/>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Submitted policy leads the public comparison</a:t>
            </a:r>
          </a:p>
        </p:txBody>
      </p:sp>
      <p:sp>
        <p:nvSpPr>
          <p:cNvPr id="9" name="">
            <a:extLst xmlns:a="http://schemas.openxmlformats.org/drawingml/2006/main">
              <a:ext uri="{FF2B5EF4-FFF2-40B4-BE49-F238E27FC236}">
                <a16:creationId xmlns:a16="http://schemas.microsoft.com/office/drawing/2014/main" id="{04DE9A95-1112-4D28-B8F1-E19626676431}"/>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Primary score: MSMI per 100 arrived members</a:t>
            </a:r>
          </a:p>
        </p:txBody>
      </p:sp>
      <p:graphicFrame>
        <p:nvGraphicFramePr>
          <p:cNvPr id="10" name="Chart">
            <a:extLst xmlns:a="http://schemas.openxmlformats.org/drawingml/2006/main">
              <a:ext uri="{FF2B5EF4-FFF2-40B4-BE49-F238E27FC236}">
                <a16:creationId xmlns:a16="http://schemas.microsoft.com/office/drawing/2014/main" id="{9EE3789A-1887-4446-99D8-11A0CD4586B7}"/>
              </a:ext>
            </a:extLst>
          </p:cNvPr>
          <p:cNvGraphicFramePr/>
          <p:nvPr/>
        </p:nvGraphicFramePr>
        <p:xfrm>
          <a:off xmlns:a="http://schemas.openxmlformats.org/drawingml/2006/main" x="2000250" y="1828800"/>
          <a:ext xmlns:a="http://schemas.openxmlformats.org/drawingml/2006/main" cx="5524500" cy="3714750"/>
        </p:xfrm>
        <a:graphic xmlns:a="http://schemas.openxmlformats.org/drawingml/2006/main">
          <a:graphicData uri="http://schemas.openxmlformats.org/drawingml/2006/chart">
            <c:chart xmlns:r="http://schemas.openxmlformats.org/officeDocument/2006/relationships" xmlns:c="http://schemas.openxmlformats.org/drawingml/2006/chart" r:id="Rf0abd8bc312e4bd0"/>
          </a:graphicData>
        </a:graphic>
      </p:graphicFrame>
      <p:sp>
        <p:nvSpPr>
          <p:cNvPr id="11" name="">
            <a:extLst xmlns:a="http://schemas.openxmlformats.org/drawingml/2006/main">
              <a:ext uri="{FF2B5EF4-FFF2-40B4-BE49-F238E27FC236}">
                <a16:creationId xmlns:a16="http://schemas.microsoft.com/office/drawing/2014/main" id="{42D01A99-3632-4ADE-BD46-DBBDF1393B1D}"/>
              </a:ext>
            </a:extLst>
          </p:cNvPr>
          <p:cNvSpPr>
            <a:spLocks xmlns:a="http://schemas.openxmlformats.org/drawingml/2006/main" noGrp="1"/>
          </p:cNvSpPr>
          <p:nvPr/>
        </p:nvSpPr>
        <p:spPr>
          <a:xfrm xmlns:a="http://schemas.openxmlformats.org/drawingml/2006/main" rot="0">
            <a:off x="685800" y="2238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No clarification</a:t>
            </a:r>
          </a:p>
        </p:txBody>
      </p:sp>
      <p:sp>
        <p:nvSpPr>
          <p:cNvPr id="12" name="">
            <a:extLst xmlns:a="http://schemas.openxmlformats.org/drawingml/2006/main">
              <a:ext uri="{FF2B5EF4-FFF2-40B4-BE49-F238E27FC236}">
                <a16:creationId xmlns:a16="http://schemas.microsoft.com/office/drawing/2014/main" id="{8E73EF25-054D-4785-B562-5DA85EE354D0}"/>
              </a:ext>
            </a:extLst>
          </p:cNvPr>
          <p:cNvSpPr>
            <a:spLocks xmlns:a="http://schemas.openxmlformats.org/drawingml/2006/main" noGrp="1"/>
          </p:cNvSpPr>
          <p:nvPr/>
        </p:nvSpPr>
        <p:spPr>
          <a:xfrm xmlns:a="http://schemas.openxmlformats.org/drawingml/2006/main" rot="0">
            <a:off x="685800" y="30384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Random feasible</a:t>
            </a:r>
          </a:p>
        </p:txBody>
      </p:sp>
      <p:sp>
        <p:nvSpPr>
          <p:cNvPr id="13" name="">
            <a:extLst xmlns:a="http://schemas.openxmlformats.org/drawingml/2006/main">
              <a:ext uri="{FF2B5EF4-FFF2-40B4-BE49-F238E27FC236}">
                <a16:creationId xmlns:a16="http://schemas.microsoft.com/office/drawing/2014/main" id="{D94207C9-95DA-4951-A010-749A2471A94B}"/>
              </a:ext>
            </a:extLst>
          </p:cNvPr>
          <p:cNvSpPr>
            <a:spLocks xmlns:a="http://schemas.openxmlformats.org/drawingml/2006/main" noGrp="1"/>
          </p:cNvSpPr>
          <p:nvPr/>
        </p:nvSpPr>
        <p:spPr>
          <a:xfrm xmlns:a="http://schemas.openxmlformats.org/drawingml/2006/main" rot="0">
            <a:off x="685800" y="38385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Greedy</a:t>
            </a:r>
          </a:p>
        </p:txBody>
      </p:sp>
      <p:sp>
        <p:nvSpPr>
          <p:cNvPr id="14" name="">
            <a:extLst xmlns:a="http://schemas.openxmlformats.org/drawingml/2006/main">
              <a:ext uri="{FF2B5EF4-FFF2-40B4-BE49-F238E27FC236}">
                <a16:creationId xmlns:a16="http://schemas.microsoft.com/office/drawing/2014/main" id="{E0032B28-65C8-4118-AB31-F1FDC43715A0}"/>
              </a:ext>
            </a:extLst>
          </p:cNvPr>
          <p:cNvSpPr>
            <a:spLocks xmlns:a="http://schemas.openxmlformats.org/drawingml/2006/main" noGrp="1"/>
          </p:cNvSpPr>
          <p:nvPr/>
        </p:nvSpPr>
        <p:spPr>
          <a:xfrm xmlns:a="http://schemas.openxmlformats.org/drawingml/2006/main" rot="0">
            <a:off x="685800" y="46386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33233F"/>
                </a:solidFill>
                <a:latin typeface="Segoe UI"/>
                <a:ea typeface="Segoe UI"/>
                <a:cs typeface="Segoe UI"/>
              </a:defRPr>
            </a:defPPr>
          </a:lstStyle>
          <a:p xmlns:a="http://schemas.openxmlformats.org/drawingml/2006/main">
            <a:pPr algn="r">
              <a:defRPr sz="1050" b="1" i="0">
                <a:solidFill>
                  <a:srgbClr val="33233F"/>
                </a:solidFill>
                <a:latin typeface="Segoe UI"/>
                <a:ea typeface="Segoe UI"/>
                <a:cs typeface="Segoe UI"/>
              </a:defRPr>
            </a:pPr>
            <a:r>
              <a:rPr sz="1050" b="1" i="0">
                <a:solidFill>
                  <a:srgbClr val="33233F"/>
                </a:solidFill>
                <a:latin typeface="Segoe UI"/>
                <a:ea typeface="Segoe UI"/>
                <a:cs typeface="Segoe UI"/>
              </a:rPr>
              <a:t>Submitted</a:t>
            </a:r>
          </a:p>
        </p:txBody>
      </p:sp>
      <p:sp>
        <p:nvSpPr>
          <p:cNvPr id="15" name="">
            <a:extLst xmlns:a="http://schemas.openxmlformats.org/drawingml/2006/main">
              <a:ext uri="{FF2B5EF4-FFF2-40B4-BE49-F238E27FC236}">
                <a16:creationId xmlns:a16="http://schemas.microsoft.com/office/drawing/2014/main" id="{85FAC891-22C9-468C-BC53-D53497C65E6E}"/>
              </a:ext>
            </a:extLst>
          </p:cNvPr>
          <p:cNvSpPr>
            <a:spLocks xmlns:a="http://schemas.openxmlformats.org/drawingml/2006/main" noGrp="1"/>
          </p:cNvSpPr>
          <p:nvPr/>
        </p:nvSpPr>
        <p:spPr>
          <a:xfrm xmlns:a="http://schemas.openxmlformats.org/drawingml/2006/main" rot="0">
            <a:off x="7981950" y="1847850"/>
            <a:ext cx="9525" cy="363855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0B171E6-E604-4DB5-8CBE-DB6C403464D9}"/>
              </a:ext>
            </a:extLst>
          </p:cNvPr>
          <p:cNvSpPr>
            <a:spLocks xmlns:a="http://schemas.openxmlformats.org/drawingml/2006/main" noGrp="1"/>
          </p:cNvSpPr>
          <p:nvPr/>
        </p:nvSpPr>
        <p:spPr>
          <a:xfrm xmlns:a="http://schemas.openxmlformats.org/drawingml/2006/main" rot="0">
            <a:off x="8515350" y="2038350"/>
            <a:ext cx="114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4500" b="0" i="0">
                <a:solidFill>
                  <a:srgbClr val="33233F"/>
                </a:solidFill>
                <a:latin typeface="Georgia"/>
                <a:ea typeface="Georgia"/>
                <a:cs typeface="Georgia"/>
              </a:defRPr>
            </a:defPPr>
          </a:lstStyle>
          <a:p xmlns:a="http://schemas.openxmlformats.org/drawingml/2006/main">
            <a:pPr algn="ctr">
              <a:defRPr sz="4500" b="0" i="0">
                <a:solidFill>
                  <a:srgbClr val="33233F"/>
                </a:solidFill>
                <a:latin typeface="Georgia"/>
                <a:ea typeface="Georgia"/>
                <a:cs typeface="Georgia"/>
              </a:defRPr>
            </a:pPr>
            <a:r>
              <a:rPr sz="4500" b="0" i="0">
                <a:solidFill>
                  <a:srgbClr val="33233F"/>
                </a:solidFill>
                <a:latin typeface="Georgia"/>
                <a:ea typeface="Georgia"/>
                <a:cs typeface="Georgia"/>
              </a:rPr>
              <a:t>16</a:t>
            </a:r>
          </a:p>
        </p:txBody>
      </p:sp>
      <p:sp>
        <p:nvSpPr>
          <p:cNvPr id="17" name="">
            <a:extLst xmlns:a="http://schemas.openxmlformats.org/drawingml/2006/main">
              <a:ext uri="{FF2B5EF4-FFF2-40B4-BE49-F238E27FC236}">
                <a16:creationId xmlns:a16="http://schemas.microsoft.com/office/drawing/2014/main" id="{06C2D330-7798-4D48-A42B-408E145C798C}"/>
              </a:ext>
            </a:extLst>
          </p:cNvPr>
          <p:cNvSpPr>
            <a:spLocks xmlns:a="http://schemas.openxmlformats.org/drawingml/2006/main" noGrp="1"/>
          </p:cNvSpPr>
          <p:nvPr/>
        </p:nvSpPr>
        <p:spPr>
          <a:xfrm xmlns:a="http://schemas.openxmlformats.org/drawingml/2006/main" rot="0">
            <a:off x="8267700" y="2762250"/>
            <a:ext cx="1676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5B624A"/>
                </a:solidFill>
                <a:latin typeface="Segoe UI"/>
                <a:ea typeface="Segoe UI"/>
                <a:cs typeface="Segoe UI"/>
              </a:defRPr>
            </a:defPPr>
          </a:lstStyle>
          <a:p xmlns:a="http://schemas.openxmlformats.org/drawingml/2006/main">
            <a:pPr algn="ctr">
              <a:defRPr sz="1125" b="0" i="0">
                <a:solidFill>
                  <a:srgbClr val="5B624A"/>
                </a:solidFill>
                <a:latin typeface="Segoe UI"/>
                <a:ea typeface="Segoe UI"/>
                <a:cs typeface="Segoe UI"/>
              </a:defRPr>
            </a:pPr>
            <a:r>
              <a:rPr sz="1125" b="0" i="0">
                <a:solidFill>
                  <a:srgbClr val="5B624A"/>
                </a:solidFill>
                <a:latin typeface="Segoe UI"/>
                <a:ea typeface="Segoe UI"/>
                <a:cs typeface="Segoe UI"/>
              </a:rPr>
              <a:t>qualifying outcomes</a:t>
            </a:r>
          </a:p>
        </p:txBody>
      </p:sp>
      <p:sp>
        <p:nvSpPr>
          <p:cNvPr id="18" name="">
            <a:extLst xmlns:a="http://schemas.openxmlformats.org/drawingml/2006/main">
              <a:ext uri="{FF2B5EF4-FFF2-40B4-BE49-F238E27FC236}">
                <a16:creationId xmlns:a16="http://schemas.microsoft.com/office/drawing/2014/main" id="{426DDFD3-02D6-48BB-9145-77DE4FFBF742}"/>
              </a:ext>
            </a:extLst>
          </p:cNvPr>
          <p:cNvSpPr>
            <a:spLocks xmlns:a="http://schemas.openxmlformats.org/drawingml/2006/main" noGrp="1"/>
          </p:cNvSpPr>
          <p:nvPr/>
        </p:nvSpPr>
        <p:spPr>
          <a:xfrm xmlns:a="http://schemas.openxmlformats.org/drawingml/2006/main" rot="0">
            <a:off x="9848850" y="23050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A9956D"/>
                </a:solidFill>
                <a:latin typeface="Segoe UI"/>
                <a:ea typeface="Segoe UI"/>
                <a:cs typeface="Segoe UI"/>
              </a:defRPr>
            </a:defPPr>
          </a:lstStyle>
          <a:p xmlns:a="http://schemas.openxmlformats.org/drawingml/2006/main">
            <a:pPr algn="ctr">
              <a:defRPr sz="1200" b="0" i="0">
                <a:solidFill>
                  <a:srgbClr val="A9956D"/>
                </a:solidFill>
                <a:latin typeface="Segoe UI"/>
                <a:ea typeface="Segoe UI"/>
                <a:cs typeface="Segoe UI"/>
              </a:defRPr>
            </a:pPr>
            <a:r>
              <a:rPr sz="1200" b="0" i="0">
                <a:solidFill>
                  <a:srgbClr val="A9956D"/>
                </a:solidFill>
                <a:latin typeface="Segoe UI"/>
                <a:ea typeface="Segoe UI"/>
                <a:cs typeface="Segoe UI"/>
              </a:rPr>
              <a:t>vs</a:t>
            </a:r>
          </a:p>
        </p:txBody>
      </p:sp>
      <p:sp>
        <p:nvSpPr>
          <p:cNvPr id="19" name="">
            <a:extLst xmlns:a="http://schemas.openxmlformats.org/drawingml/2006/main">
              <a:ext uri="{FF2B5EF4-FFF2-40B4-BE49-F238E27FC236}">
                <a16:creationId xmlns:a16="http://schemas.microsoft.com/office/drawing/2014/main" id="{CB68029A-7751-4CFB-8232-C5FE3AC5A107}"/>
              </a:ext>
            </a:extLst>
          </p:cNvPr>
          <p:cNvSpPr>
            <a:spLocks xmlns:a="http://schemas.openxmlformats.org/drawingml/2006/main" noGrp="1"/>
          </p:cNvSpPr>
          <p:nvPr/>
        </p:nvSpPr>
        <p:spPr>
          <a:xfrm xmlns:a="http://schemas.openxmlformats.org/drawingml/2006/main" rot="0">
            <a:off x="10344150" y="2038350"/>
            <a:ext cx="114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4500" b="0" i="0">
                <a:solidFill>
                  <a:srgbClr val="5B624A"/>
                </a:solidFill>
                <a:latin typeface="Georgia"/>
                <a:ea typeface="Georgia"/>
                <a:cs typeface="Georgia"/>
              </a:defRPr>
            </a:defPPr>
          </a:lstStyle>
          <a:p xmlns:a="http://schemas.openxmlformats.org/drawingml/2006/main">
            <a:pPr algn="ctr">
              <a:defRPr sz="4500" b="0" i="0">
                <a:solidFill>
                  <a:srgbClr val="5B624A"/>
                </a:solidFill>
                <a:latin typeface="Georgia"/>
                <a:ea typeface="Georgia"/>
                <a:cs typeface="Georgia"/>
              </a:defRPr>
            </a:pPr>
            <a:r>
              <a:rPr sz="4500" b="0" i="0">
                <a:solidFill>
                  <a:srgbClr val="5B624A"/>
                </a:solidFill>
                <a:latin typeface="Georgia"/>
                <a:ea typeface="Georgia"/>
                <a:cs typeface="Georgia"/>
              </a:rPr>
              <a:t>14</a:t>
            </a:r>
          </a:p>
        </p:txBody>
      </p:sp>
      <p:sp>
        <p:nvSpPr>
          <p:cNvPr id="20" name="">
            <a:extLst xmlns:a="http://schemas.openxmlformats.org/drawingml/2006/main">
              <a:ext uri="{FF2B5EF4-FFF2-40B4-BE49-F238E27FC236}">
                <a16:creationId xmlns:a16="http://schemas.microsoft.com/office/drawing/2014/main" id="{F2FD9807-C730-459C-9CB9-F7C6D95424C2}"/>
              </a:ext>
            </a:extLst>
          </p:cNvPr>
          <p:cNvSpPr>
            <a:spLocks xmlns:a="http://schemas.openxmlformats.org/drawingml/2006/main" noGrp="1"/>
          </p:cNvSpPr>
          <p:nvPr/>
        </p:nvSpPr>
        <p:spPr>
          <a:xfrm xmlns:a="http://schemas.openxmlformats.org/drawingml/2006/main" rot="0">
            <a:off x="10077450" y="2762250"/>
            <a:ext cx="1676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5B624A"/>
                </a:solidFill>
                <a:latin typeface="Segoe UI"/>
                <a:ea typeface="Segoe UI"/>
                <a:cs typeface="Segoe UI"/>
              </a:defRPr>
            </a:defPPr>
          </a:lstStyle>
          <a:p xmlns:a="http://schemas.openxmlformats.org/drawingml/2006/main">
            <a:pPr algn="ctr">
              <a:defRPr sz="1125" b="0" i="0">
                <a:solidFill>
                  <a:srgbClr val="5B624A"/>
                </a:solidFill>
                <a:latin typeface="Segoe UI"/>
                <a:ea typeface="Segoe UI"/>
                <a:cs typeface="Segoe UI"/>
              </a:defRPr>
            </a:pPr>
            <a:r>
              <a:rPr sz="1125" b="0" i="0">
                <a:solidFill>
                  <a:srgbClr val="5B624A"/>
                </a:solidFill>
                <a:latin typeface="Segoe UI"/>
                <a:ea typeface="Segoe UI"/>
                <a:cs typeface="Segoe UI"/>
              </a:rPr>
              <a:t>greedy outcomes</a:t>
            </a:r>
          </a:p>
        </p:txBody>
      </p:sp>
      <p:sp>
        <p:nvSpPr>
          <p:cNvPr id="21" name="">
            <a:extLst xmlns:a="http://schemas.openxmlformats.org/drawingml/2006/main">
              <a:ext uri="{FF2B5EF4-FFF2-40B4-BE49-F238E27FC236}">
                <a16:creationId xmlns:a16="http://schemas.microsoft.com/office/drawing/2014/main" id="{AE86A5A7-7430-4792-B76B-2EB9590B9827}"/>
              </a:ext>
            </a:extLst>
          </p:cNvPr>
          <p:cNvSpPr>
            <a:spLocks xmlns:a="http://schemas.openxmlformats.org/drawingml/2006/main" noGrp="1"/>
          </p:cNvSpPr>
          <p:nvPr/>
        </p:nvSpPr>
        <p:spPr>
          <a:xfrm xmlns:a="http://schemas.openxmlformats.org/drawingml/2006/main" rot="0">
            <a:off x="8401050" y="3467100"/>
            <a:ext cx="28575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3E1C135-D99C-4760-82DB-3417B9C8EC09}"/>
              </a:ext>
            </a:extLst>
          </p:cNvPr>
          <p:cNvSpPr>
            <a:spLocks xmlns:a="http://schemas.openxmlformats.org/drawingml/2006/main" noGrp="1"/>
          </p:cNvSpPr>
          <p:nvPr/>
        </p:nvSpPr>
        <p:spPr>
          <a:xfrm xmlns:a="http://schemas.openxmlformats.org/drawingml/2006/main" rot="0">
            <a:off x="8572500" y="3714750"/>
            <a:ext cx="2533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850" b="0" i="0">
                <a:solidFill>
                  <a:srgbClr val="33233F"/>
                </a:solidFill>
                <a:latin typeface="Georgia"/>
                <a:ea typeface="Georgia"/>
                <a:cs typeface="Georgia"/>
              </a:defRPr>
            </a:defPPr>
          </a:lstStyle>
          <a:p xmlns:a="http://schemas.openxmlformats.org/drawingml/2006/main">
            <a:pPr algn="ctr">
              <a:defRPr sz="2850" b="0" i="0">
                <a:solidFill>
                  <a:srgbClr val="33233F"/>
                </a:solidFill>
                <a:latin typeface="Georgia"/>
                <a:ea typeface="Georgia"/>
                <a:cs typeface="Georgia"/>
              </a:defRPr>
            </a:pPr>
            <a:r>
              <a:rPr sz="2850" b="0" i="0">
                <a:solidFill>
                  <a:srgbClr val="33233F"/>
                </a:solidFill>
                <a:latin typeface="Georgia"/>
                <a:ea typeface="Georgia"/>
                <a:cs typeface="Georgia"/>
              </a:rPr>
              <a:t>+0.0556</a:t>
            </a:r>
          </a:p>
        </p:txBody>
      </p:sp>
      <p:sp>
        <p:nvSpPr>
          <p:cNvPr id="23" name="">
            <a:extLst xmlns:a="http://schemas.openxmlformats.org/drawingml/2006/main">
              <a:ext uri="{FF2B5EF4-FFF2-40B4-BE49-F238E27FC236}">
                <a16:creationId xmlns:a16="http://schemas.microsoft.com/office/drawing/2014/main" id="{530E2CC2-275E-4BD0-9AF9-7A8BE0179882}"/>
              </a:ext>
            </a:extLst>
          </p:cNvPr>
          <p:cNvSpPr>
            <a:spLocks xmlns:a="http://schemas.openxmlformats.org/drawingml/2006/main" noGrp="1"/>
          </p:cNvSpPr>
          <p:nvPr/>
        </p:nvSpPr>
        <p:spPr>
          <a:xfrm xmlns:a="http://schemas.openxmlformats.org/drawingml/2006/main" rot="0">
            <a:off x="8362950" y="42481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5B624A"/>
                </a:solidFill>
                <a:latin typeface="Segoe UI"/>
                <a:ea typeface="Segoe UI"/>
                <a:cs typeface="Segoe UI"/>
              </a:defRPr>
            </a:defPPr>
          </a:lstStyle>
          <a:p xmlns:a="http://schemas.openxmlformats.org/drawingml/2006/main">
            <a:pPr algn="ctr">
              <a:defRPr sz="1125" b="0" i="0">
                <a:solidFill>
                  <a:srgbClr val="5B624A"/>
                </a:solidFill>
                <a:latin typeface="Segoe UI"/>
                <a:ea typeface="Segoe UI"/>
                <a:cs typeface="Segoe UI"/>
              </a:defRPr>
            </a:pPr>
            <a:r>
              <a:rPr sz="1125" b="0" i="0">
                <a:solidFill>
                  <a:srgbClr val="5B624A"/>
                </a:solidFill>
                <a:latin typeface="Segoe UI"/>
                <a:ea typeface="Segoe UI"/>
                <a:cs typeface="Segoe UI"/>
              </a:rPr>
              <a:t>mean paired difference from greedy</a:t>
            </a:r>
          </a:p>
        </p:txBody>
      </p:sp>
      <p:sp>
        <p:nvSpPr>
          <p:cNvPr id="24" name="">
            <a:extLst xmlns:a="http://schemas.openxmlformats.org/drawingml/2006/main">
              <a:ext uri="{FF2B5EF4-FFF2-40B4-BE49-F238E27FC236}">
                <a16:creationId xmlns:a16="http://schemas.microsoft.com/office/drawing/2014/main" id="{97152B3C-74A8-4160-9C29-3B3D5F22AFEC}"/>
              </a:ext>
            </a:extLst>
          </p:cNvPr>
          <p:cNvSpPr>
            <a:spLocks xmlns:a="http://schemas.openxmlformats.org/drawingml/2006/main" noGrp="1"/>
          </p:cNvSpPr>
          <p:nvPr/>
        </p:nvSpPr>
        <p:spPr>
          <a:xfrm xmlns:a="http://schemas.openxmlformats.org/drawingml/2006/main" rot="0">
            <a:off x="7734300" y="52197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A9956D"/>
                </a:solidFill>
                <a:latin typeface="Segoe UI"/>
                <a:ea typeface="Segoe UI"/>
                <a:cs typeface="Segoe UI"/>
              </a:defRPr>
            </a:defPPr>
          </a:lstStyle>
          <a:p xmlns:a="http://schemas.openxmlformats.org/drawingml/2006/main">
            <a:pPr algn="ctr">
              <a:defRPr sz="975" b="0" i="0">
                <a:solidFill>
                  <a:srgbClr val="A9956D"/>
                </a:solidFill>
                <a:latin typeface="Segoe UI"/>
                <a:ea typeface="Segoe UI"/>
                <a:cs typeface="Segoe UI"/>
              </a:defRPr>
            </a:pPr>
            <a:r>
              <a:rPr sz="975" b="0" i="0">
                <a:solidFill>
                  <a:srgbClr val="A9956D"/>
                </a:solidFill>
                <a:latin typeface="Segoe UI"/>
                <a:ea typeface="Segoe UI"/>
                <a:cs typeface="Segoe UI"/>
              </a:rPr>
              <a:t>3 public seeds, 6 scenario families, 18 episodes per method</a:t>
            </a:r>
          </a:p>
        </p:txBody>
      </p:sp>
    </p:spTree>
    <p:extLst>
      <p:ext uri="{BB962C8B-B14F-4D97-AF65-F5344CB8AC3E}">
        <p14:creationId xmlns:p14="http://schemas.microsoft.com/office/powerpoint/2010/main" val="1726092425"/>
      </p:ext>
    </p:extLst>
  </p:cSld>
</p:sld>
</file>

<file path=ppt/slides/slide8.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93B8192-6CE9-4CDB-BB2A-C54789784418}"/>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51771AC8-AF14-4FF2-8B9B-298E3F73B08A}"/>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UNCERTAINTY</a:t>
            </a:r>
          </a:p>
        </p:txBody>
      </p:sp>
      <p:sp>
        <p:nvSpPr>
          <p:cNvPr id="3" name="">
            <a:extLst xmlns:a="http://schemas.openxmlformats.org/drawingml/2006/main">
              <a:ext uri="{FF2B5EF4-FFF2-40B4-BE49-F238E27FC236}">
                <a16:creationId xmlns:a16="http://schemas.microsoft.com/office/drawing/2014/main" id="{D85BA04C-A453-47E8-AB48-9C5C00C5550D}"/>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08</a:t>
            </a:r>
          </a:p>
        </p:txBody>
      </p:sp>
      <p:sp>
        <p:nvSpPr>
          <p:cNvPr id="4" name="">
            <a:extLst xmlns:a="http://schemas.openxmlformats.org/drawingml/2006/main">
              <a:ext uri="{FF2B5EF4-FFF2-40B4-BE49-F238E27FC236}">
                <a16:creationId xmlns:a16="http://schemas.microsoft.com/office/drawing/2014/main" id="{63B4E524-AD88-4639-8338-36E7F3C56E4F}"/>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E966E3-C88A-4084-BF8B-8A402A589D90}"/>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5E054C-3240-4C4A-96E2-499A64F94711}"/>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D0A8338E-5FBA-4542-BACD-BE7C599B4F10}"/>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AB47D0C2-2ADE-4E42-961B-ED3B270076E3}"/>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Scenario results and uncertainty</a:t>
            </a:r>
          </a:p>
        </p:txBody>
      </p:sp>
      <p:sp>
        <p:nvSpPr>
          <p:cNvPr id="9" name="">
            <a:extLst xmlns:a="http://schemas.openxmlformats.org/drawingml/2006/main">
              <a:ext uri="{FF2B5EF4-FFF2-40B4-BE49-F238E27FC236}">
                <a16:creationId xmlns:a16="http://schemas.microsoft.com/office/drawing/2014/main" id="{D5635CD0-7A6B-4C1C-BD1B-35A08B268444}"/>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The public gain changes across scenario families</a:t>
            </a:r>
          </a:p>
        </p:txBody>
      </p:sp>
      <p:graphicFrame>
        <p:nvGraphicFramePr>
          <p:cNvPr id="10" name="Chart">
            <a:extLst xmlns:a="http://schemas.openxmlformats.org/drawingml/2006/main">
              <a:ext uri="{FF2B5EF4-FFF2-40B4-BE49-F238E27FC236}">
                <a16:creationId xmlns:a16="http://schemas.microsoft.com/office/drawing/2014/main" id="{B9D78725-6C17-4E3C-BCF5-2108D9FC8587}"/>
              </a:ext>
            </a:extLst>
          </p:cNvPr>
          <p:cNvGraphicFramePr/>
          <p:nvPr/>
        </p:nvGraphicFramePr>
        <p:xfrm>
          <a:off xmlns:a="http://schemas.openxmlformats.org/drawingml/2006/main" x="1952625" y="1809750"/>
          <a:ext xmlns:a="http://schemas.openxmlformats.org/drawingml/2006/main" cx="5476875" cy="4000500"/>
        </p:xfrm>
        <a:graphic xmlns:a="http://schemas.openxmlformats.org/drawingml/2006/main">
          <a:graphicData uri="http://schemas.openxmlformats.org/drawingml/2006/chart">
            <c:chart xmlns:r="http://schemas.openxmlformats.org/officeDocument/2006/relationships" xmlns:c="http://schemas.openxmlformats.org/drawingml/2006/chart" r:id="R7d5fd52abe3d4ebf"/>
          </a:graphicData>
        </a:graphic>
      </p:graphicFrame>
      <p:sp>
        <p:nvSpPr>
          <p:cNvPr id="11" name="">
            <a:extLst xmlns:a="http://schemas.openxmlformats.org/drawingml/2006/main">
              <a:ext uri="{FF2B5EF4-FFF2-40B4-BE49-F238E27FC236}">
                <a16:creationId xmlns:a16="http://schemas.microsoft.com/office/drawing/2014/main" id="{14AC3FEA-EE4D-45F4-BBC3-825648BA94E7}"/>
              </a:ext>
            </a:extLst>
          </p:cNvPr>
          <p:cNvSpPr>
            <a:spLocks xmlns:a="http://schemas.openxmlformats.org/drawingml/2006/main" noGrp="1"/>
          </p:cNvSpPr>
          <p:nvPr/>
        </p:nvSpPr>
        <p:spPr>
          <a:xfrm xmlns:a="http://schemas.openxmlformats.org/drawingml/2006/main" rot="0">
            <a:off x="685800" y="20955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i="0">
                <a:solidFill>
                  <a:srgbClr val="A75F5A"/>
                </a:solidFill>
                <a:latin typeface="Segoe UI"/>
                <a:ea typeface="Segoe UI"/>
                <a:cs typeface="Segoe UI"/>
              </a:defRPr>
            </a:defPPr>
          </a:lstStyle>
          <a:p xmlns:a="http://schemas.openxmlformats.org/drawingml/2006/main">
            <a:pPr algn="r">
              <a:defRPr sz="1050" b="1" i="0">
                <a:solidFill>
                  <a:srgbClr val="A75F5A"/>
                </a:solidFill>
                <a:latin typeface="Segoe UI"/>
                <a:ea typeface="Segoe UI"/>
                <a:cs typeface="Segoe UI"/>
              </a:defRPr>
            </a:pPr>
            <a:r>
              <a:rPr sz="1050" b="1" i="0">
                <a:solidFill>
                  <a:srgbClr val="A75F5A"/>
                </a:solidFill>
                <a:latin typeface="Segoe UI"/>
                <a:ea typeface="Segoe UI"/>
                <a:cs typeface="Segoe UI"/>
              </a:rPr>
              <a:t>Sparse</a:t>
            </a:r>
          </a:p>
        </p:txBody>
      </p:sp>
      <p:sp>
        <p:nvSpPr>
          <p:cNvPr id="12" name="">
            <a:extLst xmlns:a="http://schemas.openxmlformats.org/drawingml/2006/main">
              <a:ext uri="{FF2B5EF4-FFF2-40B4-BE49-F238E27FC236}">
                <a16:creationId xmlns:a16="http://schemas.microsoft.com/office/drawing/2014/main" id="{803CCE8C-9FEB-4F15-BB56-2FC1F90FA1DD}"/>
              </a:ext>
            </a:extLst>
          </p:cNvPr>
          <p:cNvSpPr>
            <a:spLocks xmlns:a="http://schemas.openxmlformats.org/drawingml/2006/main" noGrp="1"/>
          </p:cNvSpPr>
          <p:nvPr/>
        </p:nvSpPr>
        <p:spPr>
          <a:xfrm xmlns:a="http://schemas.openxmlformats.org/drawingml/2006/main" rot="0">
            <a:off x="685800" y="26860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Delayed</a:t>
            </a:r>
          </a:p>
        </p:txBody>
      </p:sp>
      <p:sp>
        <p:nvSpPr>
          <p:cNvPr id="13" name="">
            <a:extLst xmlns:a="http://schemas.openxmlformats.org/drawingml/2006/main">
              <a:ext uri="{FF2B5EF4-FFF2-40B4-BE49-F238E27FC236}">
                <a16:creationId xmlns:a16="http://schemas.microsoft.com/office/drawing/2014/main" id="{F57CC0A0-F874-4250-A23E-2E7D3C8F4FA2}"/>
              </a:ext>
            </a:extLst>
          </p:cNvPr>
          <p:cNvSpPr>
            <a:spLocks xmlns:a="http://schemas.openxmlformats.org/drawingml/2006/main" noGrp="1"/>
          </p:cNvSpPr>
          <p:nvPr/>
        </p:nvSpPr>
        <p:spPr>
          <a:xfrm xmlns:a="http://schemas.openxmlformats.org/drawingml/2006/main" rot="0">
            <a:off x="685800" y="32766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Drift</a:t>
            </a:r>
          </a:p>
        </p:txBody>
      </p:sp>
      <p:sp>
        <p:nvSpPr>
          <p:cNvPr id="14" name="">
            <a:extLst xmlns:a="http://schemas.openxmlformats.org/drawingml/2006/main">
              <a:ext uri="{FF2B5EF4-FFF2-40B4-BE49-F238E27FC236}">
                <a16:creationId xmlns:a16="http://schemas.microsoft.com/office/drawing/2014/main" id="{3359CC6E-9D7C-478D-88FC-8628517CF73B}"/>
              </a:ext>
            </a:extLst>
          </p:cNvPr>
          <p:cNvSpPr>
            <a:spLocks xmlns:a="http://schemas.openxmlformats.org/drawingml/2006/main" noGrp="1"/>
          </p:cNvSpPr>
          <p:nvPr/>
        </p:nvSpPr>
        <p:spPr>
          <a:xfrm xmlns:a="http://schemas.openxmlformats.org/drawingml/2006/main" rot="0">
            <a:off x="685800" y="38671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Development</a:t>
            </a:r>
          </a:p>
        </p:txBody>
      </p:sp>
      <p:sp>
        <p:nvSpPr>
          <p:cNvPr id="15" name="">
            <a:extLst xmlns:a="http://schemas.openxmlformats.org/drawingml/2006/main">
              <a:ext uri="{FF2B5EF4-FFF2-40B4-BE49-F238E27FC236}">
                <a16:creationId xmlns:a16="http://schemas.microsoft.com/office/drawing/2014/main" id="{A28B7BB1-E41F-4494-9547-D51E6E1FB63F}"/>
              </a:ext>
            </a:extLst>
          </p:cNvPr>
          <p:cNvSpPr>
            <a:spLocks xmlns:a="http://schemas.openxmlformats.org/drawingml/2006/main" noGrp="1"/>
          </p:cNvSpPr>
          <p:nvPr/>
        </p:nvSpPr>
        <p:spPr>
          <a:xfrm xmlns:a="http://schemas.openxmlformats.org/drawingml/2006/main" rot="0">
            <a:off x="685800" y="44577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Shift</a:t>
            </a:r>
          </a:p>
        </p:txBody>
      </p:sp>
      <p:sp>
        <p:nvSpPr>
          <p:cNvPr id="16" name="">
            <a:extLst xmlns:a="http://schemas.openxmlformats.org/drawingml/2006/main">
              <a:ext uri="{FF2B5EF4-FFF2-40B4-BE49-F238E27FC236}">
                <a16:creationId xmlns:a16="http://schemas.microsoft.com/office/drawing/2014/main" id="{DE225D85-858B-4A40-AB13-DD0C004E822A}"/>
              </a:ext>
            </a:extLst>
          </p:cNvPr>
          <p:cNvSpPr>
            <a:spLocks xmlns:a="http://schemas.openxmlformats.org/drawingml/2006/main" noGrp="1"/>
          </p:cNvSpPr>
          <p:nvPr/>
        </p:nvSpPr>
        <p:spPr>
          <a:xfrm xmlns:a="http://schemas.openxmlformats.org/drawingml/2006/main" rot="0">
            <a:off x="685800" y="50482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i="0">
                <a:solidFill>
                  <a:srgbClr val="2B2E22"/>
                </a:solidFill>
                <a:latin typeface="Segoe UI"/>
                <a:ea typeface="Segoe UI"/>
                <a:cs typeface="Segoe UI"/>
              </a:defRPr>
            </a:defPPr>
          </a:lstStyle>
          <a:p xmlns:a="http://schemas.openxmlformats.org/drawingml/2006/main">
            <a:pPr algn="r">
              <a:defRPr sz="1050" b="0" i="0">
                <a:solidFill>
                  <a:srgbClr val="2B2E22"/>
                </a:solidFill>
                <a:latin typeface="Segoe UI"/>
                <a:ea typeface="Segoe UI"/>
                <a:cs typeface="Segoe UI"/>
              </a:defRPr>
            </a:pPr>
            <a:r>
              <a:rPr sz="1050" b="0" i="0">
                <a:solidFill>
                  <a:srgbClr val="2B2E22"/>
                </a:solidFill>
                <a:latin typeface="Segoe UI"/>
                <a:ea typeface="Segoe UI"/>
                <a:cs typeface="Segoe UI"/>
              </a:rPr>
              <a:t>Cold start</a:t>
            </a:r>
          </a:p>
        </p:txBody>
      </p:sp>
      <p:sp>
        <p:nvSpPr>
          <p:cNvPr id="17" name="">
            <a:extLst xmlns:a="http://schemas.openxmlformats.org/drawingml/2006/main">
              <a:ext uri="{FF2B5EF4-FFF2-40B4-BE49-F238E27FC236}">
                <a16:creationId xmlns:a16="http://schemas.microsoft.com/office/drawing/2014/main" id="{07C06DF2-2752-4C11-B535-5F802E3E17A8}"/>
              </a:ext>
            </a:extLst>
          </p:cNvPr>
          <p:cNvSpPr>
            <a:spLocks xmlns:a="http://schemas.openxmlformats.org/drawingml/2006/main" noGrp="1"/>
          </p:cNvSpPr>
          <p:nvPr/>
        </p:nvSpPr>
        <p:spPr>
          <a:xfrm xmlns:a="http://schemas.openxmlformats.org/drawingml/2006/main" rot="0">
            <a:off x="7886700" y="1809750"/>
            <a:ext cx="9525" cy="400050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15A3DD8-D923-4EAA-820C-1928C11B6826}"/>
              </a:ext>
            </a:extLst>
          </p:cNvPr>
          <p:cNvSpPr>
            <a:spLocks xmlns:a="http://schemas.openxmlformats.org/drawingml/2006/main" noGrp="1"/>
          </p:cNvSpPr>
          <p:nvPr/>
        </p:nvSpPr>
        <p:spPr>
          <a:xfrm xmlns:a="http://schemas.openxmlformats.org/drawingml/2006/main" rot="0">
            <a:off x="8324850" y="20002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i="0">
                <a:solidFill>
                  <a:srgbClr val="5B624A"/>
                </a:solidFill>
                <a:latin typeface="Segoe UI"/>
                <a:ea typeface="Segoe UI"/>
                <a:cs typeface="Segoe UI"/>
              </a:defRPr>
            </a:defPPr>
          </a:lstStyle>
          <a:p xmlns:a="http://schemas.openxmlformats.org/drawingml/2006/main">
            <a:pPr algn="ctr">
              <a:defRPr sz="1350" b="0" i="0">
                <a:solidFill>
                  <a:srgbClr val="5B624A"/>
                </a:solidFill>
                <a:latin typeface="Segoe UI"/>
                <a:ea typeface="Segoe UI"/>
                <a:cs typeface="Segoe UI"/>
              </a:defRPr>
            </a:pPr>
            <a:r>
              <a:rPr sz="1350" b="0" i="0">
                <a:solidFill>
                  <a:srgbClr val="5B624A"/>
                </a:solidFill>
                <a:latin typeface="Segoe UI"/>
                <a:ea typeface="Segoe UI"/>
                <a:cs typeface="Segoe UI"/>
              </a:rPr>
              <a:t>Paired difference</a:t>
            </a:r>
          </a:p>
        </p:txBody>
      </p:sp>
      <p:sp>
        <p:nvSpPr>
          <p:cNvPr id="19" name="">
            <a:extLst xmlns:a="http://schemas.openxmlformats.org/drawingml/2006/main">
              <a:ext uri="{FF2B5EF4-FFF2-40B4-BE49-F238E27FC236}">
                <a16:creationId xmlns:a16="http://schemas.microsoft.com/office/drawing/2014/main" id="{AC6D6F5F-C5C1-4770-BC97-4BC06E3EEEB4}"/>
              </a:ext>
            </a:extLst>
          </p:cNvPr>
          <p:cNvSpPr>
            <a:spLocks xmlns:a="http://schemas.openxmlformats.org/drawingml/2006/main" noGrp="1"/>
          </p:cNvSpPr>
          <p:nvPr/>
        </p:nvSpPr>
        <p:spPr>
          <a:xfrm xmlns:a="http://schemas.openxmlformats.org/drawingml/2006/main" rot="0">
            <a:off x="8324850" y="23812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750" b="0" i="0">
                <a:solidFill>
                  <a:srgbClr val="33233F"/>
                </a:solidFill>
                <a:latin typeface="Georgia"/>
                <a:ea typeface="Georgia"/>
                <a:cs typeface="Georgia"/>
              </a:defRPr>
            </a:defPPr>
          </a:lstStyle>
          <a:p xmlns:a="http://schemas.openxmlformats.org/drawingml/2006/main">
            <a:pPr algn="ctr">
              <a:defRPr sz="3750" b="0" i="0">
                <a:solidFill>
                  <a:srgbClr val="33233F"/>
                </a:solidFill>
                <a:latin typeface="Georgia"/>
                <a:ea typeface="Georgia"/>
                <a:cs typeface="Georgia"/>
              </a:defRPr>
            </a:pPr>
            <a:r>
              <a:rPr sz="3750" b="0" i="0">
                <a:solidFill>
                  <a:srgbClr val="33233F"/>
                </a:solidFill>
                <a:latin typeface="Georgia"/>
                <a:ea typeface="Georgia"/>
                <a:cs typeface="Georgia"/>
              </a:rPr>
              <a:t>+0.0556</a:t>
            </a:r>
          </a:p>
        </p:txBody>
      </p:sp>
      <p:sp>
        <p:nvSpPr>
          <p:cNvPr id="20" name="">
            <a:extLst xmlns:a="http://schemas.openxmlformats.org/drawingml/2006/main">
              <a:ext uri="{FF2B5EF4-FFF2-40B4-BE49-F238E27FC236}">
                <a16:creationId xmlns:a16="http://schemas.microsoft.com/office/drawing/2014/main" id="{4BDEA034-8014-44D3-99A4-3C34C03C23D6}"/>
              </a:ext>
            </a:extLst>
          </p:cNvPr>
          <p:cNvSpPr>
            <a:spLocks xmlns:a="http://schemas.openxmlformats.org/drawingml/2006/main" noGrp="1"/>
          </p:cNvSpPr>
          <p:nvPr/>
        </p:nvSpPr>
        <p:spPr>
          <a:xfrm xmlns:a="http://schemas.openxmlformats.org/drawingml/2006/main" rot="0">
            <a:off x="8324850" y="33337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5B624A"/>
                </a:solidFill>
                <a:latin typeface="Segoe UI"/>
                <a:ea typeface="Segoe UI"/>
                <a:cs typeface="Segoe UI"/>
              </a:defRPr>
            </a:defPPr>
          </a:lstStyle>
          <a:p xmlns:a="http://schemas.openxmlformats.org/drawingml/2006/main">
            <a:pPr algn="ctr">
              <a:defRPr sz="1200" b="0" i="0">
                <a:solidFill>
                  <a:srgbClr val="5B624A"/>
                </a:solidFill>
                <a:latin typeface="Segoe UI"/>
                <a:ea typeface="Segoe UI"/>
                <a:cs typeface="Segoe UI"/>
              </a:defRPr>
            </a:pPr>
            <a:r>
              <a:rPr sz="1200" b="0" i="0">
                <a:solidFill>
                  <a:srgbClr val="5B624A"/>
                </a:solidFill>
                <a:latin typeface="Segoe UI"/>
                <a:ea typeface="Segoe UI"/>
                <a:cs typeface="Segoe UI"/>
              </a:rPr>
              <a:t>95% seed-grouped interval</a:t>
            </a:r>
          </a:p>
        </p:txBody>
      </p:sp>
      <p:sp>
        <p:nvSpPr>
          <p:cNvPr id="21" name="">
            <a:extLst xmlns:a="http://schemas.openxmlformats.org/drawingml/2006/main">
              <a:ext uri="{FF2B5EF4-FFF2-40B4-BE49-F238E27FC236}">
                <a16:creationId xmlns:a16="http://schemas.microsoft.com/office/drawing/2014/main" id="{F9472C81-452E-4576-B850-D567CA1E27D1}"/>
              </a:ext>
            </a:extLst>
          </p:cNvPr>
          <p:cNvSpPr>
            <a:spLocks xmlns:a="http://schemas.openxmlformats.org/drawingml/2006/main" noGrp="1"/>
          </p:cNvSpPr>
          <p:nvPr/>
        </p:nvSpPr>
        <p:spPr>
          <a:xfrm xmlns:a="http://schemas.openxmlformats.org/drawingml/2006/main" rot="0">
            <a:off x="8153400" y="3714750"/>
            <a:ext cx="300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325" b="0" i="0">
                <a:solidFill>
                  <a:srgbClr val="2B2E22"/>
                </a:solidFill>
                <a:latin typeface="Georgia"/>
                <a:ea typeface="Georgia"/>
                <a:cs typeface="Georgia"/>
              </a:defRPr>
            </a:defPPr>
          </a:lstStyle>
          <a:p xmlns:a="http://schemas.openxmlformats.org/drawingml/2006/main">
            <a:pPr algn="ctr">
              <a:defRPr sz="2325" b="0" i="0">
                <a:solidFill>
                  <a:srgbClr val="2B2E22"/>
                </a:solidFill>
                <a:latin typeface="Georgia"/>
                <a:ea typeface="Georgia"/>
                <a:cs typeface="Georgia"/>
              </a:defRPr>
            </a:pPr>
            <a:r>
              <a:rPr sz="2325" b="0" i="0">
                <a:solidFill>
                  <a:srgbClr val="2B2E22"/>
                </a:solidFill>
                <a:latin typeface="Georgia"/>
                <a:ea typeface="Georgia"/>
                <a:cs typeface="Georgia"/>
              </a:rPr>
              <a:t>0.0000 to 0.0833</a:t>
            </a:r>
          </a:p>
        </p:txBody>
      </p:sp>
      <p:sp>
        <p:nvSpPr>
          <p:cNvPr id="22" name="">
            <a:extLst xmlns:a="http://schemas.openxmlformats.org/drawingml/2006/main">
              <a:ext uri="{FF2B5EF4-FFF2-40B4-BE49-F238E27FC236}">
                <a16:creationId xmlns:a16="http://schemas.microsoft.com/office/drawing/2014/main" id="{A9C0C8BB-1534-43CE-8FFF-63EF00508280}"/>
              </a:ext>
            </a:extLst>
          </p:cNvPr>
          <p:cNvSpPr>
            <a:spLocks xmlns:a="http://schemas.openxmlformats.org/drawingml/2006/main" noGrp="1"/>
          </p:cNvSpPr>
          <p:nvPr/>
        </p:nvSpPr>
        <p:spPr>
          <a:xfrm xmlns:a="http://schemas.openxmlformats.org/drawingml/2006/main" rot="0">
            <a:off x="8477250" y="4514850"/>
            <a:ext cx="23622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2DD377D-0FE1-4436-BB5A-8BEF74BE8D9C}"/>
              </a:ext>
            </a:extLst>
          </p:cNvPr>
          <p:cNvSpPr>
            <a:spLocks xmlns:a="http://schemas.openxmlformats.org/drawingml/2006/main" noGrp="1"/>
          </p:cNvSpPr>
          <p:nvPr/>
        </p:nvSpPr>
        <p:spPr>
          <a:xfrm xmlns:a="http://schemas.openxmlformats.org/drawingml/2006/main" rot="0">
            <a:off x="8172450" y="4762500"/>
            <a:ext cx="2971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i="0">
                <a:solidFill>
                  <a:srgbClr val="A75F5A"/>
                </a:solidFill>
                <a:latin typeface="Segoe UI"/>
                <a:ea typeface="Segoe UI"/>
                <a:cs typeface="Segoe UI"/>
              </a:defRPr>
            </a:defPPr>
          </a:lstStyle>
          <a:p xmlns:a="http://schemas.openxmlformats.org/drawingml/2006/main">
            <a:pPr algn="ctr">
              <a:defRPr sz="1275" b="0" i="0">
                <a:solidFill>
                  <a:srgbClr val="A75F5A"/>
                </a:solidFill>
                <a:latin typeface="Segoe UI"/>
                <a:ea typeface="Segoe UI"/>
                <a:cs typeface="Segoe UI"/>
              </a:defRPr>
            </a:pPr>
            <a:r>
              <a:rPr sz="1275" b="0" i="0">
                <a:solidFill>
                  <a:srgbClr val="A75F5A"/>
                </a:solidFill>
                <a:latin typeface="Segoe UI"/>
                <a:ea typeface="Segoe UI"/>
                <a:cs typeface="Segoe UI"/>
              </a:rPr>
              <a:t>The lower endpoint is zero.</a:t>
            </a:r>
          </a:p>
          <a:p xmlns:a="http://schemas.openxmlformats.org/drawingml/2006/main">
            <a:pPr algn="ctr">
              <a:defRPr sz="1275" b="0" i="0">
                <a:solidFill>
                  <a:srgbClr val="A75F5A"/>
                </a:solidFill>
                <a:latin typeface="Segoe UI"/>
                <a:ea typeface="Segoe UI"/>
                <a:cs typeface="Segoe UI"/>
              </a:defRPr>
            </a:pPr>
            <a:r>
              <a:rPr sz="1275" b="0" i="0">
                <a:solidFill>
                  <a:srgbClr val="A75F5A"/>
                </a:solidFill>
                <a:latin typeface="Segoe UI"/>
                <a:ea typeface="Segoe UI"/>
                <a:cs typeface="Segoe UI"/>
              </a:rPr>
              <a:t>We do not claim a confirmed private advantage.</a:t>
            </a:r>
          </a:p>
        </p:txBody>
      </p:sp>
    </p:spTree>
    <p:extLst>
      <p:ext uri="{BB962C8B-B14F-4D97-AF65-F5344CB8AC3E}">
        <p14:creationId xmlns:p14="http://schemas.microsoft.com/office/powerpoint/2010/main" val="2137822623"/>
      </p:ext>
    </p:extLst>
  </p:cSld>
</p:sld>
</file>

<file path=ppt/slides/slide9.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9240E04-43CD-4287-9A87-9D43C7927C49}"/>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17BFF30D-EBD3-432C-A875-489CF6131FF5}"/>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RELIABILITY</a:t>
            </a:r>
          </a:p>
        </p:txBody>
      </p:sp>
      <p:sp>
        <p:nvSpPr>
          <p:cNvPr id="3" name="">
            <a:extLst xmlns:a="http://schemas.openxmlformats.org/drawingml/2006/main">
              <a:ext uri="{FF2B5EF4-FFF2-40B4-BE49-F238E27FC236}">
                <a16:creationId xmlns:a16="http://schemas.microsoft.com/office/drawing/2014/main" id="{9ADBE3A3-858D-45B9-AE93-275C1F7637A3}"/>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09</a:t>
            </a:r>
          </a:p>
        </p:txBody>
      </p:sp>
      <p:sp>
        <p:nvSpPr>
          <p:cNvPr id="4" name="">
            <a:extLst xmlns:a="http://schemas.openxmlformats.org/drawingml/2006/main">
              <a:ext uri="{FF2B5EF4-FFF2-40B4-BE49-F238E27FC236}">
                <a16:creationId xmlns:a16="http://schemas.microsoft.com/office/drawing/2014/main" id="{4B2AA38D-CFAB-4BFB-BC5C-84BD92385D10}"/>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95CF5D-96B0-436A-AE33-5467EAB8C969}"/>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51F936-DC8E-40F2-BFBF-2921D3081A4D}"/>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C11FD6B1-C05D-466F-BDA0-8923C22DCAB2}"/>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71B26AEC-844D-48E0-9D9F-74F5B2C7DCF9}"/>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Submission reliability</a:t>
            </a:r>
          </a:p>
        </p:txBody>
      </p:sp>
      <p:sp>
        <p:nvSpPr>
          <p:cNvPr id="9" name="">
            <a:extLst xmlns:a="http://schemas.openxmlformats.org/drawingml/2006/main">
              <a:ext uri="{FF2B5EF4-FFF2-40B4-BE49-F238E27FC236}">
                <a16:creationId xmlns:a16="http://schemas.microsoft.com/office/drawing/2014/main" id="{513F2BBF-E03D-4014-8B56-E370EBB226BE}"/>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The build checks the algorithm and the release boundary</a:t>
            </a:r>
          </a:p>
        </p:txBody>
      </p:sp>
      <p:sp>
        <p:nvSpPr>
          <p:cNvPr id="10" name="">
            <a:extLst xmlns:a="http://schemas.openxmlformats.org/drawingml/2006/main">
              <a:ext uri="{FF2B5EF4-FFF2-40B4-BE49-F238E27FC236}">
                <a16:creationId xmlns:a16="http://schemas.microsoft.com/office/drawing/2014/main" id="{58FB2E7D-E11A-411B-9429-75E868048046}"/>
              </a:ext>
            </a:extLst>
          </p:cNvPr>
          <p:cNvSpPr>
            <a:spLocks xmlns:a="http://schemas.openxmlformats.org/drawingml/2006/main" noGrp="1"/>
          </p:cNvSpPr>
          <p:nvPr/>
        </p:nvSpPr>
        <p:spPr>
          <a:xfrm xmlns:a="http://schemas.openxmlformats.org/drawingml/2006/main" rot="0">
            <a:off x="857250" y="18478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33233F"/>
                </a:solidFill>
                <a:latin typeface="Georgia"/>
                <a:ea typeface="Georgia"/>
                <a:cs typeface="Georgia"/>
              </a:defRPr>
            </a:defPPr>
          </a:lstStyle>
          <a:p xmlns:a="http://schemas.openxmlformats.org/drawingml/2006/main">
            <a:pPr algn="l">
              <a:defRPr sz="2175" b="0" i="0">
                <a:solidFill>
                  <a:srgbClr val="33233F"/>
                </a:solidFill>
                <a:latin typeface="Georgia"/>
                <a:ea typeface="Georgia"/>
                <a:cs typeface="Georgia"/>
              </a:defRPr>
            </a:pPr>
            <a:r>
              <a:rPr sz="2175" b="0" i="0">
                <a:solidFill>
                  <a:srgbClr val="33233F"/>
                </a:solidFill>
                <a:latin typeface="Georgia"/>
                <a:ea typeface="Georgia"/>
                <a:cs typeface="Georgia"/>
              </a:rPr>
              <a:t>Policy boundary</a:t>
            </a:r>
          </a:p>
        </p:txBody>
      </p:sp>
      <p:sp>
        <p:nvSpPr>
          <p:cNvPr id="11" name="">
            <a:extLst xmlns:a="http://schemas.openxmlformats.org/drawingml/2006/main">
              <a:ext uri="{FF2B5EF4-FFF2-40B4-BE49-F238E27FC236}">
                <a16:creationId xmlns:a16="http://schemas.microsoft.com/office/drawing/2014/main" id="{4BABEEFA-CE96-43FC-8F11-8340562C596F}"/>
              </a:ext>
            </a:extLst>
          </p:cNvPr>
          <p:cNvSpPr>
            <a:spLocks xmlns:a="http://schemas.openxmlformats.org/drawingml/2006/main" noGrp="1"/>
          </p:cNvSpPr>
          <p:nvPr/>
        </p:nvSpPr>
        <p:spPr>
          <a:xfrm xmlns:a="http://schemas.openxmlformats.org/drawingml/2006/main" rot="0">
            <a:off x="876300" y="2438400"/>
            <a:ext cx="43815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B2E22"/>
                </a:solidFill>
                <a:latin typeface="Segoe UI"/>
                <a:ea typeface="Segoe UI"/>
                <a:cs typeface="Segoe UI"/>
              </a:defRPr>
            </a:defPPr>
          </a:lstStyle>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Deterministic action for the same request</a:t>
            </a:r>
          </a:p>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Observable input only</a:t>
            </a:r>
          </a:p>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Fail closed on conflicting records</a:t>
            </a:r>
          </a:p>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Offline standard-library runtime</a:t>
            </a:r>
          </a:p>
        </p:txBody>
      </p:sp>
      <p:sp>
        <p:nvSpPr>
          <p:cNvPr id="12" name="">
            <a:extLst xmlns:a="http://schemas.openxmlformats.org/drawingml/2006/main">
              <a:ext uri="{FF2B5EF4-FFF2-40B4-BE49-F238E27FC236}">
                <a16:creationId xmlns:a16="http://schemas.microsoft.com/office/drawing/2014/main" id="{1B891ADB-C4D8-4619-928F-366BCCD01883}"/>
              </a:ext>
            </a:extLst>
          </p:cNvPr>
          <p:cNvSpPr>
            <a:spLocks xmlns:a="http://schemas.openxmlformats.org/drawingml/2006/main" noGrp="1"/>
          </p:cNvSpPr>
          <p:nvPr/>
        </p:nvSpPr>
        <p:spPr>
          <a:xfrm xmlns:a="http://schemas.openxmlformats.org/drawingml/2006/main" rot="0">
            <a:off x="6819900" y="18478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33233F"/>
                </a:solidFill>
                <a:latin typeface="Georgia"/>
                <a:ea typeface="Georgia"/>
                <a:cs typeface="Georgia"/>
              </a:defRPr>
            </a:defPPr>
          </a:lstStyle>
          <a:p xmlns:a="http://schemas.openxmlformats.org/drawingml/2006/main">
            <a:pPr algn="l">
              <a:defRPr sz="2175" b="0" i="0">
                <a:solidFill>
                  <a:srgbClr val="33233F"/>
                </a:solidFill>
                <a:latin typeface="Georgia"/>
                <a:ea typeface="Georgia"/>
                <a:cs typeface="Georgia"/>
              </a:defRPr>
            </a:pPr>
            <a:r>
              <a:rPr sz="2175" b="0" i="0">
                <a:solidFill>
                  <a:srgbClr val="33233F"/>
                </a:solidFill>
                <a:latin typeface="Georgia"/>
                <a:ea typeface="Georgia"/>
                <a:cs typeface="Georgia"/>
              </a:rPr>
              <a:t>Release boundary</a:t>
            </a:r>
          </a:p>
        </p:txBody>
      </p:sp>
      <p:sp>
        <p:nvSpPr>
          <p:cNvPr id="13" name="">
            <a:extLst xmlns:a="http://schemas.openxmlformats.org/drawingml/2006/main">
              <a:ext uri="{FF2B5EF4-FFF2-40B4-BE49-F238E27FC236}">
                <a16:creationId xmlns:a16="http://schemas.microsoft.com/office/drawing/2014/main" id="{B161EF1A-D43C-44E5-B4A8-11C76C4FBEFF}"/>
              </a:ext>
            </a:extLst>
          </p:cNvPr>
          <p:cNvSpPr>
            <a:spLocks xmlns:a="http://schemas.openxmlformats.org/drawingml/2006/main" noGrp="1"/>
          </p:cNvSpPr>
          <p:nvPr/>
        </p:nvSpPr>
        <p:spPr>
          <a:xfrm xmlns:a="http://schemas.openxmlformats.org/drawingml/2006/main" rot="0">
            <a:off x="6838950" y="2438400"/>
            <a:ext cx="43815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B2E22"/>
                </a:solidFill>
                <a:latin typeface="Segoe UI"/>
                <a:ea typeface="Segoe UI"/>
                <a:cs typeface="Segoe UI"/>
              </a:defRPr>
            </a:defPPr>
          </a:lstStyle>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Pinned container base and runtime files</a:t>
            </a:r>
          </a:p>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Complete result matrix and hash checks</a:t>
            </a:r>
          </a:p>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Immutable release tag</a:t>
            </a:r>
          </a:p>
          <a:p xmlns:a="http://schemas.openxmlformats.org/drawingml/2006/main">
            <a:pPr algn="l">
              <a:lnSpc>
                <a:spcPct val="120000"/>
              </a:lnSpc>
              <a:buNone/>
              <a:defRPr sz="1350" b="0" i="0">
                <a:solidFill>
                  <a:srgbClr val="2B2E22"/>
                </a:solidFill>
                <a:latin typeface="Segoe UI"/>
                <a:ea typeface="Segoe UI"/>
                <a:cs typeface="Segoe UI"/>
              </a:defRPr>
            </a:pPr>
            <a:r>
              <a:rPr sz="1350" b="0" i="0">
                <a:solidFill>
                  <a:srgbClr val="2B2E22"/>
                </a:solidFill>
                <a:latin typeface="Segoe UI"/>
                <a:ea typeface="Segoe UI"/>
                <a:cs typeface="Segoe UI"/>
              </a:rPr>
              <a:t>Privacy-safe submission issue</a:t>
            </a:r>
          </a:p>
        </p:txBody>
      </p:sp>
      <p:sp>
        <p:nvSpPr>
          <p:cNvPr id="14" name="">
            <a:extLst xmlns:a="http://schemas.openxmlformats.org/drawingml/2006/main">
              <a:ext uri="{FF2B5EF4-FFF2-40B4-BE49-F238E27FC236}">
                <a16:creationId xmlns:a16="http://schemas.microsoft.com/office/drawing/2014/main" id="{E09F82FD-1EE5-42DB-A775-6F17A58C9E49}"/>
              </a:ext>
            </a:extLst>
          </p:cNvPr>
          <p:cNvSpPr>
            <a:spLocks xmlns:a="http://schemas.openxmlformats.org/drawingml/2006/main" noGrp="1"/>
          </p:cNvSpPr>
          <p:nvPr/>
        </p:nvSpPr>
        <p:spPr>
          <a:xfrm xmlns:a="http://schemas.openxmlformats.org/drawingml/2006/main" rot="0">
            <a:off x="6096000" y="1809750"/>
            <a:ext cx="9525" cy="234315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69CB01E-D54A-4DD7-A9CD-ED96C849D9DE}"/>
              </a:ext>
            </a:extLst>
          </p:cNvPr>
          <p:cNvSpPr>
            <a:spLocks xmlns:a="http://schemas.openxmlformats.org/drawingml/2006/main" noGrp="1"/>
          </p:cNvSpPr>
          <p:nvPr/>
        </p:nvSpPr>
        <p:spPr>
          <a:xfrm xmlns:a="http://schemas.openxmlformats.org/drawingml/2006/main" rot="0">
            <a:off x="838200" y="45148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000" b="0" i="0">
                <a:solidFill>
                  <a:srgbClr val="2B2E22"/>
                </a:solidFill>
                <a:latin typeface="Georgia"/>
                <a:ea typeface="Georgia"/>
                <a:cs typeface="Georgia"/>
              </a:defRPr>
            </a:defPPr>
          </a:lstStyle>
          <a:p xmlns:a="http://schemas.openxmlformats.org/drawingml/2006/main">
            <a:pPr algn="ctr">
              <a:defRPr sz="3000" b="0" i="0">
                <a:solidFill>
                  <a:srgbClr val="2B2E22"/>
                </a:solidFill>
                <a:latin typeface="Georgia"/>
                <a:ea typeface="Georgia"/>
                <a:cs typeface="Georgia"/>
              </a:defRPr>
            </a:pPr>
            <a:r>
              <a:rPr sz="3000" b="0" i="0">
                <a:solidFill>
                  <a:srgbClr val="2B2E22"/>
                </a:solidFill>
                <a:latin typeface="Georgia"/>
                <a:ea typeface="Georgia"/>
                <a:cs typeface="Georgia"/>
              </a:rPr>
              <a:t>125</a:t>
            </a:r>
          </a:p>
        </p:txBody>
      </p:sp>
      <p:sp>
        <p:nvSpPr>
          <p:cNvPr id="16" name="">
            <a:extLst xmlns:a="http://schemas.openxmlformats.org/drawingml/2006/main">
              <a:ext uri="{FF2B5EF4-FFF2-40B4-BE49-F238E27FC236}">
                <a16:creationId xmlns:a16="http://schemas.microsoft.com/office/drawing/2014/main" id="{9B8A9074-2E11-47EC-95D8-9F6E5C05BD5F}"/>
              </a:ext>
            </a:extLst>
          </p:cNvPr>
          <p:cNvSpPr>
            <a:spLocks xmlns:a="http://schemas.openxmlformats.org/drawingml/2006/main" noGrp="1"/>
          </p:cNvSpPr>
          <p:nvPr/>
        </p:nvSpPr>
        <p:spPr>
          <a:xfrm xmlns:a="http://schemas.openxmlformats.org/drawingml/2006/main" rot="0">
            <a:off x="838200" y="518160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B624A"/>
                </a:solidFill>
                <a:latin typeface="Segoe UI"/>
                <a:ea typeface="Segoe UI"/>
                <a:cs typeface="Segoe UI"/>
              </a:defRPr>
            </a:defPPr>
          </a:lstStyle>
          <a:p xmlns:a="http://schemas.openxmlformats.org/drawingml/2006/main">
            <a:pPr algn="ctr">
              <a:defRPr sz="1050" b="0" i="0">
                <a:solidFill>
                  <a:srgbClr val="5B624A"/>
                </a:solidFill>
                <a:latin typeface="Segoe UI"/>
                <a:ea typeface="Segoe UI"/>
                <a:cs typeface="Segoe UI"/>
              </a:defRPr>
            </a:pPr>
            <a:r>
              <a:rPr sz="1050" b="0" i="0">
                <a:solidFill>
                  <a:srgbClr val="5B624A"/>
                </a:solidFill>
                <a:latin typeface="Segoe UI"/>
                <a:ea typeface="Segoe UI"/>
                <a:cs typeface="Segoe UI"/>
              </a:rPr>
              <a:t>tests at report freeze</a:t>
            </a:r>
          </a:p>
        </p:txBody>
      </p:sp>
      <p:sp>
        <p:nvSpPr>
          <p:cNvPr id="17" name="">
            <a:extLst xmlns:a="http://schemas.openxmlformats.org/drawingml/2006/main">
              <a:ext uri="{FF2B5EF4-FFF2-40B4-BE49-F238E27FC236}">
                <a16:creationId xmlns:a16="http://schemas.microsoft.com/office/drawing/2014/main" id="{DD8F98DF-C00F-4281-81C0-FB7181094B87}"/>
              </a:ext>
            </a:extLst>
          </p:cNvPr>
          <p:cNvSpPr>
            <a:spLocks xmlns:a="http://schemas.openxmlformats.org/drawingml/2006/main" noGrp="1"/>
          </p:cNvSpPr>
          <p:nvPr/>
        </p:nvSpPr>
        <p:spPr>
          <a:xfrm xmlns:a="http://schemas.openxmlformats.org/drawingml/2006/main" rot="0">
            <a:off x="3390900" y="4476750"/>
            <a:ext cx="9525" cy="1123950"/>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0A0F8B1-7865-4F35-8215-CBD83019DD4C}"/>
              </a:ext>
            </a:extLst>
          </p:cNvPr>
          <p:cNvSpPr>
            <a:spLocks xmlns:a="http://schemas.openxmlformats.org/drawingml/2006/main" noGrp="1"/>
          </p:cNvSpPr>
          <p:nvPr/>
        </p:nvSpPr>
        <p:spPr>
          <a:xfrm xmlns:a="http://schemas.openxmlformats.org/drawingml/2006/main" rot="0">
            <a:off x="3714750" y="45148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000" b="0" i="0">
                <a:solidFill>
                  <a:srgbClr val="2B2E22"/>
                </a:solidFill>
                <a:latin typeface="Georgia"/>
                <a:ea typeface="Georgia"/>
                <a:cs typeface="Georgia"/>
              </a:defRPr>
            </a:defPPr>
          </a:lstStyle>
          <a:p xmlns:a="http://schemas.openxmlformats.org/drawingml/2006/main">
            <a:pPr algn="ctr">
              <a:defRPr sz="3000" b="0" i="0">
                <a:solidFill>
                  <a:srgbClr val="2B2E22"/>
                </a:solidFill>
                <a:latin typeface="Georgia"/>
                <a:ea typeface="Georgia"/>
                <a:cs typeface="Georgia"/>
              </a:defRPr>
            </a:pPr>
            <a:r>
              <a:rPr sz="3000" b="0" i="0">
                <a:solidFill>
                  <a:srgbClr val="2B2E22"/>
                </a:solidFill>
                <a:latin typeface="Georgia"/>
                <a:ea typeface="Georgia"/>
                <a:cs typeface="Georgia"/>
              </a:rPr>
              <a:t>71</a:t>
            </a:r>
          </a:p>
        </p:txBody>
      </p:sp>
      <p:sp>
        <p:nvSpPr>
          <p:cNvPr id="19" name="">
            <a:extLst xmlns:a="http://schemas.openxmlformats.org/drawingml/2006/main">
              <a:ext uri="{FF2B5EF4-FFF2-40B4-BE49-F238E27FC236}">
                <a16:creationId xmlns:a16="http://schemas.microsoft.com/office/drawing/2014/main" id="{457FD5A6-4677-4F2D-A38B-133C7B5D9669}"/>
              </a:ext>
            </a:extLst>
          </p:cNvPr>
          <p:cNvSpPr>
            <a:spLocks xmlns:a="http://schemas.openxmlformats.org/drawingml/2006/main" noGrp="1"/>
          </p:cNvSpPr>
          <p:nvPr/>
        </p:nvSpPr>
        <p:spPr>
          <a:xfrm xmlns:a="http://schemas.openxmlformats.org/drawingml/2006/main" rot="0">
            <a:off x="3714750" y="518160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B624A"/>
                </a:solidFill>
                <a:latin typeface="Segoe UI"/>
                <a:ea typeface="Segoe UI"/>
                <a:cs typeface="Segoe UI"/>
              </a:defRPr>
            </a:defPPr>
          </a:lstStyle>
          <a:p xmlns:a="http://schemas.openxmlformats.org/drawingml/2006/main">
            <a:pPr algn="ctr">
              <a:defRPr sz="1050" b="0" i="0">
                <a:solidFill>
                  <a:srgbClr val="5B624A"/>
                </a:solidFill>
                <a:latin typeface="Segoe UI"/>
                <a:ea typeface="Segoe UI"/>
                <a:cs typeface="Segoe UI"/>
              </a:defRPr>
            </a:pPr>
            <a:r>
              <a:rPr sz="1050" b="0" i="0">
                <a:solidFill>
                  <a:srgbClr val="5B624A"/>
                </a:solidFill>
                <a:latin typeface="Segoe UI"/>
                <a:ea typeface="Segoe UI"/>
                <a:cs typeface="Segoe UI"/>
              </a:rPr>
              <a:t>public data files validated</a:t>
            </a:r>
          </a:p>
        </p:txBody>
      </p:sp>
      <p:sp>
        <p:nvSpPr>
          <p:cNvPr id="20" name="">
            <a:extLst xmlns:a="http://schemas.openxmlformats.org/drawingml/2006/main">
              <a:ext uri="{FF2B5EF4-FFF2-40B4-BE49-F238E27FC236}">
                <a16:creationId xmlns:a16="http://schemas.microsoft.com/office/drawing/2014/main" id="{BA2005A0-587C-46DC-814B-BDF9626419C8}"/>
              </a:ext>
            </a:extLst>
          </p:cNvPr>
          <p:cNvSpPr>
            <a:spLocks xmlns:a="http://schemas.openxmlformats.org/drawingml/2006/main" noGrp="1"/>
          </p:cNvSpPr>
          <p:nvPr/>
        </p:nvSpPr>
        <p:spPr>
          <a:xfrm xmlns:a="http://schemas.openxmlformats.org/drawingml/2006/main" rot="0">
            <a:off x="6267450" y="4476750"/>
            <a:ext cx="9525" cy="1123950"/>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DB7653-8C2D-484D-AD93-0022BC89B88F}"/>
              </a:ext>
            </a:extLst>
          </p:cNvPr>
          <p:cNvSpPr>
            <a:spLocks xmlns:a="http://schemas.openxmlformats.org/drawingml/2006/main" noGrp="1"/>
          </p:cNvSpPr>
          <p:nvPr/>
        </p:nvSpPr>
        <p:spPr>
          <a:xfrm xmlns:a="http://schemas.openxmlformats.org/drawingml/2006/main" rot="0">
            <a:off x="6591300" y="45148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000" b="0" i="0">
                <a:solidFill>
                  <a:srgbClr val="2B2E22"/>
                </a:solidFill>
                <a:latin typeface="Georgia"/>
                <a:ea typeface="Georgia"/>
                <a:cs typeface="Georgia"/>
              </a:defRPr>
            </a:defPPr>
          </a:lstStyle>
          <a:p xmlns:a="http://schemas.openxmlformats.org/drawingml/2006/main">
            <a:pPr algn="ctr">
              <a:defRPr sz="3000" b="0" i="0">
                <a:solidFill>
                  <a:srgbClr val="2B2E22"/>
                </a:solidFill>
                <a:latin typeface="Georgia"/>
                <a:ea typeface="Georgia"/>
                <a:cs typeface="Georgia"/>
              </a:defRPr>
            </a:pPr>
            <a:r>
              <a:rPr sz="3000" b="0" i="0">
                <a:solidFill>
                  <a:srgbClr val="2B2E22"/>
                </a:solidFill>
                <a:latin typeface="Georgia"/>
                <a:ea typeface="Georgia"/>
                <a:cs typeface="Georgia"/>
              </a:rPr>
              <a:t>120</a:t>
            </a:r>
          </a:p>
        </p:txBody>
      </p:sp>
      <p:sp>
        <p:nvSpPr>
          <p:cNvPr id="22" name="">
            <a:extLst xmlns:a="http://schemas.openxmlformats.org/drawingml/2006/main">
              <a:ext uri="{FF2B5EF4-FFF2-40B4-BE49-F238E27FC236}">
                <a16:creationId xmlns:a16="http://schemas.microsoft.com/office/drawing/2014/main" id="{F3AA2798-D6B8-47D2-9429-84C624D7F51D}"/>
              </a:ext>
            </a:extLst>
          </p:cNvPr>
          <p:cNvSpPr>
            <a:spLocks xmlns:a="http://schemas.openxmlformats.org/drawingml/2006/main" noGrp="1"/>
          </p:cNvSpPr>
          <p:nvPr/>
        </p:nvSpPr>
        <p:spPr>
          <a:xfrm xmlns:a="http://schemas.openxmlformats.org/drawingml/2006/main" rot="0">
            <a:off x="6591300" y="518160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B624A"/>
                </a:solidFill>
                <a:latin typeface="Segoe UI"/>
                <a:ea typeface="Segoe UI"/>
                <a:cs typeface="Segoe UI"/>
              </a:defRPr>
            </a:defPPr>
          </a:lstStyle>
          <a:p xmlns:a="http://schemas.openxmlformats.org/drawingml/2006/main">
            <a:pPr algn="ctr">
              <a:defRPr sz="1050" b="0" i="0">
                <a:solidFill>
                  <a:srgbClr val="5B624A"/>
                </a:solidFill>
                <a:latin typeface="Segoe UI"/>
                <a:ea typeface="Segoe UI"/>
                <a:cs typeface="Segoe UI"/>
              </a:defRPr>
            </a:pPr>
            <a:r>
              <a:rPr sz="1050" b="0" i="0">
                <a:solidFill>
                  <a:srgbClr val="5B624A"/>
                </a:solidFill>
                <a:latin typeface="Segoe UI"/>
                <a:ea typeface="Segoe UI"/>
                <a:cs typeface="Segoe UI"/>
              </a:rPr>
              <a:t>container calls recorded</a:t>
            </a:r>
          </a:p>
        </p:txBody>
      </p:sp>
      <p:sp>
        <p:nvSpPr>
          <p:cNvPr id="23" name="">
            <a:extLst xmlns:a="http://schemas.openxmlformats.org/drawingml/2006/main">
              <a:ext uri="{FF2B5EF4-FFF2-40B4-BE49-F238E27FC236}">
                <a16:creationId xmlns:a16="http://schemas.microsoft.com/office/drawing/2014/main" id="{4C7AD751-BF77-4406-ACF2-2DC5AA78EE08}"/>
              </a:ext>
            </a:extLst>
          </p:cNvPr>
          <p:cNvSpPr>
            <a:spLocks xmlns:a="http://schemas.openxmlformats.org/drawingml/2006/main" noGrp="1"/>
          </p:cNvSpPr>
          <p:nvPr/>
        </p:nvSpPr>
        <p:spPr>
          <a:xfrm xmlns:a="http://schemas.openxmlformats.org/drawingml/2006/main" rot="0">
            <a:off x="9144000" y="4476750"/>
            <a:ext cx="9525" cy="1123950"/>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DFE520-30A1-4FE7-A474-DEC570DE046C}"/>
              </a:ext>
            </a:extLst>
          </p:cNvPr>
          <p:cNvSpPr>
            <a:spLocks xmlns:a="http://schemas.openxmlformats.org/drawingml/2006/main" noGrp="1"/>
          </p:cNvSpPr>
          <p:nvPr/>
        </p:nvSpPr>
        <p:spPr>
          <a:xfrm xmlns:a="http://schemas.openxmlformats.org/drawingml/2006/main" rot="0">
            <a:off x="9467850" y="451485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000" b="0" i="0">
                <a:solidFill>
                  <a:srgbClr val="33233F"/>
                </a:solidFill>
                <a:latin typeface="Georgia"/>
                <a:ea typeface="Georgia"/>
                <a:cs typeface="Georgia"/>
              </a:defRPr>
            </a:defPPr>
          </a:lstStyle>
          <a:p xmlns:a="http://schemas.openxmlformats.org/drawingml/2006/main">
            <a:pPr algn="ctr">
              <a:defRPr sz="3000" b="0" i="0">
                <a:solidFill>
                  <a:srgbClr val="33233F"/>
                </a:solidFill>
                <a:latin typeface="Georgia"/>
                <a:ea typeface="Georgia"/>
                <a:cs typeface="Georgia"/>
              </a:defRPr>
            </a:pPr>
            <a:r>
              <a:rPr sz="3000" b="0" i="0">
                <a:solidFill>
                  <a:srgbClr val="33233F"/>
                </a:solidFill>
                <a:latin typeface="Georgia"/>
                <a:ea typeface="Georgia"/>
                <a:cs typeface="Georgia"/>
              </a:rPr>
              <a:t>1.246 s</a:t>
            </a:r>
          </a:p>
        </p:txBody>
      </p:sp>
      <p:sp>
        <p:nvSpPr>
          <p:cNvPr id="25" name="">
            <a:extLst xmlns:a="http://schemas.openxmlformats.org/drawingml/2006/main">
              <a:ext uri="{FF2B5EF4-FFF2-40B4-BE49-F238E27FC236}">
                <a16:creationId xmlns:a16="http://schemas.microsoft.com/office/drawing/2014/main" id="{05D09079-E8C5-42ED-9DDC-5C7A2596E5FD}"/>
              </a:ext>
            </a:extLst>
          </p:cNvPr>
          <p:cNvSpPr>
            <a:spLocks xmlns:a="http://schemas.openxmlformats.org/drawingml/2006/main" noGrp="1"/>
          </p:cNvSpPr>
          <p:nvPr/>
        </p:nvSpPr>
        <p:spPr>
          <a:xfrm xmlns:a="http://schemas.openxmlformats.org/drawingml/2006/main" rot="0">
            <a:off x="9467850" y="5181600"/>
            <a:ext cx="1962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5B624A"/>
                </a:solidFill>
                <a:latin typeface="Segoe UI"/>
                <a:ea typeface="Segoe UI"/>
                <a:cs typeface="Segoe UI"/>
              </a:defRPr>
            </a:defPPr>
          </a:lstStyle>
          <a:p xmlns:a="http://schemas.openxmlformats.org/drawingml/2006/main">
            <a:pPr algn="ctr">
              <a:defRPr sz="1050" b="0" i="0">
                <a:solidFill>
                  <a:srgbClr val="5B624A"/>
                </a:solidFill>
                <a:latin typeface="Segoe UI"/>
                <a:ea typeface="Segoe UI"/>
                <a:cs typeface="Segoe UI"/>
              </a:defRPr>
            </a:pPr>
            <a:r>
              <a:rPr sz="1050" b="0" i="0">
                <a:solidFill>
                  <a:srgbClr val="5B624A"/>
                </a:solidFill>
                <a:latin typeface="Segoe UI"/>
                <a:ea typeface="Segoe UI"/>
                <a:cs typeface="Segoe UI"/>
              </a:rPr>
              <a:t>slowest recorded call</a:t>
            </a:r>
          </a:p>
        </p:txBody>
      </p:sp>
      <p:sp>
        <p:nvSpPr>
          <p:cNvPr id="26" name="">
            <a:extLst xmlns:a="http://schemas.openxmlformats.org/drawingml/2006/main">
              <a:ext uri="{FF2B5EF4-FFF2-40B4-BE49-F238E27FC236}">
                <a16:creationId xmlns:a16="http://schemas.microsoft.com/office/drawing/2014/main" id="{BD5FB3D3-94F3-4A33-9926-7694C37E8AE8}"/>
              </a:ext>
            </a:extLst>
          </p:cNvPr>
          <p:cNvSpPr>
            <a:spLocks xmlns:a="http://schemas.openxmlformats.org/drawingml/2006/main" noGrp="1"/>
          </p:cNvSpPr>
          <p:nvPr/>
        </p:nvSpPr>
        <p:spPr>
          <a:xfrm xmlns:a="http://schemas.openxmlformats.org/drawingml/2006/main" rot="0">
            <a:off x="3714750" y="5886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A9956D"/>
                </a:solidFill>
                <a:latin typeface="Segoe UI"/>
                <a:ea typeface="Segoe UI"/>
                <a:cs typeface="Segoe UI"/>
              </a:defRPr>
            </a:defPPr>
          </a:lstStyle>
          <a:p xmlns:a="http://schemas.openxmlformats.org/drawingml/2006/main">
            <a:pPr algn="ctr">
              <a:defRPr sz="1050" b="0" i="0">
                <a:solidFill>
                  <a:srgbClr val="A9956D"/>
                </a:solidFill>
                <a:latin typeface="Segoe UI"/>
                <a:ea typeface="Segoe UI"/>
                <a:cs typeface="Segoe UI"/>
              </a:defRPr>
            </a:pPr>
            <a:r>
              <a:rPr sz="1050" b="0" i="0">
                <a:solidFill>
                  <a:srgbClr val="A9956D"/>
                </a:solidFill>
                <a:latin typeface="Segoe UI"/>
                <a:ea typeface="Segoe UI"/>
                <a:cs typeface="Segoe UI"/>
              </a:rPr>
              <a:t>Packaging validity does not predict the private score.</a:t>
            </a:r>
          </a:p>
        </p:txBody>
      </p:sp>
    </p:spTree>
    <p:extLst>
      <p:ext uri="{BB962C8B-B14F-4D97-AF65-F5344CB8AC3E}">
        <p14:creationId xmlns:p14="http://schemas.microsoft.com/office/powerpoint/2010/main" val="75025723"/>
      </p:ext>
    </p:extLst>
  </p:cSld>
</p:sld>
</file>

<file path=ppt/slides/slide10.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87116FE-3AFC-4528-9083-A3EE7CD70993}"/>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B71E573E-C3AC-4D94-A944-1B5094747956}"/>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CLOSE</a:t>
            </a:r>
          </a:p>
        </p:txBody>
      </p:sp>
      <p:sp>
        <p:nvSpPr>
          <p:cNvPr id="3" name="">
            <a:extLst xmlns:a="http://schemas.openxmlformats.org/drawingml/2006/main">
              <a:ext uri="{FF2B5EF4-FFF2-40B4-BE49-F238E27FC236}">
                <a16:creationId xmlns:a16="http://schemas.microsoft.com/office/drawing/2014/main" id="{20D90A75-22F6-4D00-B69B-F144F01CC875}"/>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10</a:t>
            </a:r>
          </a:p>
        </p:txBody>
      </p:sp>
      <p:sp>
        <p:nvSpPr>
          <p:cNvPr id="4" name="">
            <a:extLst xmlns:a="http://schemas.openxmlformats.org/drawingml/2006/main">
              <a:ext uri="{FF2B5EF4-FFF2-40B4-BE49-F238E27FC236}">
                <a16:creationId xmlns:a16="http://schemas.microsoft.com/office/drawing/2014/main" id="{1F6D1A98-10D0-4EC6-A4B5-0D7CDA29FD0B}"/>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D9331F-AED1-4B0B-B1C6-C5271B8196EB}"/>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82701F-2DE2-4B7D-AAB3-80959A11A801}"/>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A86A5DFB-4DBA-44EA-9C5E-F388D861DA6C}"/>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pic>
        <p:nvPicPr>
          <p:cNvPr id="8" name="">
            <a:extLst xmlns:a="http://schemas.openxmlformats.org/drawingml/2006/main">
              <a:ext uri="{FF2B5EF4-FFF2-40B4-BE49-F238E27FC236}">
                <a16:creationId xmlns:a16="http://schemas.microsoft.com/office/drawing/2014/main" id="{1E7CEEED-8E96-4453-BD3F-3017D0BDE332}"/>
              </a:ext>
            </a:extLst>
          </p:cNvPr>
          <p:cNvPicPr>
            <a:picLocks xmlns:a="http://schemas.openxmlformats.org/drawingml/2006/main" noChangeAspect="1"/>
          </p:cNvPicPr>
          <p:nvPr/>
        </p:nvPicPr>
        <p:blipFill>
          <a:blip xmlns:r="http://schemas.openxmlformats.org/officeDocument/2006/relationships" xmlns:a="http://schemas.openxmlformats.org/drawingml/2006/main" r:embed="Rf2fb7f331ac342ae"/>
          <a:stretch xmlns:a="http://schemas.openxmlformats.org/drawingml/2006/main"/>
        </p:blipFill>
        <p:spPr>
          <a:xfrm xmlns:a="http://schemas.openxmlformats.org/drawingml/2006/main">
            <a:off x="9525000" y="2290763"/>
            <a:ext cx="1733550" cy="26003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C54B5B3-6C10-44F5-A2AE-FB4A19AB9A2B}"/>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What we submit and what comes next</a:t>
            </a:r>
          </a:p>
        </p:txBody>
      </p:sp>
      <p:sp>
        <p:nvSpPr>
          <p:cNvPr id="10" name="">
            <a:extLst xmlns:a="http://schemas.openxmlformats.org/drawingml/2006/main">
              <a:ext uri="{FF2B5EF4-FFF2-40B4-BE49-F238E27FC236}">
                <a16:creationId xmlns:a16="http://schemas.microsoft.com/office/drawing/2014/main" id="{915CB64F-EC6D-4974-A564-337687C8D806}"/>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The evidence supports a simple policy and one clear research target</a:t>
            </a:r>
          </a:p>
        </p:txBody>
      </p:sp>
      <p:sp>
        <p:nvSpPr>
          <p:cNvPr id="11" name="">
            <a:extLst xmlns:a="http://schemas.openxmlformats.org/drawingml/2006/main">
              <a:ext uri="{FF2B5EF4-FFF2-40B4-BE49-F238E27FC236}">
                <a16:creationId xmlns:a16="http://schemas.microsoft.com/office/drawing/2014/main" id="{497BEDEE-C0C5-4506-ACA5-A8127FC3630D}"/>
              </a:ext>
            </a:extLst>
          </p:cNvPr>
          <p:cNvSpPr>
            <a:spLocks xmlns:a="http://schemas.openxmlformats.org/drawingml/2006/main" noGrp="1"/>
          </p:cNvSpPr>
          <p:nvPr/>
        </p:nvSpPr>
        <p:spPr>
          <a:xfrm xmlns:a="http://schemas.openxmlformats.org/drawingml/2006/main" rot="0">
            <a:off x="857250" y="18669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33233F"/>
                </a:solidFill>
                <a:latin typeface="Georgia"/>
                <a:ea typeface="Georgia"/>
                <a:cs typeface="Georgia"/>
              </a:defRPr>
            </a:defPPr>
          </a:lstStyle>
          <a:p xmlns:a="http://schemas.openxmlformats.org/drawingml/2006/main">
            <a:pPr algn="l">
              <a:defRPr sz="2175" b="0" i="0">
                <a:solidFill>
                  <a:srgbClr val="33233F"/>
                </a:solidFill>
                <a:latin typeface="Georgia"/>
                <a:ea typeface="Georgia"/>
                <a:cs typeface="Georgia"/>
              </a:defRPr>
            </a:pPr>
            <a:r>
              <a:rPr sz="2175" b="0" i="0">
                <a:solidFill>
                  <a:srgbClr val="33233F"/>
                </a:solidFill>
                <a:latin typeface="Georgia"/>
                <a:ea typeface="Georgia"/>
                <a:cs typeface="Georgia"/>
              </a:rPr>
              <a:t>Submitted now</a:t>
            </a:r>
          </a:p>
        </p:txBody>
      </p:sp>
      <p:sp>
        <p:nvSpPr>
          <p:cNvPr id="12" name="">
            <a:extLst xmlns:a="http://schemas.openxmlformats.org/drawingml/2006/main">
              <a:ext uri="{FF2B5EF4-FFF2-40B4-BE49-F238E27FC236}">
                <a16:creationId xmlns:a16="http://schemas.microsoft.com/office/drawing/2014/main" id="{135C575C-F51A-4766-B44B-F5ABAFE4D517}"/>
              </a:ext>
            </a:extLst>
          </p:cNvPr>
          <p:cNvSpPr>
            <a:spLocks xmlns:a="http://schemas.openxmlformats.org/drawingml/2006/main" noGrp="1"/>
          </p:cNvSpPr>
          <p:nvPr/>
        </p:nvSpPr>
        <p:spPr>
          <a:xfrm xmlns:a="http://schemas.openxmlformats.org/drawingml/2006/main" rot="0">
            <a:off x="876300" y="2476500"/>
            <a:ext cx="4095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B2E22"/>
                </a:solidFill>
                <a:latin typeface="Segoe UI"/>
                <a:ea typeface="Segoe UI"/>
                <a:cs typeface="Segoe UI"/>
              </a:defRPr>
            </a:defPPr>
          </a:lstStyle>
          <a:p xmlns:a="http://schemas.openxmlformats.org/drawingml/2006/main">
            <a:pPr algn="l">
              <a:lnSpc>
                <a:spcPct val="122000"/>
              </a:lnSpc>
              <a:buNone/>
              <a:defRPr sz="1500" b="0" i="0">
                <a:solidFill>
                  <a:srgbClr val="2B2E22"/>
                </a:solidFill>
                <a:latin typeface="Segoe UI"/>
                <a:ea typeface="Segoe UI"/>
                <a:cs typeface="Segoe UI"/>
              </a:defRPr>
            </a:pPr>
            <a:r>
              <a:rPr sz="1500" b="0" i="0">
                <a:solidFill>
                  <a:srgbClr val="2B2E22"/>
                </a:solidFill>
                <a:latin typeface="Segoe UI"/>
                <a:ea typeface="Segoe UI"/>
                <a:cs typeface="Segoe UI"/>
              </a:rPr>
              <a:t>Stable clarification order</a:t>
            </a:r>
          </a:p>
          <a:p xmlns:a="http://schemas.openxmlformats.org/drawingml/2006/main">
            <a:pPr algn="l">
              <a:lnSpc>
                <a:spcPct val="122000"/>
              </a:lnSpc>
              <a:buNone/>
              <a:defRPr sz="1500" b="0" i="0">
                <a:solidFill>
                  <a:srgbClr val="2B2E22"/>
                </a:solidFill>
                <a:latin typeface="Segoe UI"/>
                <a:ea typeface="Segoe UI"/>
                <a:cs typeface="Segoe UI"/>
              </a:defRPr>
            </a:pPr>
            <a:r>
              <a:rPr sz="1500" b="0" i="0">
                <a:solidFill>
                  <a:srgbClr val="2B2E22"/>
                </a:solidFill>
                <a:latin typeface="Segoe UI"/>
                <a:ea typeface="Segoe UI"/>
                <a:cs typeface="Segoe UI"/>
              </a:rPr>
              <a:t>Reciprocal feasible graph</a:t>
            </a:r>
          </a:p>
          <a:p xmlns:a="http://schemas.openxmlformats.org/drawingml/2006/main">
            <a:pPr algn="l">
              <a:lnSpc>
                <a:spcPct val="122000"/>
              </a:lnSpc>
              <a:buNone/>
              <a:defRPr sz="1500" b="0" i="0">
                <a:solidFill>
                  <a:srgbClr val="2B2E22"/>
                </a:solidFill>
                <a:latin typeface="Segoe UI"/>
                <a:ea typeface="Segoe UI"/>
                <a:cs typeface="Segoe UI"/>
              </a:defRPr>
            </a:pPr>
            <a:r>
              <a:rPr sz="1500" b="0" i="0">
                <a:solidFill>
                  <a:srgbClr val="2B2E22"/>
                </a:solidFill>
                <a:latin typeface="Segoe UI"/>
                <a:ea typeface="Segoe UI"/>
                <a:cs typeface="Segoe UI"/>
              </a:rPr>
              <a:t>Observed-soft priority</a:t>
            </a:r>
          </a:p>
          <a:p xmlns:a="http://schemas.openxmlformats.org/drawingml/2006/main">
            <a:pPr algn="l">
              <a:lnSpc>
                <a:spcPct val="122000"/>
              </a:lnSpc>
              <a:buNone/>
              <a:defRPr sz="1500" b="0" i="0">
                <a:solidFill>
                  <a:srgbClr val="2B2E22"/>
                </a:solidFill>
                <a:latin typeface="Segoe UI"/>
                <a:ea typeface="Segoe UI"/>
                <a:cs typeface="Segoe UI"/>
              </a:defRPr>
            </a:pPr>
            <a:r>
              <a:rPr sz="1500" b="0" i="0">
                <a:solidFill>
                  <a:srgbClr val="2B2E22"/>
                </a:solidFill>
                <a:latin typeface="Segoe UI"/>
                <a:ea typeface="Segoe UI"/>
                <a:cs typeface="Segoe UI"/>
              </a:rPr>
              <a:t>Deterministic greedy batch</a:t>
            </a:r>
          </a:p>
        </p:txBody>
      </p:sp>
      <p:sp>
        <p:nvSpPr>
          <p:cNvPr id="13" name="">
            <a:extLst xmlns:a="http://schemas.openxmlformats.org/drawingml/2006/main">
              <a:ext uri="{FF2B5EF4-FFF2-40B4-BE49-F238E27FC236}">
                <a16:creationId xmlns:a16="http://schemas.microsoft.com/office/drawing/2014/main" id="{709ACF6A-AE37-4A23-AB04-0725FD9077BC}"/>
              </a:ext>
            </a:extLst>
          </p:cNvPr>
          <p:cNvSpPr>
            <a:spLocks xmlns:a="http://schemas.openxmlformats.org/drawingml/2006/main" noGrp="1"/>
          </p:cNvSpPr>
          <p:nvPr/>
        </p:nvSpPr>
        <p:spPr>
          <a:xfrm xmlns:a="http://schemas.openxmlformats.org/drawingml/2006/main" rot="0">
            <a:off x="6705600" y="18669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0" i="0">
                <a:solidFill>
                  <a:srgbClr val="33233F"/>
                </a:solidFill>
                <a:latin typeface="Georgia"/>
                <a:ea typeface="Georgia"/>
                <a:cs typeface="Georgia"/>
              </a:defRPr>
            </a:defPPr>
          </a:lstStyle>
          <a:p xmlns:a="http://schemas.openxmlformats.org/drawingml/2006/main">
            <a:pPr algn="l">
              <a:defRPr sz="2175" b="0" i="0">
                <a:solidFill>
                  <a:srgbClr val="33233F"/>
                </a:solidFill>
                <a:latin typeface="Georgia"/>
                <a:ea typeface="Georgia"/>
                <a:cs typeface="Georgia"/>
              </a:defRPr>
            </a:pPr>
            <a:r>
              <a:rPr sz="2175" b="0" i="0">
                <a:solidFill>
                  <a:srgbClr val="33233F"/>
                </a:solidFill>
                <a:latin typeface="Georgia"/>
                <a:ea typeface="Georgia"/>
                <a:cs typeface="Georgia"/>
              </a:rPr>
              <a:t>Known boundary</a:t>
            </a:r>
          </a:p>
        </p:txBody>
      </p:sp>
      <p:sp>
        <p:nvSpPr>
          <p:cNvPr id="14" name="">
            <a:extLst xmlns:a="http://schemas.openxmlformats.org/drawingml/2006/main">
              <a:ext uri="{FF2B5EF4-FFF2-40B4-BE49-F238E27FC236}">
                <a16:creationId xmlns:a16="http://schemas.microsoft.com/office/drawing/2014/main" id="{330BD3DC-DD26-4C03-ACDC-0ACD7253389D}"/>
              </a:ext>
            </a:extLst>
          </p:cNvPr>
          <p:cNvSpPr>
            <a:spLocks xmlns:a="http://schemas.openxmlformats.org/drawingml/2006/main" noGrp="1"/>
          </p:cNvSpPr>
          <p:nvPr/>
        </p:nvSpPr>
        <p:spPr>
          <a:xfrm xmlns:a="http://schemas.openxmlformats.org/drawingml/2006/main" rot="0">
            <a:off x="6724650" y="2476500"/>
            <a:ext cx="26098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2B2E22"/>
                </a:solidFill>
                <a:latin typeface="Segoe UI"/>
                <a:ea typeface="Segoe UI"/>
                <a:cs typeface="Segoe UI"/>
              </a:defRPr>
            </a:defPPr>
          </a:lstStyle>
          <a:p xmlns:a="http://schemas.openxmlformats.org/drawingml/2006/main">
            <a:pPr algn="l">
              <a:lnSpc>
                <a:spcPct val="122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Sparse supply leaves too few feasible edges.</a:t>
            </a:r>
          </a:p>
          <a:p xmlns:a="http://schemas.openxmlformats.org/drawingml/2006/main">
            <a:pPr algn="l">
              <a:lnSpc>
                <a:spcPct val="122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Three public seed groups leave material uncertainty.</a:t>
            </a:r>
          </a:p>
          <a:p xmlns:a="http://schemas.openxmlformats.org/drawingml/2006/main">
            <a:pPr algn="l">
              <a:lnSpc>
                <a:spcPct val="122000"/>
              </a:lnSpc>
              <a:buNone/>
              <a:defRPr sz="1425" b="0" i="0">
                <a:solidFill>
                  <a:srgbClr val="2B2E22"/>
                </a:solidFill>
                <a:latin typeface="Segoe UI"/>
                <a:ea typeface="Segoe UI"/>
                <a:cs typeface="Segoe UI"/>
              </a:defRPr>
            </a:pPr>
            <a:r>
              <a:rPr sz="1425" b="0" i="0">
                <a:solidFill>
                  <a:srgbClr val="2B2E22"/>
                </a:solidFill>
                <a:latin typeface="Segoe UI"/>
                <a:ea typeface="Segoe UI"/>
                <a:cs typeface="Segoe UI"/>
              </a:rPr>
              <a:t>The score is not calibrated.</a:t>
            </a:r>
          </a:p>
        </p:txBody>
      </p:sp>
      <p:sp>
        <p:nvSpPr>
          <p:cNvPr id="15" name="">
            <a:extLst xmlns:a="http://schemas.openxmlformats.org/drawingml/2006/main">
              <a:ext uri="{FF2B5EF4-FFF2-40B4-BE49-F238E27FC236}">
                <a16:creationId xmlns:a16="http://schemas.microsoft.com/office/drawing/2014/main" id="{14DC4F69-647D-4817-A049-1D3B2643D316}"/>
              </a:ext>
            </a:extLst>
          </p:cNvPr>
          <p:cNvSpPr>
            <a:spLocks xmlns:a="http://schemas.openxmlformats.org/drawingml/2006/main" noGrp="1"/>
          </p:cNvSpPr>
          <p:nvPr/>
        </p:nvSpPr>
        <p:spPr>
          <a:xfrm xmlns:a="http://schemas.openxmlformats.org/drawingml/2006/main" rot="0">
            <a:off x="6096000" y="1809750"/>
            <a:ext cx="9525" cy="228600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354562-AC6F-4308-B490-9DB49944B9FF}"/>
              </a:ext>
            </a:extLst>
          </p:cNvPr>
          <p:cNvSpPr>
            <a:spLocks xmlns:a="http://schemas.openxmlformats.org/drawingml/2006/main" noGrp="1"/>
          </p:cNvSpPr>
          <p:nvPr/>
        </p:nvSpPr>
        <p:spPr>
          <a:xfrm xmlns:a="http://schemas.openxmlformats.org/drawingml/2006/main" rot="0">
            <a:off x="857250" y="4552950"/>
            <a:ext cx="8572500" cy="1123950"/>
          </a:xfrm>
          <a:prstGeom xmlns:a="http://schemas.openxmlformats.org/drawingml/2006/main" prst="rect">
            <a:avLst/>
          </a:prstGeom>
          <a:solidFill xmlns:a="http://schemas.openxmlformats.org/drawingml/2006/main">
            <a:srgbClr val="33233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71A5B14-0266-4B1E-A40F-54DABC60E167}"/>
              </a:ext>
            </a:extLst>
          </p:cNvPr>
          <p:cNvSpPr>
            <a:spLocks xmlns:a="http://schemas.openxmlformats.org/drawingml/2006/main" noGrp="1"/>
          </p:cNvSpPr>
          <p:nvPr/>
        </p:nvSpPr>
        <p:spPr>
          <a:xfrm xmlns:a="http://schemas.openxmlformats.org/drawingml/2006/main" rot="0">
            <a:off x="1200150" y="4800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A9956D"/>
                </a:solidFill>
                <a:latin typeface="Segoe UI"/>
                <a:ea typeface="Segoe UI"/>
                <a:cs typeface="Segoe UI"/>
              </a:defRPr>
            </a:defPPr>
          </a:lstStyle>
          <a:p xmlns:a="http://schemas.openxmlformats.org/drawingml/2006/main">
            <a:pPr algn="l">
              <a:defRPr sz="1125" b="1" i="0">
                <a:solidFill>
                  <a:srgbClr val="A9956D"/>
                </a:solidFill>
                <a:latin typeface="Segoe UI"/>
                <a:ea typeface="Segoe UI"/>
                <a:cs typeface="Segoe UI"/>
              </a:defRPr>
            </a:pPr>
            <a:r>
              <a:rPr sz="1125" b="1" i="0">
                <a:solidFill>
                  <a:srgbClr val="A9956D"/>
                </a:solidFill>
                <a:latin typeface="Segoe UI"/>
                <a:ea typeface="Segoe UI"/>
                <a:cs typeface="Segoe UI"/>
              </a:rPr>
              <a:t>Next test</a:t>
            </a:r>
          </a:p>
        </p:txBody>
      </p:sp>
      <p:sp>
        <p:nvSpPr>
          <p:cNvPr id="18" name="">
            <a:extLst xmlns:a="http://schemas.openxmlformats.org/drawingml/2006/main">
              <a:ext uri="{FF2B5EF4-FFF2-40B4-BE49-F238E27FC236}">
                <a16:creationId xmlns:a16="http://schemas.microsoft.com/office/drawing/2014/main" id="{C3E21073-1717-49B8-88B4-3391367DBB9C}"/>
              </a:ext>
            </a:extLst>
          </p:cNvPr>
          <p:cNvSpPr>
            <a:spLocks xmlns:a="http://schemas.openxmlformats.org/drawingml/2006/main" noGrp="1"/>
          </p:cNvSpPr>
          <p:nvPr/>
        </p:nvSpPr>
        <p:spPr>
          <a:xfrm xmlns:a="http://schemas.openxmlformats.org/drawingml/2006/main" rot="0">
            <a:off x="2743200" y="4762500"/>
            <a:ext cx="628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i="0">
                <a:solidFill>
                  <a:srgbClr val="FBF2E3"/>
                </a:solidFill>
                <a:latin typeface="Georgia"/>
                <a:ea typeface="Georgia"/>
                <a:cs typeface="Georgia"/>
              </a:defRPr>
            </a:defPPr>
          </a:lstStyle>
          <a:p xmlns:a="http://schemas.openxmlformats.org/drawingml/2006/main">
            <a:pPr algn="l">
              <a:defRPr sz="1650" b="0" i="0">
                <a:solidFill>
                  <a:srgbClr val="FBF2E3"/>
                </a:solidFill>
                <a:latin typeface="Georgia"/>
                <a:ea typeface="Georgia"/>
                <a:cs typeface="Georgia"/>
              </a:defRPr>
            </a:pPr>
            <a:r>
              <a:rPr sz="1650" b="0" i="0">
                <a:solidFill>
                  <a:srgbClr val="FBF2E3"/>
                </a:solidFill>
                <a:latin typeface="Georgia"/>
                <a:ea typeface="Georgia"/>
                <a:cs typeface="Georgia"/>
              </a:rPr>
              <a:t>Scarcity-aware clarification and waiting on a larger pre-registered seed block</a:t>
            </a:r>
          </a:p>
        </p:txBody>
      </p:sp>
      <p:sp>
        <p:nvSpPr>
          <p:cNvPr id="19" name="">
            <a:extLst xmlns:a="http://schemas.openxmlformats.org/drawingml/2006/main">
              <a:ext uri="{FF2B5EF4-FFF2-40B4-BE49-F238E27FC236}">
                <a16:creationId xmlns:a16="http://schemas.microsoft.com/office/drawing/2014/main" id="{2E3AD0B0-300C-49A1-B162-E2C68CF27CE1}"/>
              </a:ext>
            </a:extLst>
          </p:cNvPr>
          <p:cNvSpPr>
            <a:spLocks xmlns:a="http://schemas.openxmlformats.org/drawingml/2006/main" noGrp="1"/>
          </p:cNvSpPr>
          <p:nvPr/>
        </p:nvSpPr>
        <p:spPr>
          <a:xfrm xmlns:a="http://schemas.openxmlformats.org/drawingml/2006/main" rot="0">
            <a:off x="2400300" y="5905500"/>
            <a:ext cx="567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0" i="0">
                <a:solidFill>
                  <a:srgbClr val="5B624A"/>
                </a:solidFill>
                <a:latin typeface="Georgia"/>
                <a:ea typeface="Georgia"/>
                <a:cs typeface="Georgia"/>
              </a:defRPr>
            </a:defPPr>
          </a:lstStyle>
          <a:p xmlns:a="http://schemas.openxmlformats.org/drawingml/2006/main">
            <a:pPr algn="ctr">
              <a:defRPr sz="1425" b="0" i="0">
                <a:solidFill>
                  <a:srgbClr val="5B624A"/>
                </a:solidFill>
                <a:latin typeface="Georgia"/>
                <a:ea typeface="Georgia"/>
                <a:cs typeface="Georgia"/>
              </a:defRPr>
            </a:pPr>
            <a:r>
              <a:rPr sz="1425" b="0" i="0">
                <a:solidFill>
                  <a:srgbClr val="5B624A"/>
                </a:solidFill>
                <a:latin typeface="Georgia"/>
                <a:ea typeface="Georgia"/>
                <a:cs typeface="Georgia"/>
              </a:rPr>
              <a:t>Every decision and limitation is inspectable.</a:t>
            </a:r>
          </a:p>
        </p:txBody>
      </p:sp>
    </p:spTree>
    <p:extLst>
      <p:ext uri="{BB962C8B-B14F-4D97-AF65-F5344CB8AC3E}">
        <p14:creationId xmlns:p14="http://schemas.microsoft.com/office/powerpoint/2010/main" val="1311610985"/>
      </p:ext>
    </p:extLst>
  </p:cSld>
</p:sld>
</file>

<file path=ppt/slides/slide11.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058398-9FC2-4F05-9865-AD1E5C9F51B6}"/>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C203268F-76EE-4CB0-848C-4CDDBD28E088}"/>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BACKUP</a:t>
            </a:r>
          </a:p>
        </p:txBody>
      </p:sp>
      <p:sp>
        <p:nvSpPr>
          <p:cNvPr id="3" name="">
            <a:extLst xmlns:a="http://schemas.openxmlformats.org/drawingml/2006/main">
              <a:ext uri="{FF2B5EF4-FFF2-40B4-BE49-F238E27FC236}">
                <a16:creationId xmlns:a16="http://schemas.microsoft.com/office/drawing/2014/main" id="{3B3776EB-2F47-4235-8F83-3769FC4695A5}"/>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11</a:t>
            </a:r>
          </a:p>
        </p:txBody>
      </p:sp>
      <p:sp>
        <p:nvSpPr>
          <p:cNvPr id="4" name="">
            <a:extLst xmlns:a="http://schemas.openxmlformats.org/drawingml/2006/main">
              <a:ext uri="{FF2B5EF4-FFF2-40B4-BE49-F238E27FC236}">
                <a16:creationId xmlns:a16="http://schemas.microsoft.com/office/drawing/2014/main" id="{5A8C842E-2B9B-4FBA-B328-351D57EC5001}"/>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10537DC-3EBF-40B8-92EF-E76E9BF85B89}"/>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C8C75E-4170-46B1-A037-1BE8780675CF}"/>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81616414-044D-416D-A818-D84449A441C3}"/>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2F871194-9F88-4B49-B441-41DF1F05519C}"/>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Exact public metrics</a:t>
            </a:r>
          </a:p>
        </p:txBody>
      </p:sp>
      <p:sp>
        <p:nvSpPr>
          <p:cNvPr id="9" name="">
            <a:extLst xmlns:a="http://schemas.openxmlformats.org/drawingml/2006/main">
              <a:ext uri="{FF2B5EF4-FFF2-40B4-BE49-F238E27FC236}">
                <a16:creationId xmlns:a16="http://schemas.microsoft.com/office/drawing/2014/main" id="{2A829EC7-08DC-4F6E-BBC6-5274ED9EA372}"/>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Official primary score followed by the published tie-break order</a:t>
            </a:r>
          </a:p>
        </p:txBody>
      </p:sp>
      <p:graphicFrame>
        <p:nvGraphicFramePr>
          <p:cNvPr id="10" name="">
            <a:extLst xmlns:a="http://schemas.openxmlformats.org/drawingml/2006/main">
              <a:ext uri="{FF2B5EF4-FFF2-40B4-BE49-F238E27FC236}">
                <a16:creationId xmlns:a16="http://schemas.microsoft.com/office/drawing/2014/main" id="{CDC20992-7DDB-49E8-A921-89557A975D91}"/>
              </a:ext>
            </a:extLst>
          </p:cNvPr>
          <p:cNvGraphicFramePr/>
          <p:nvPr/>
        </p:nvGraphicFramePr>
        <p:xfrm>
          <a:off xmlns:a="http://schemas.openxmlformats.org/drawingml/2006/main" x="704850" y="1885950"/>
          <a:ext xmlns:a="http://schemas.openxmlformats.org/drawingml/2006/main" cx="10782300" cy="2914650"/>
        </p:xfrm>
        <a:graphic xmlns:a="http://schemas.openxmlformats.org/drawingml/2006/main">
          <a:graphicData uri="http://schemas.openxmlformats.org/drawingml/2006/table">
            <a:tbl>
              <a:tblPr/>
              <a:tblGrid>
                <a:gridCol w="2571750"/>
                <a:gridCol w="1714500"/>
                <a:gridCol w="1619250"/>
                <a:gridCol w="2571750"/>
                <a:gridCol w="1714500"/>
              </a:tblGrid>
              <a:tr h="582930">
                <a:tc>
                  <a:txBody>
                    <a:bodyPr/>
                    <a:lstStyle/>
                    <a:p>
                      <a:r>
                        <a:rPr sz="1050" b="1">
                          <a:solidFill>
                            <a:srgbClr val="FBF2E3"/>
                          </a:solidFill>
                          <a:latin typeface="Segoe UI"/>
                          <a:ea typeface="Segoe UI"/>
                          <a:cs typeface="Segoe UI"/>
                        </a:rPr>
                        <a:t>Method</a:t>
                      </a:r>
                    </a:p>
                  </a:txBody>
                  <a:tcPr marL="76200" marR="76200" marT="76200" marB="76200">
                    <a:lnL w="9525">
                      <a:solidFill>
                        <a:srgbClr val="D8CBB7"/>
                      </a:solidFill>
                      <a:prstDash val="solid"/>
                    </a:lnL>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c>
                  <a:txBody>
                    <a:bodyPr/>
                    <a:lstStyle/>
                    <a:p>
                      <a:r>
                        <a:rPr sz="1050" b="1">
                          <a:solidFill>
                            <a:srgbClr val="FBF2E3"/>
                          </a:solidFill>
                          <a:latin typeface="Segoe UI"/>
                          <a:ea typeface="Segoe UI"/>
                          <a:cs typeface="Segoe UI"/>
                        </a:rPr>
                        <a:t>MSMI / 100</a:t>
                      </a:r>
                    </a:p>
                  </a:txBody>
                  <a:tcPr marL="76200" marR="76200" marT="76200" marB="76200">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c>
                  <a:txBody>
                    <a:bodyPr/>
                    <a:lstStyle/>
                    <a:p>
                      <a:r>
                        <a:rPr sz="1050" b="1">
                          <a:solidFill>
                            <a:srgbClr val="FBF2E3"/>
                          </a:solidFill>
                          <a:latin typeface="Segoe UI"/>
                          <a:ea typeface="Segoe UI"/>
                          <a:cs typeface="Segoe UI"/>
                        </a:rPr>
                        <a:t>Coverage</a:t>
                      </a:r>
                    </a:p>
                  </a:txBody>
                  <a:tcPr marL="76200" marR="76200" marT="76200" marB="76200">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c>
                  <a:txBody>
                    <a:bodyPr/>
                    <a:lstStyle/>
                    <a:p>
                      <a:r>
                        <a:rPr sz="1050" b="1">
                          <a:solidFill>
                            <a:srgbClr val="FBF2E3"/>
                          </a:solidFill>
                          <a:latin typeface="Segoe UI"/>
                          <a:ea typeface="Segoe UI"/>
                          <a:cs typeface="Segoe UI"/>
                        </a:rPr>
                        <a:t>Mutual accepts / 100</a:t>
                      </a:r>
                    </a:p>
                  </a:txBody>
                  <a:tcPr marL="76200" marR="76200" marT="76200" marB="76200">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c>
                  <a:txBody>
                    <a:bodyPr/>
                    <a:lstStyle/>
                    <a:p>
                      <a:r>
                        <a:rPr sz="1050" b="1">
                          <a:solidFill>
                            <a:srgbClr val="FBF2E3"/>
                          </a:solidFill>
                          <a:latin typeface="Segoe UI"/>
                          <a:ea typeface="Segoe UI"/>
                          <a:cs typeface="Segoe UI"/>
                        </a:rPr>
                        <a:t>Ask cost</a:t>
                      </a:r>
                    </a:p>
                  </a:txBody>
                  <a:tcPr marL="76200" marR="76200" marT="76200" marB="76200">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r>
              <a:tr h="582930">
                <a:tc>
                  <a:txBody>
                    <a:bodyPr/>
                    <a:lstStyle/>
                    <a:p>
                      <a:r>
                        <a:rPr sz="1200" b="1">
                          <a:solidFill>
                            <a:srgbClr val="33233F"/>
                          </a:solidFill>
                          <a:latin typeface="Segoe UI"/>
                          <a:ea typeface="Segoe UI"/>
                          <a:cs typeface="Segoe UI"/>
                        </a:rPr>
                        <a:t>Submitted</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4E8D5"/>
                    </a:solidFill>
                  </a:tcPr>
                </a:tc>
                <a:tc>
                  <a:txBody>
                    <a:bodyPr/>
                    <a:lstStyle/>
                    <a:p>
                      <a:r>
                        <a:rPr sz="1200">
                          <a:solidFill>
                            <a:srgbClr val="2B2E22"/>
                          </a:solidFill>
                          <a:latin typeface="Segoe UI"/>
                          <a:ea typeface="Segoe UI"/>
                          <a:cs typeface="Segoe UI"/>
                        </a:rPr>
                        <a:t>0.4444</a:t>
                      </a:r>
                    </a:p>
                  </a:txBody>
                  <a:tcPr marL="76200" marR="76200" marT="66675" marB="66675">
                    <a:lnR w="9525">
                      <a:solidFill>
                        <a:srgbClr val="D8CBB7"/>
                      </a:solidFill>
                      <a:prstDash val="solid"/>
                    </a:lnR>
                    <a:lnB w="9525">
                      <a:solidFill>
                        <a:srgbClr val="D8CBB7"/>
                      </a:solidFill>
                      <a:prstDash val="solid"/>
                    </a:lnB>
                    <a:solidFill>
                      <a:srgbClr val="F4E8D5"/>
                    </a:solidFill>
                  </a:tcPr>
                </a:tc>
                <a:tc>
                  <a:txBody>
                    <a:bodyPr/>
                    <a:lstStyle/>
                    <a:p>
                      <a:r>
                        <a:rPr sz="1200">
                          <a:solidFill>
                            <a:srgbClr val="2B2E22"/>
                          </a:solidFill>
                          <a:latin typeface="Segoe UI"/>
                          <a:ea typeface="Segoe UI"/>
                          <a:cs typeface="Segoe UI"/>
                        </a:rPr>
                        <a:t>0.3700</a:t>
                      </a:r>
                    </a:p>
                  </a:txBody>
                  <a:tcPr marL="76200" marR="76200" marT="66675" marB="66675">
                    <a:lnR w="9525">
                      <a:solidFill>
                        <a:srgbClr val="D8CBB7"/>
                      </a:solidFill>
                      <a:prstDash val="solid"/>
                    </a:lnR>
                    <a:lnB w="9525">
                      <a:solidFill>
                        <a:srgbClr val="D8CBB7"/>
                      </a:solidFill>
                      <a:prstDash val="solid"/>
                    </a:lnB>
                    <a:solidFill>
                      <a:srgbClr val="F4E8D5"/>
                    </a:solidFill>
                  </a:tcPr>
                </a:tc>
                <a:tc>
                  <a:txBody>
                    <a:bodyPr/>
                    <a:lstStyle/>
                    <a:p>
                      <a:r>
                        <a:rPr sz="1200">
                          <a:solidFill>
                            <a:srgbClr val="2B2E22"/>
                          </a:solidFill>
                          <a:latin typeface="Segoe UI"/>
                          <a:ea typeface="Segoe UI"/>
                          <a:cs typeface="Segoe UI"/>
                        </a:rPr>
                        <a:t>5.2222</a:t>
                      </a:r>
                    </a:p>
                  </a:txBody>
                  <a:tcPr marL="76200" marR="76200" marT="66675" marB="66675">
                    <a:lnR w="9525">
                      <a:solidFill>
                        <a:srgbClr val="D8CBB7"/>
                      </a:solidFill>
                      <a:prstDash val="solid"/>
                    </a:lnR>
                    <a:lnB w="9525">
                      <a:solidFill>
                        <a:srgbClr val="D8CBB7"/>
                      </a:solidFill>
                      <a:prstDash val="solid"/>
                    </a:lnB>
                    <a:solidFill>
                      <a:srgbClr val="F4E8D5"/>
                    </a:solidFill>
                  </a:tcPr>
                </a:tc>
                <a:tc>
                  <a:txBody>
                    <a:bodyPr/>
                    <a:lstStyle/>
                    <a:p>
                      <a:r>
                        <a:rPr sz="1200">
                          <a:solidFill>
                            <a:srgbClr val="2B2E22"/>
                          </a:solidFill>
                          <a:latin typeface="Segoe UI"/>
                          <a:ea typeface="Segoe UI"/>
                          <a:cs typeface="Segoe UI"/>
                        </a:rPr>
                        <a:t>206.67</a:t>
                      </a:r>
                    </a:p>
                  </a:txBody>
                  <a:tcPr marL="76200" marR="76200" marT="66675" marB="66675">
                    <a:lnR w="9525">
                      <a:solidFill>
                        <a:srgbClr val="D8CBB7"/>
                      </a:solidFill>
                      <a:prstDash val="solid"/>
                    </a:lnR>
                    <a:lnB w="9525">
                      <a:solidFill>
                        <a:srgbClr val="D8CBB7"/>
                      </a:solidFill>
                      <a:prstDash val="solid"/>
                    </a:lnB>
                    <a:solidFill>
                      <a:srgbClr val="F4E8D5"/>
                    </a:solidFill>
                  </a:tcPr>
                </a:tc>
              </a:tr>
              <a:tr h="582930">
                <a:tc>
                  <a:txBody>
                    <a:bodyPr/>
                    <a:lstStyle/>
                    <a:p>
                      <a:r>
                        <a:rPr sz="1200">
                          <a:solidFill>
                            <a:srgbClr val="2B2E22"/>
                          </a:solidFill>
                          <a:latin typeface="Segoe UI"/>
                          <a:ea typeface="Segoe UI"/>
                          <a:cs typeface="Segoe UI"/>
                        </a:rPr>
                        <a:t>Greedy</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0.3889</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0.3717</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5.5000</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206.67</a:t>
                      </a:r>
                    </a:p>
                  </a:txBody>
                  <a:tcPr marL="76200" marR="76200" marT="66675" marB="66675">
                    <a:lnR w="9525">
                      <a:solidFill>
                        <a:srgbClr val="D8CBB7"/>
                      </a:solidFill>
                      <a:prstDash val="solid"/>
                    </a:lnR>
                    <a:lnB w="9525">
                      <a:solidFill>
                        <a:srgbClr val="D8CBB7"/>
                      </a:solidFill>
                      <a:prstDash val="solid"/>
                    </a:lnB>
                    <a:solidFill>
                      <a:srgbClr val="FFFDF8"/>
                    </a:solidFill>
                  </a:tcPr>
                </a:tc>
              </a:tr>
              <a:tr h="582930">
                <a:tc>
                  <a:txBody>
                    <a:bodyPr/>
                    <a:lstStyle/>
                    <a:p>
                      <a:r>
                        <a:rPr sz="1200">
                          <a:solidFill>
                            <a:srgbClr val="2B2E22"/>
                          </a:solidFill>
                          <a:latin typeface="Segoe UI"/>
                          <a:ea typeface="Segoe UI"/>
                          <a:cs typeface="Segoe UI"/>
                        </a:rPr>
                        <a:t>Random feasible</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0.2778</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0.3767</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5.3333</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206.67</a:t>
                      </a:r>
                    </a:p>
                  </a:txBody>
                  <a:tcPr marL="76200" marR="76200" marT="66675" marB="66675">
                    <a:lnR w="9525">
                      <a:solidFill>
                        <a:srgbClr val="D8CBB7"/>
                      </a:solidFill>
                      <a:prstDash val="solid"/>
                    </a:lnR>
                    <a:lnB w="9525">
                      <a:solidFill>
                        <a:srgbClr val="D8CBB7"/>
                      </a:solidFill>
                      <a:prstDash val="solid"/>
                    </a:lnB>
                    <a:solidFill>
                      <a:srgbClr val="FFFDF8"/>
                    </a:solidFill>
                  </a:tcPr>
                </a:tc>
              </a:tr>
              <a:tr h="582930">
                <a:tc>
                  <a:txBody>
                    <a:bodyPr/>
                    <a:lstStyle/>
                    <a:p>
                      <a:r>
                        <a:rPr sz="1200">
                          <a:solidFill>
                            <a:srgbClr val="2B2E22"/>
                          </a:solidFill>
                          <a:latin typeface="Segoe UI"/>
                          <a:ea typeface="Segoe UI"/>
                          <a:cs typeface="Segoe UI"/>
                        </a:rPr>
                        <a:t>No clarification</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0.1389</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0.1428</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1.7500</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200">
                          <a:solidFill>
                            <a:srgbClr val="2B2E22"/>
                          </a:solidFill>
                          <a:latin typeface="Segoe UI"/>
                          <a:ea typeface="Segoe UI"/>
                          <a:cs typeface="Segoe UI"/>
                        </a:rPr>
                        <a:t>0.00</a:t>
                      </a:r>
                    </a:p>
                  </a:txBody>
                  <a:tcPr marL="76200" marR="76200" marT="66675" marB="66675">
                    <a:lnR w="9525">
                      <a:solidFill>
                        <a:srgbClr val="D8CBB7"/>
                      </a:solidFill>
                      <a:prstDash val="solid"/>
                    </a:lnR>
                    <a:lnB w="9525">
                      <a:solidFill>
                        <a:srgbClr val="D8CBB7"/>
                      </a:solidFill>
                      <a:prstDash val="solid"/>
                    </a:lnB>
                    <a:solidFill>
                      <a:srgbClr val="FFFDF8"/>
                    </a:solidFill>
                  </a:tcPr>
                </a:tc>
              </a:tr>
            </a:tbl>
          </a:graphicData>
        </a:graphic>
      </p:graphicFrame>
      <p:sp>
        <p:nvSpPr>
          <p:cNvPr id="11" name="">
            <a:extLst xmlns:a="http://schemas.openxmlformats.org/drawingml/2006/main">
              <a:ext uri="{FF2B5EF4-FFF2-40B4-BE49-F238E27FC236}">
                <a16:creationId xmlns:a16="http://schemas.microsoft.com/office/drawing/2014/main" id="{5E969AED-EF8B-413C-9208-C6554EF02C48}"/>
              </a:ext>
            </a:extLst>
          </p:cNvPr>
          <p:cNvSpPr>
            <a:spLocks xmlns:a="http://schemas.openxmlformats.org/drawingml/2006/main" noGrp="1"/>
          </p:cNvSpPr>
          <p:nvPr/>
        </p:nvSpPr>
        <p:spPr>
          <a:xfrm xmlns:a="http://schemas.openxmlformats.org/drawingml/2006/main" rot="0">
            <a:off x="742950" y="52006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33233F"/>
                </a:solidFill>
                <a:latin typeface="Georgia"/>
                <a:ea typeface="Georgia"/>
                <a:cs typeface="Georgia"/>
              </a:defRPr>
            </a:defPPr>
          </a:lstStyle>
          <a:p xmlns:a="http://schemas.openxmlformats.org/drawingml/2006/main">
            <a:pPr algn="l">
              <a:defRPr sz="1275" b="1" i="0">
                <a:solidFill>
                  <a:srgbClr val="33233F"/>
                </a:solidFill>
                <a:latin typeface="Georgia"/>
                <a:ea typeface="Georgia"/>
                <a:cs typeface="Georgia"/>
              </a:defRPr>
            </a:pPr>
            <a:r>
              <a:rPr sz="1275" b="1" i="0">
                <a:solidFill>
                  <a:srgbClr val="33233F"/>
                </a:solidFill>
                <a:latin typeface="Georgia"/>
                <a:ea typeface="Georgia"/>
                <a:cs typeface="Georgia"/>
              </a:rPr>
              <a:t>Service evidence</a:t>
            </a:r>
          </a:p>
        </p:txBody>
      </p:sp>
      <p:sp>
        <p:nvSpPr>
          <p:cNvPr id="12" name="">
            <a:extLst xmlns:a="http://schemas.openxmlformats.org/drawingml/2006/main">
              <a:ext uri="{FF2B5EF4-FFF2-40B4-BE49-F238E27FC236}">
                <a16:creationId xmlns:a16="http://schemas.microsoft.com/office/drawing/2014/main" id="{FEE03249-5C4A-4717-A94A-46B611F32EDC}"/>
              </a:ext>
            </a:extLst>
          </p:cNvPr>
          <p:cNvSpPr>
            <a:spLocks xmlns:a="http://schemas.openxmlformats.org/drawingml/2006/main" noGrp="1"/>
          </p:cNvSpPr>
          <p:nvPr/>
        </p:nvSpPr>
        <p:spPr>
          <a:xfrm xmlns:a="http://schemas.openxmlformats.org/drawingml/2006/main" rot="0">
            <a:off x="2743200" y="5191125"/>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1,332 of 3,600 served at least once. Median wait 5 days. P90 wait 16 days.</a:t>
            </a:r>
          </a:p>
        </p:txBody>
      </p:sp>
      <p:sp>
        <p:nvSpPr>
          <p:cNvPr id="13" name="">
            <a:extLst xmlns:a="http://schemas.openxmlformats.org/drawingml/2006/main">
              <a:ext uri="{FF2B5EF4-FFF2-40B4-BE49-F238E27FC236}">
                <a16:creationId xmlns:a16="http://schemas.microsoft.com/office/drawing/2014/main" id="{5555F4E3-7E1F-4F08-802B-7438D538BBD1}"/>
              </a:ext>
            </a:extLst>
          </p:cNvPr>
          <p:cNvSpPr>
            <a:spLocks xmlns:a="http://schemas.openxmlformats.org/drawingml/2006/main" noGrp="1"/>
          </p:cNvSpPr>
          <p:nvPr/>
        </p:nvSpPr>
        <p:spPr>
          <a:xfrm xmlns:a="http://schemas.openxmlformats.org/drawingml/2006/main" rot="0">
            <a:off x="742950" y="57150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A9956D"/>
                </a:solidFill>
                <a:latin typeface="Segoe UI"/>
                <a:ea typeface="Segoe UI"/>
                <a:cs typeface="Segoe UI"/>
              </a:defRPr>
            </a:defPPr>
          </a:lstStyle>
          <a:p xmlns:a="http://schemas.openxmlformats.org/drawingml/2006/main">
            <a:pPr algn="l">
              <a:defRPr sz="975" b="0" i="0">
                <a:solidFill>
                  <a:srgbClr val="A9956D"/>
                </a:solidFill>
                <a:latin typeface="Segoe UI"/>
                <a:ea typeface="Segoe UI"/>
                <a:cs typeface="Segoe UI"/>
              </a:defRPr>
            </a:pPr>
            <a:r>
              <a:rPr sz="975" b="0" i="0">
                <a:solidFill>
                  <a:srgbClr val="A9956D"/>
                </a:solidFill>
                <a:latin typeface="Segoe UI"/>
                <a:ea typeface="Segoe UI"/>
                <a:cs typeface="Segoe UI"/>
              </a:rPr>
              <a:t>Public simulator, 3 seeds by 6 scenario families per method</a:t>
            </a:r>
          </a:p>
        </p:txBody>
      </p:sp>
    </p:spTree>
    <p:extLst>
      <p:ext uri="{BB962C8B-B14F-4D97-AF65-F5344CB8AC3E}">
        <p14:creationId xmlns:p14="http://schemas.microsoft.com/office/powerpoint/2010/main" val="892986622"/>
      </p:ext>
    </p:extLst>
  </p:cSld>
</p:sld>
</file>

<file path=ppt/slides/slide12.xml><?xml version="1.0" encoding="utf-8"?>
<p:sld xmlns:p="http://schemas.openxmlformats.org/presentationml/2006/main">
  <p:cSld>
    <p:bg>
      <p:bgPr>
        <a:solidFill xmlns:a="http://schemas.openxmlformats.org/drawingml/2006/main">
          <a:srgbClr val="FBF2E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363B94-E11A-4107-879B-1F9CD9E7D902}"/>
              </a:ext>
            </a:extLst>
          </p:cNvPr>
          <p:cNvSpPr>
            <a:spLocks xmlns:a="http://schemas.openxmlformats.org/drawingml/2006/main" noGrp="1"/>
          </p:cNvSpPr>
          <p:nvPr/>
        </p:nvSpPr>
        <p:spPr>
          <a:xfrm xmlns:a="http://schemas.openxmlformats.org/drawingml/2006/main" rot="0">
            <a:off x="68580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ROUND 2</a:t>
            </a:r>
          </a:p>
        </p:txBody>
      </p:sp>
      <p:sp>
        <p:nvSpPr>
          <p:cNvPr id="2" name="">
            <a:extLst xmlns:a="http://schemas.openxmlformats.org/drawingml/2006/main">
              <a:ext uri="{FF2B5EF4-FFF2-40B4-BE49-F238E27FC236}">
                <a16:creationId xmlns:a16="http://schemas.microsoft.com/office/drawing/2014/main" id="{D9457C20-840C-4193-A25E-AEE4A6ABA35C}"/>
              </a:ext>
            </a:extLst>
          </p:cNvPr>
          <p:cNvSpPr>
            <a:spLocks xmlns:a="http://schemas.openxmlformats.org/drawingml/2006/main" noGrp="1"/>
          </p:cNvSpPr>
          <p:nvPr/>
        </p:nvSpPr>
        <p:spPr>
          <a:xfrm xmlns:a="http://schemas.openxmlformats.org/drawingml/2006/main" rot="0">
            <a:off x="8096250" y="304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BACKUP</a:t>
            </a:r>
          </a:p>
        </p:txBody>
      </p:sp>
      <p:sp>
        <p:nvSpPr>
          <p:cNvPr id="3" name="">
            <a:extLst xmlns:a="http://schemas.openxmlformats.org/drawingml/2006/main">
              <a:ext uri="{FF2B5EF4-FFF2-40B4-BE49-F238E27FC236}">
                <a16:creationId xmlns:a16="http://schemas.microsoft.com/office/drawing/2014/main" id="{A91A47C4-8AAB-46E7-B8EA-F676ADF66222}"/>
              </a:ext>
            </a:extLst>
          </p:cNvPr>
          <p:cNvSpPr>
            <a:spLocks xmlns:a="http://schemas.openxmlformats.org/drawingml/2006/main" noGrp="1"/>
          </p:cNvSpPr>
          <p:nvPr/>
        </p:nvSpPr>
        <p:spPr>
          <a:xfrm xmlns:a="http://schemas.openxmlformats.org/drawingml/2006/main" rot="0">
            <a:off x="11144250" y="285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5B624A"/>
                </a:solidFill>
                <a:latin typeface="Segoe UI"/>
                <a:ea typeface="Segoe UI"/>
                <a:cs typeface="Segoe UI"/>
              </a:defRPr>
            </a:defPPr>
          </a:lstStyle>
          <a:p xmlns:a="http://schemas.openxmlformats.org/drawingml/2006/main">
            <a:pPr algn="r">
              <a:defRPr sz="825" b="1" i="0">
                <a:solidFill>
                  <a:srgbClr val="5B624A"/>
                </a:solidFill>
                <a:latin typeface="Segoe UI"/>
                <a:ea typeface="Segoe UI"/>
                <a:cs typeface="Segoe UI"/>
              </a:defRPr>
            </a:pPr>
            <a:r>
              <a:rPr sz="825" b="1" i="0">
                <a:solidFill>
                  <a:srgbClr val="5B624A"/>
                </a:solidFill>
                <a:latin typeface="Segoe UI"/>
                <a:ea typeface="Segoe UI"/>
                <a:cs typeface="Segoe UI"/>
              </a:rPr>
              <a:t>12</a:t>
            </a:r>
          </a:p>
        </p:txBody>
      </p:sp>
      <p:sp>
        <p:nvSpPr>
          <p:cNvPr id="4" name="">
            <a:extLst xmlns:a="http://schemas.openxmlformats.org/drawingml/2006/main">
              <a:ext uri="{FF2B5EF4-FFF2-40B4-BE49-F238E27FC236}">
                <a16:creationId xmlns:a16="http://schemas.microsoft.com/office/drawing/2014/main" id="{1B19B0CC-471D-4351-9E05-4AB9E0E40205}"/>
              </a:ext>
            </a:extLst>
          </p:cNvPr>
          <p:cNvSpPr>
            <a:spLocks xmlns:a="http://schemas.openxmlformats.org/drawingml/2006/main" noGrp="1"/>
          </p:cNvSpPr>
          <p:nvPr/>
        </p:nvSpPr>
        <p:spPr>
          <a:xfrm xmlns:a="http://schemas.openxmlformats.org/drawingml/2006/main" rot="0">
            <a:off x="685800" y="59055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5B5987-5936-45CC-B15A-7D0DE8A50AF9}"/>
              </a:ext>
            </a:extLst>
          </p:cNvPr>
          <p:cNvSpPr>
            <a:spLocks xmlns:a="http://schemas.openxmlformats.org/drawingml/2006/main" noGrp="1"/>
          </p:cNvSpPr>
          <p:nvPr/>
        </p:nvSpPr>
        <p:spPr>
          <a:xfrm xmlns:a="http://schemas.openxmlformats.org/drawingml/2006/main" rot="0">
            <a:off x="685800" y="6438900"/>
            <a:ext cx="10820400" cy="9525"/>
          </a:xfrm>
          <a:prstGeom xmlns:a="http://schemas.openxmlformats.org/drawingml/2006/main" prst="rect">
            <a:avLst/>
          </a:prstGeom>
          <a:solidFill xmlns:a="http://schemas.openxmlformats.org/drawingml/2006/main">
            <a:srgbClr val="D8CBB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DB0FE8-D07C-4698-95D1-7F2B2A8AF9C1}"/>
              </a:ext>
            </a:extLst>
          </p:cNvPr>
          <p:cNvSpPr>
            <a:spLocks xmlns:a="http://schemas.openxmlformats.org/drawingml/2006/main" noGrp="1"/>
          </p:cNvSpPr>
          <p:nvPr/>
        </p:nvSpPr>
        <p:spPr>
          <a:xfrm xmlns:a="http://schemas.openxmlformats.org/drawingml/2006/main" rot="0">
            <a:off x="6858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A9956D"/>
                </a:solidFill>
                <a:latin typeface="Segoe UI"/>
                <a:ea typeface="Segoe UI"/>
                <a:cs typeface="Segoe UI"/>
              </a:defRPr>
            </a:defPPr>
          </a:lstStyle>
          <a:p xmlns:a="http://schemas.openxmlformats.org/drawingml/2006/main">
            <a:pPr algn="l">
              <a:defRPr sz="750" b="0" i="0">
                <a:solidFill>
                  <a:srgbClr val="A9956D"/>
                </a:solidFill>
                <a:latin typeface="Segoe UI"/>
                <a:ea typeface="Segoe UI"/>
                <a:cs typeface="Segoe UI"/>
              </a:defRPr>
            </a:pPr>
            <a:r>
              <a:rPr sz="750" b="0" i="0">
                <a:solidFill>
                  <a:srgbClr val="A9956D"/>
                </a:solidFill>
                <a:latin typeface="Segoe UI"/>
                <a:ea typeface="Segoe UI"/>
                <a:cs typeface="Segoe UI"/>
              </a:rPr>
              <a:t>The Sequential Matching Problem</a:t>
            </a:r>
          </a:p>
        </p:txBody>
      </p:sp>
      <p:sp>
        <p:nvSpPr>
          <p:cNvPr id="7" name="">
            <a:extLst xmlns:a="http://schemas.openxmlformats.org/drawingml/2006/main">
              <a:ext uri="{FF2B5EF4-FFF2-40B4-BE49-F238E27FC236}">
                <a16:creationId xmlns:a16="http://schemas.microsoft.com/office/drawing/2014/main" id="{CD0F2F0D-82A4-4503-91E3-608EE563C2E1}"/>
              </a:ext>
            </a:extLst>
          </p:cNvPr>
          <p:cNvSpPr>
            <a:spLocks xmlns:a="http://schemas.openxmlformats.org/drawingml/2006/main" noGrp="1"/>
          </p:cNvSpPr>
          <p:nvPr/>
        </p:nvSpPr>
        <p:spPr>
          <a:xfrm xmlns:a="http://schemas.openxmlformats.org/drawingml/2006/main" rot="0">
            <a:off x="7810500" y="6515100"/>
            <a:ext cx="3695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A9956D"/>
                </a:solidFill>
                <a:latin typeface="Segoe UI"/>
                <a:ea typeface="Segoe UI"/>
                <a:cs typeface="Segoe UI"/>
              </a:defRPr>
            </a:defPPr>
          </a:lstStyle>
          <a:p xmlns:a="http://schemas.openxmlformats.org/drawingml/2006/main">
            <a:pPr algn="r">
              <a:defRPr sz="750" b="0" i="0">
                <a:solidFill>
                  <a:srgbClr val="A9956D"/>
                </a:solidFill>
                <a:latin typeface="Segoe UI"/>
                <a:ea typeface="Segoe UI"/>
                <a:cs typeface="Segoe UI"/>
              </a:defRPr>
            </a:pPr>
            <a:r>
              <a:rPr sz="750" b="0" i="0">
                <a:solidFill>
                  <a:srgbClr val="A9956D"/>
                </a:solidFill>
                <a:latin typeface="Segoe UI"/>
                <a:ea typeface="Segoe UI"/>
                <a:cs typeface="Segoe UI"/>
              </a:rPr>
              <a:t>Ahan Sardar and Enakshee Mondal</a:t>
            </a:r>
          </a:p>
        </p:txBody>
      </p:sp>
      <p:sp>
        <p:nvSpPr>
          <p:cNvPr id="8" name="">
            <a:extLst xmlns:a="http://schemas.openxmlformats.org/drawingml/2006/main">
              <a:ext uri="{FF2B5EF4-FFF2-40B4-BE49-F238E27FC236}">
                <a16:creationId xmlns:a16="http://schemas.microsoft.com/office/drawing/2014/main" id="{DE564F05-09CB-41DE-9C19-F4186B2684CD}"/>
              </a:ext>
            </a:extLst>
          </p:cNvPr>
          <p:cNvSpPr>
            <a:spLocks xmlns:a="http://schemas.openxmlformats.org/drawingml/2006/main" noGrp="1"/>
          </p:cNvSpPr>
          <p:nvPr/>
        </p:nvSpPr>
        <p:spPr>
          <a:xfrm xmlns:a="http://schemas.openxmlformats.org/drawingml/2006/main" rot="0">
            <a:off x="685800" y="8001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B2E22"/>
                </a:solidFill>
                <a:latin typeface="Georgia"/>
                <a:ea typeface="Georgia"/>
                <a:cs typeface="Georgia"/>
              </a:defRPr>
            </a:defPPr>
          </a:lstStyle>
          <a:p xmlns:a="http://schemas.openxmlformats.org/drawingml/2006/main">
            <a:pPr algn="l">
              <a:defRPr sz="2700" b="0" i="0">
                <a:solidFill>
                  <a:srgbClr val="2B2E22"/>
                </a:solidFill>
                <a:latin typeface="Georgia"/>
                <a:ea typeface="Georgia"/>
                <a:cs typeface="Georgia"/>
              </a:defRPr>
            </a:pPr>
            <a:r>
              <a:rPr sz="2700" b="0" i="0">
                <a:solidFill>
                  <a:srgbClr val="2B2E22"/>
                </a:solidFill>
                <a:latin typeface="Georgia"/>
                <a:ea typeface="Georgia"/>
                <a:cs typeface="Georgia"/>
              </a:rPr>
              <a:t>Why more complex methods were rejected</a:t>
            </a:r>
          </a:p>
        </p:txBody>
      </p:sp>
      <p:sp>
        <p:nvSpPr>
          <p:cNvPr id="9" name="">
            <a:extLst xmlns:a="http://schemas.openxmlformats.org/drawingml/2006/main">
              <a:ext uri="{FF2B5EF4-FFF2-40B4-BE49-F238E27FC236}">
                <a16:creationId xmlns:a16="http://schemas.microsoft.com/office/drawing/2014/main" id="{B68E70A3-D692-4EBE-9EAB-0EA8A4D275B9}"/>
              </a:ext>
            </a:extLst>
          </p:cNvPr>
          <p:cNvSpPr>
            <a:spLocks xmlns:a="http://schemas.openxmlformats.org/drawingml/2006/main" noGrp="1"/>
          </p:cNvSpPr>
          <p:nvPr/>
        </p:nvSpPr>
        <p:spPr>
          <a:xfrm xmlns:a="http://schemas.openxmlformats.org/drawingml/2006/main" rot="0">
            <a:off x="704850" y="12954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B624A"/>
                </a:solidFill>
                <a:latin typeface="Segoe UI"/>
                <a:ea typeface="Segoe UI"/>
                <a:cs typeface="Segoe UI"/>
              </a:defRPr>
            </a:defPPr>
          </a:lstStyle>
          <a:p xmlns:a="http://schemas.openxmlformats.org/drawingml/2006/main">
            <a:pPr algn="l">
              <a:defRPr sz="1200" b="0" i="0">
                <a:solidFill>
                  <a:srgbClr val="5B624A"/>
                </a:solidFill>
                <a:latin typeface="Segoe UI"/>
                <a:ea typeface="Segoe UI"/>
                <a:cs typeface="Segoe UI"/>
              </a:defRPr>
            </a:pPr>
            <a:r>
              <a:rPr sz="1200" b="0" i="0">
                <a:solidFill>
                  <a:srgbClr val="5B624A"/>
                </a:solidFill>
                <a:latin typeface="Segoe UI"/>
                <a:ea typeface="Segoe UI"/>
                <a:cs typeface="Segoe UI"/>
              </a:rPr>
              <a:t>Promotion required a repeatable gain on a separate evaluation block</a:t>
            </a:r>
          </a:p>
        </p:txBody>
      </p:sp>
      <p:graphicFrame>
        <p:nvGraphicFramePr>
          <p:cNvPr id="10" name="">
            <a:extLst xmlns:a="http://schemas.openxmlformats.org/drawingml/2006/main">
              <a:ext uri="{FF2B5EF4-FFF2-40B4-BE49-F238E27FC236}">
                <a16:creationId xmlns:a16="http://schemas.microsoft.com/office/drawing/2014/main" id="{C87FE4F0-3087-4515-ACA9-9F76CC286F3A}"/>
              </a:ext>
            </a:extLst>
          </p:cNvPr>
          <p:cNvGraphicFramePr/>
          <p:nvPr/>
        </p:nvGraphicFramePr>
        <p:xfrm>
          <a:off xmlns:a="http://schemas.openxmlformats.org/drawingml/2006/main" x="704850" y="1828800"/>
          <a:ext xmlns:a="http://schemas.openxmlformats.org/drawingml/2006/main" cx="10782300" cy="3657600"/>
        </p:xfrm>
        <a:graphic xmlns:a="http://schemas.openxmlformats.org/drawingml/2006/main">
          <a:graphicData uri="http://schemas.openxmlformats.org/drawingml/2006/table">
            <a:tbl>
              <a:tblPr/>
              <a:tblGrid>
                <a:gridCol w="2857500"/>
                <a:gridCol w="1809750"/>
                <a:gridCol w="6115050"/>
              </a:tblGrid>
              <a:tr h="609600">
                <a:tc>
                  <a:txBody>
                    <a:bodyPr/>
                    <a:lstStyle/>
                    <a:p>
                      <a:r>
                        <a:rPr sz="1050" b="1">
                          <a:solidFill>
                            <a:srgbClr val="FBF2E3"/>
                          </a:solidFill>
                          <a:latin typeface="Segoe UI"/>
                          <a:ea typeface="Segoe UI"/>
                          <a:cs typeface="Segoe UI"/>
                        </a:rPr>
                        <a:t>Candidate</a:t>
                      </a:r>
                    </a:p>
                  </a:txBody>
                  <a:tcPr marL="76200" marR="76200" marT="76200" marB="76200">
                    <a:lnL w="9525">
                      <a:solidFill>
                        <a:srgbClr val="D8CBB7"/>
                      </a:solidFill>
                      <a:prstDash val="solid"/>
                    </a:lnL>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c>
                  <a:txBody>
                    <a:bodyPr/>
                    <a:lstStyle/>
                    <a:p>
                      <a:r>
                        <a:rPr sz="1050" b="1">
                          <a:solidFill>
                            <a:srgbClr val="FBF2E3"/>
                          </a:solidFill>
                          <a:latin typeface="Segoe UI"/>
                          <a:ea typeface="Segoe UI"/>
                          <a:cs typeface="Segoe UI"/>
                        </a:rPr>
                        <a:t>Decision</a:t>
                      </a:r>
                    </a:p>
                  </a:txBody>
                  <a:tcPr marL="76200" marR="76200" marT="76200" marB="76200">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c>
                  <a:txBody>
                    <a:bodyPr/>
                    <a:lstStyle/>
                    <a:p>
                      <a:r>
                        <a:rPr sz="1050" b="1">
                          <a:solidFill>
                            <a:srgbClr val="FBF2E3"/>
                          </a:solidFill>
                          <a:latin typeface="Segoe UI"/>
                          <a:ea typeface="Segoe UI"/>
                          <a:cs typeface="Segoe UI"/>
                        </a:rPr>
                        <a:t>Reason</a:t>
                      </a:r>
                    </a:p>
                  </a:txBody>
                  <a:tcPr marL="76200" marR="76200" marT="76200" marB="76200">
                    <a:lnR w="9525">
                      <a:solidFill>
                        <a:srgbClr val="D8CBB7"/>
                      </a:solidFill>
                      <a:prstDash val="solid"/>
                    </a:lnR>
                    <a:lnT w="9525">
                      <a:solidFill>
                        <a:srgbClr val="D8CBB7"/>
                      </a:solidFill>
                      <a:prstDash val="solid"/>
                    </a:lnT>
                    <a:lnB w="9525">
                      <a:solidFill>
                        <a:srgbClr val="D8CBB7"/>
                      </a:solidFill>
                      <a:prstDash val="solid"/>
                    </a:lnB>
                    <a:solidFill>
                      <a:srgbClr val="2B2E22"/>
                    </a:solidFill>
                  </a:tcPr>
                </a:tc>
              </a:tr>
              <a:tr h="609600">
                <a:tc>
                  <a:txBody>
                    <a:bodyPr/>
                    <a:lstStyle/>
                    <a:p>
                      <a:r>
                        <a:rPr sz="1050">
                          <a:solidFill>
                            <a:srgbClr val="2B2E22"/>
                          </a:solidFill>
                          <a:latin typeface="Segoe UI"/>
                          <a:ea typeface="Segoe UI"/>
                          <a:cs typeface="Segoe UI"/>
                        </a:rPr>
                        <a:t>Maximum-cardinality guard</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050" b="1">
                          <a:solidFill>
                            <a:srgbClr val="A75F5A"/>
                          </a:solidFill>
                          <a:latin typeface="Segoe UI"/>
                          <a:ea typeface="Segoe UI"/>
                          <a:cs typeface="Segoe UI"/>
                        </a:rPr>
                        <a:t>Rejected</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050">
                          <a:solidFill>
                            <a:srgbClr val="2B2E22"/>
                          </a:solidFill>
                          <a:latin typeface="Segoe UI"/>
                          <a:ea typeface="Segoe UI"/>
                          <a:cs typeface="Segoe UI"/>
                        </a:rPr>
                        <a:t>Tied the primary score and lost coverage, the next tie-break.</a:t>
                      </a:r>
                    </a:p>
                  </a:txBody>
                  <a:tcPr marL="76200" marR="76200" marT="66675" marB="66675">
                    <a:lnR w="9525">
                      <a:solidFill>
                        <a:srgbClr val="D8CBB7"/>
                      </a:solidFill>
                      <a:prstDash val="solid"/>
                    </a:lnR>
                    <a:lnB w="9525">
                      <a:solidFill>
                        <a:srgbClr val="D8CBB7"/>
                      </a:solidFill>
                      <a:prstDash val="solid"/>
                    </a:lnB>
                    <a:solidFill>
                      <a:srgbClr val="FFFDF8"/>
                    </a:solidFill>
                  </a:tcPr>
                </a:tc>
              </a:tr>
              <a:tr h="609600">
                <a:tc>
                  <a:txBody>
                    <a:bodyPr/>
                    <a:lstStyle/>
                    <a:p>
                      <a:r>
                        <a:rPr sz="1050">
                          <a:solidFill>
                            <a:srgbClr val="2B2E22"/>
                          </a:solidFill>
                          <a:latin typeface="Segoe UI"/>
                          <a:ea typeface="Segoe UI"/>
                          <a:cs typeface="Segoe UI"/>
                        </a:rPr>
                        <a:t>History-based scoring</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050" b="1">
                          <a:solidFill>
                            <a:srgbClr val="5B624A"/>
                          </a:solidFill>
                          <a:latin typeface="Segoe UI"/>
                          <a:ea typeface="Segoe UI"/>
                          <a:cs typeface="Segoe UI"/>
                        </a:rPr>
                        <a:t>Research only</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050">
                          <a:solidFill>
                            <a:srgbClr val="2B2E22"/>
                          </a:solidFill>
                          <a:latin typeface="Segoe UI"/>
                          <a:ea typeface="Segoe UI"/>
                          <a:cs typeface="Segoe UI"/>
                        </a:rPr>
                        <a:t>The seed-grouped interval included harm and improvement.</a:t>
                      </a:r>
                    </a:p>
                  </a:txBody>
                  <a:tcPr marL="76200" marR="76200" marT="66675" marB="66675">
                    <a:lnR w="9525">
                      <a:solidFill>
                        <a:srgbClr val="D8CBB7"/>
                      </a:solidFill>
                      <a:prstDash val="solid"/>
                    </a:lnR>
                    <a:lnB w="9525">
                      <a:solidFill>
                        <a:srgbClr val="D8CBB7"/>
                      </a:solidFill>
                      <a:prstDash val="solid"/>
                    </a:lnB>
                    <a:solidFill>
                      <a:srgbClr val="FFFDF8"/>
                    </a:solidFill>
                  </a:tcPr>
                </a:tc>
              </a:tr>
              <a:tr h="609600">
                <a:tc>
                  <a:txBody>
                    <a:bodyPr/>
                    <a:lstStyle/>
                    <a:p>
                      <a:r>
                        <a:rPr sz="1050">
                          <a:solidFill>
                            <a:srgbClr val="2B2E22"/>
                          </a:solidFill>
                          <a:latin typeface="Segoe UI"/>
                          <a:ea typeface="Segoe UI"/>
                          <a:cs typeface="Segoe UI"/>
                        </a:rPr>
                        <a:t>Learned outcome scorer</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050" b="1">
                          <a:solidFill>
                            <a:srgbClr val="A75F5A"/>
                          </a:solidFill>
                          <a:latin typeface="Segoe UI"/>
                          <a:ea typeface="Segoe UI"/>
                          <a:cs typeface="Segoe UI"/>
                        </a:rPr>
                        <a:t>Rejected</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050">
                          <a:solidFill>
                            <a:srgbClr val="2B2E22"/>
                          </a:solidFill>
                          <a:latin typeface="Segoe UI"/>
                          <a:ea typeface="Segoe UI"/>
                          <a:cs typeface="Segoe UI"/>
                        </a:rPr>
                        <a:t>Validation did not support promotion into the runtime.</a:t>
                      </a:r>
                    </a:p>
                  </a:txBody>
                  <a:tcPr marL="76200" marR="76200" marT="66675" marB="66675">
                    <a:lnR w="9525">
                      <a:solidFill>
                        <a:srgbClr val="D8CBB7"/>
                      </a:solidFill>
                      <a:prstDash val="solid"/>
                    </a:lnR>
                    <a:lnB w="9525">
                      <a:solidFill>
                        <a:srgbClr val="D8CBB7"/>
                      </a:solidFill>
                      <a:prstDash val="solid"/>
                    </a:lnB>
                    <a:solidFill>
                      <a:srgbClr val="FFFDF8"/>
                    </a:solidFill>
                  </a:tcPr>
                </a:tc>
              </a:tr>
              <a:tr h="609600">
                <a:tc>
                  <a:txBody>
                    <a:bodyPr/>
                    <a:lstStyle/>
                    <a:p>
                      <a:r>
                        <a:rPr sz="1050">
                          <a:solidFill>
                            <a:srgbClr val="2B2E22"/>
                          </a:solidFill>
                          <a:latin typeface="Segoe UI"/>
                          <a:ea typeface="Segoe UI"/>
                          <a:cs typeface="Segoe UI"/>
                        </a:rPr>
                        <a:t>Arrival-priority ties</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050" b="1">
                          <a:solidFill>
                            <a:srgbClr val="A75F5A"/>
                          </a:solidFill>
                          <a:latin typeface="Segoe UI"/>
                          <a:ea typeface="Segoe UI"/>
                          <a:cs typeface="Segoe UI"/>
                        </a:rPr>
                        <a:t>Rejected</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050">
                          <a:solidFill>
                            <a:srgbClr val="2B2E22"/>
                          </a:solidFill>
                          <a:latin typeface="Segoe UI"/>
                          <a:ea typeface="Segoe UI"/>
                          <a:cs typeface="Segoe UI"/>
                        </a:rPr>
                        <a:t>Primary score decreased and p90 service wait increased.</a:t>
                      </a:r>
                    </a:p>
                  </a:txBody>
                  <a:tcPr marL="76200" marR="76200" marT="66675" marB="66675">
                    <a:lnR w="9525">
                      <a:solidFill>
                        <a:srgbClr val="D8CBB7"/>
                      </a:solidFill>
                      <a:prstDash val="solid"/>
                    </a:lnR>
                    <a:lnB w="9525">
                      <a:solidFill>
                        <a:srgbClr val="D8CBB7"/>
                      </a:solidFill>
                      <a:prstDash val="solid"/>
                    </a:lnB>
                    <a:solidFill>
                      <a:srgbClr val="FFFDF8"/>
                    </a:solidFill>
                  </a:tcPr>
                </a:tc>
              </a:tr>
              <a:tr h="609600">
                <a:tc>
                  <a:txBody>
                    <a:bodyPr/>
                    <a:lstStyle/>
                    <a:p>
                      <a:r>
                        <a:rPr sz="1050">
                          <a:solidFill>
                            <a:srgbClr val="2B2E22"/>
                          </a:solidFill>
                          <a:latin typeface="Segoe UI"/>
                          <a:ea typeface="Segoe UI"/>
                          <a:cs typeface="Segoe UI"/>
                        </a:rPr>
                        <a:t>Input-order clarification</a:t>
                      </a:r>
                    </a:p>
                  </a:txBody>
                  <a:tcPr marL="76200" marR="76200" marT="66675" marB="66675">
                    <a:lnL w="9525">
                      <a:solidFill>
                        <a:srgbClr val="D8CBB7"/>
                      </a:solidFill>
                      <a:prstDash val="solid"/>
                    </a:lnL>
                    <a:lnR w="9525">
                      <a:solidFill>
                        <a:srgbClr val="D8CBB7"/>
                      </a:solidFill>
                      <a:prstDash val="solid"/>
                    </a:lnR>
                    <a:lnB w="9525">
                      <a:solidFill>
                        <a:srgbClr val="D8CBB7"/>
                      </a:solidFill>
                      <a:prstDash val="solid"/>
                    </a:lnB>
                    <a:solidFill>
                      <a:srgbClr val="FFFDF8"/>
                    </a:solidFill>
                  </a:tcPr>
                </a:tc>
                <a:tc>
                  <a:txBody>
                    <a:bodyPr/>
                    <a:lstStyle/>
                    <a:p>
                      <a:r>
                        <a:rPr sz="1050" b="1">
                          <a:solidFill>
                            <a:srgbClr val="A75F5A"/>
                          </a:solidFill>
                          <a:latin typeface="Segoe UI"/>
                          <a:ea typeface="Segoe UI"/>
                          <a:cs typeface="Segoe UI"/>
                        </a:rPr>
                        <a:t>Ablation only</a:t>
                      </a:r>
                    </a:p>
                  </a:txBody>
                  <a:tcPr marL="76200" marR="76200" marT="66675" marB="66675">
                    <a:lnR w="9525">
                      <a:solidFill>
                        <a:srgbClr val="D8CBB7"/>
                      </a:solidFill>
                      <a:prstDash val="solid"/>
                    </a:lnR>
                    <a:lnB w="9525">
                      <a:solidFill>
                        <a:srgbClr val="D8CBB7"/>
                      </a:solidFill>
                      <a:prstDash val="solid"/>
                    </a:lnB>
                    <a:solidFill>
                      <a:srgbClr val="FFFDF8"/>
                    </a:solidFill>
                  </a:tcPr>
                </a:tc>
                <a:tc>
                  <a:txBody>
                    <a:bodyPr/>
                    <a:lstStyle/>
                    <a:p>
                      <a:r>
                        <a:rPr sz="1050">
                          <a:solidFill>
                            <a:srgbClr val="2B2E22"/>
                          </a:solidFill>
                          <a:latin typeface="Segoe UI"/>
                          <a:ea typeface="Segoe UI"/>
                          <a:cs typeface="Segoe UI"/>
                        </a:rPr>
                        <a:t>Record order changed actions, so stable ordering replaced it.</a:t>
                      </a:r>
                    </a:p>
                  </a:txBody>
                  <a:tcPr marL="76200" marR="76200" marT="66675" marB="66675">
                    <a:lnR w="9525">
                      <a:solidFill>
                        <a:srgbClr val="D8CBB7"/>
                      </a:solidFill>
                      <a:prstDash val="solid"/>
                    </a:lnR>
                    <a:lnB w="9525">
                      <a:solidFill>
                        <a:srgbClr val="D8CBB7"/>
                      </a:solidFill>
                      <a:prstDash val="solid"/>
                    </a:lnB>
                    <a:solidFill>
                      <a:srgbClr val="FFFDF8"/>
                    </a:solidFill>
                  </a:tcPr>
                </a:tc>
              </a:tr>
            </a:tbl>
          </a:graphicData>
        </a:graphic>
      </p:graphicFrame>
      <p:sp>
        <p:nvSpPr>
          <p:cNvPr id="11" name="">
            <a:extLst xmlns:a="http://schemas.openxmlformats.org/drawingml/2006/main">
              <a:ext uri="{FF2B5EF4-FFF2-40B4-BE49-F238E27FC236}">
                <a16:creationId xmlns:a16="http://schemas.microsoft.com/office/drawing/2014/main" id="{8D36CB5D-D928-481D-8A54-4FF80038301C}"/>
              </a:ext>
            </a:extLst>
          </p:cNvPr>
          <p:cNvSpPr>
            <a:spLocks xmlns:a="http://schemas.openxmlformats.org/drawingml/2006/main" noGrp="1"/>
          </p:cNvSpPr>
          <p:nvPr/>
        </p:nvSpPr>
        <p:spPr>
          <a:xfrm xmlns:a="http://schemas.openxmlformats.org/drawingml/2006/main" rot="0">
            <a:off x="2457450" y="5810250"/>
            <a:ext cx="727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i="0">
                <a:solidFill>
                  <a:srgbClr val="5B624A"/>
                </a:solidFill>
                <a:latin typeface="Georgia"/>
                <a:ea typeface="Georgia"/>
                <a:cs typeface="Georgia"/>
              </a:defRPr>
            </a:defPPr>
          </a:lstStyle>
          <a:p xmlns:a="http://schemas.openxmlformats.org/drawingml/2006/main">
            <a:pPr algn="ctr">
              <a:defRPr sz="1350" b="0" i="0">
                <a:solidFill>
                  <a:srgbClr val="5B624A"/>
                </a:solidFill>
                <a:latin typeface="Georgia"/>
                <a:ea typeface="Georgia"/>
                <a:cs typeface="Georgia"/>
              </a:defRPr>
            </a:pPr>
            <a:r>
              <a:rPr sz="1350" b="0" i="0">
                <a:solidFill>
                  <a:srgbClr val="5B624A"/>
                </a:solidFill>
                <a:latin typeface="Georgia"/>
                <a:ea typeface="Georgia"/>
                <a:cs typeface="Georgia"/>
              </a:rPr>
              <a:t>Complexity remained a hypothesis until the evidence supported it.</a:t>
            </a:r>
          </a:p>
        </p:txBody>
      </p:sp>
    </p:spTree>
    <p:extLst>
      <p:ext uri="{BB962C8B-B14F-4D97-AF65-F5344CB8AC3E}">
        <p14:creationId xmlns:p14="http://schemas.microsoft.com/office/powerpoint/2010/main" val="868774033"/>
      </p:ext>
    </p:extLst>
  </p:cSld>
</p:sld>
</file>

<file path=ppt/slides/slide13.xml><?xml version="1.0" encoding="utf-8"?>
<p:sld xmlns:p="http://schemas.openxmlformats.org/presentationml/2006/main">
  <p:cSld>
    <p:bg>
      <p:bgPr>
        <a:solidFill xmlns:a="http://schemas.openxmlformats.org/drawingml/2006/main">
          <a:srgbClr val="33233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878B0EE-6E10-4ED4-8BEC-676A3B1CA55A}"/>
              </a:ext>
            </a:extLst>
          </p:cNvPr>
          <p:cNvPicPr>
            <a:picLocks xmlns:a="http://schemas.openxmlformats.org/drawingml/2006/main" noChangeAspect="1"/>
          </p:cNvPicPr>
          <p:nvPr/>
        </p:nvPicPr>
        <p:blipFill>
          <a:blip xmlns:r="http://schemas.openxmlformats.org/officeDocument/2006/relationships" xmlns:a="http://schemas.openxmlformats.org/drawingml/2006/main" r:embed="R75289b6fdf7a459d"/>
          <a:stretch xmlns:a="http://schemas.openxmlformats.org/drawingml/2006/main"/>
        </p:blipFill>
        <p:spPr>
          <a:xfrm xmlns:a="http://schemas.openxmlformats.org/drawingml/2006/main">
            <a:off x="8501063" y="4171950"/>
            <a:ext cx="2714625" cy="1809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4746B2-97E4-4BF4-8DA3-FEA2A4E12FBE}"/>
              </a:ext>
            </a:extLst>
          </p:cNvPr>
          <p:cNvSpPr>
            <a:spLocks xmlns:a="http://schemas.openxmlformats.org/drawingml/2006/main" noGrp="1"/>
          </p:cNvSpPr>
          <p:nvPr/>
        </p:nvSpPr>
        <p:spPr>
          <a:xfrm xmlns:a="http://schemas.openxmlformats.org/drawingml/2006/main" rot="0">
            <a:off x="6858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A9956D"/>
                </a:solidFill>
                <a:latin typeface="Segoe UI"/>
                <a:ea typeface="Segoe UI"/>
                <a:cs typeface="Segoe UI"/>
              </a:defRPr>
            </a:defPPr>
          </a:lstStyle>
          <a:p xmlns:a="http://schemas.openxmlformats.org/drawingml/2006/main">
            <a:pPr algn="l">
              <a:defRPr sz="825" b="1" i="0">
                <a:solidFill>
                  <a:srgbClr val="A9956D"/>
                </a:solidFill>
                <a:latin typeface="Segoe UI"/>
                <a:ea typeface="Segoe UI"/>
                <a:cs typeface="Segoe UI"/>
              </a:defRPr>
            </a:pPr>
            <a:r>
              <a:rPr sz="825" b="1" i="0">
                <a:solidFill>
                  <a:srgbClr val="A9956D"/>
                </a:solidFill>
                <a:latin typeface="Segoe UI"/>
                <a:ea typeface="Segoe UI"/>
                <a:cs typeface="Segoe UI"/>
              </a:rPr>
              <a:t>LUMINAX / BACKUP</a:t>
            </a:r>
          </a:p>
        </p:txBody>
      </p:sp>
      <p:sp>
        <p:nvSpPr>
          <p:cNvPr id="3" name="">
            <a:extLst xmlns:a="http://schemas.openxmlformats.org/drawingml/2006/main">
              <a:ext uri="{FF2B5EF4-FFF2-40B4-BE49-F238E27FC236}">
                <a16:creationId xmlns:a16="http://schemas.microsoft.com/office/drawing/2014/main" id="{27E30EF9-D402-48A3-92FB-FD9EE7DF99D2}"/>
              </a:ext>
            </a:extLst>
          </p:cNvPr>
          <p:cNvSpPr>
            <a:spLocks xmlns:a="http://schemas.openxmlformats.org/drawingml/2006/main" noGrp="1"/>
          </p:cNvSpPr>
          <p:nvPr/>
        </p:nvSpPr>
        <p:spPr>
          <a:xfrm xmlns:a="http://schemas.openxmlformats.org/drawingml/2006/main" rot="0">
            <a:off x="11125200" y="323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A9956D"/>
                </a:solidFill>
                <a:latin typeface="Segoe UI"/>
                <a:ea typeface="Segoe UI"/>
                <a:cs typeface="Segoe UI"/>
              </a:defRPr>
            </a:defPPr>
          </a:lstStyle>
          <a:p xmlns:a="http://schemas.openxmlformats.org/drawingml/2006/main">
            <a:pPr algn="r">
              <a:defRPr sz="825" b="1" i="0">
                <a:solidFill>
                  <a:srgbClr val="A9956D"/>
                </a:solidFill>
                <a:latin typeface="Segoe UI"/>
                <a:ea typeface="Segoe UI"/>
                <a:cs typeface="Segoe UI"/>
              </a:defRPr>
            </a:pPr>
            <a:r>
              <a:rPr sz="825" b="1" i="0">
                <a:solidFill>
                  <a:srgbClr val="A9956D"/>
                </a:solidFill>
                <a:latin typeface="Segoe UI"/>
                <a:ea typeface="Segoe UI"/>
                <a:cs typeface="Segoe UI"/>
              </a:rPr>
              <a:t>13</a:t>
            </a:r>
          </a:p>
        </p:txBody>
      </p:sp>
      <p:sp>
        <p:nvSpPr>
          <p:cNvPr id="4" name="">
            <a:extLst xmlns:a="http://schemas.openxmlformats.org/drawingml/2006/main">
              <a:ext uri="{FF2B5EF4-FFF2-40B4-BE49-F238E27FC236}">
                <a16:creationId xmlns:a16="http://schemas.microsoft.com/office/drawing/2014/main" id="{5BEFAD75-AAF8-4273-8D3A-0AC6FCA9B072}"/>
              </a:ext>
            </a:extLst>
          </p:cNvPr>
          <p:cNvSpPr>
            <a:spLocks xmlns:a="http://schemas.openxmlformats.org/drawingml/2006/main" noGrp="1"/>
          </p:cNvSpPr>
          <p:nvPr/>
        </p:nvSpPr>
        <p:spPr>
          <a:xfrm xmlns:a="http://schemas.openxmlformats.org/drawingml/2006/main" rot="0">
            <a:off x="685800" y="609600"/>
            <a:ext cx="10820400" cy="9525"/>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DD5EF0-056B-4D38-8789-AAB5C2B0CB74}"/>
              </a:ext>
            </a:extLst>
          </p:cNvPr>
          <p:cNvSpPr>
            <a:spLocks xmlns:a="http://schemas.openxmlformats.org/drawingml/2006/main" noGrp="1"/>
          </p:cNvSpPr>
          <p:nvPr/>
        </p:nvSpPr>
        <p:spPr>
          <a:xfrm xmlns:a="http://schemas.openxmlformats.org/drawingml/2006/main" rot="0">
            <a:off x="685800" y="9144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FBF2E3"/>
                </a:solidFill>
                <a:latin typeface="Georgia"/>
                <a:ea typeface="Georgia"/>
                <a:cs typeface="Georgia"/>
              </a:defRPr>
            </a:defPPr>
          </a:lstStyle>
          <a:p xmlns:a="http://schemas.openxmlformats.org/drawingml/2006/main">
            <a:pPr algn="l">
              <a:defRPr sz="2850" b="0" i="0">
                <a:solidFill>
                  <a:srgbClr val="FBF2E3"/>
                </a:solidFill>
                <a:latin typeface="Georgia"/>
                <a:ea typeface="Georgia"/>
                <a:cs typeface="Georgia"/>
              </a:defRPr>
            </a:pPr>
            <a:r>
              <a:rPr sz="2850" b="0" i="0">
                <a:solidFill>
                  <a:srgbClr val="FBF2E3"/>
                </a:solidFill>
                <a:latin typeface="Georgia"/>
                <a:ea typeface="Georgia"/>
                <a:cs typeface="Georgia"/>
              </a:rPr>
              <a:t>Reproduce the evidence</a:t>
            </a:r>
          </a:p>
        </p:txBody>
      </p:sp>
      <p:sp>
        <p:nvSpPr>
          <p:cNvPr id="6" name="">
            <a:extLst xmlns:a="http://schemas.openxmlformats.org/drawingml/2006/main">
              <a:ext uri="{FF2B5EF4-FFF2-40B4-BE49-F238E27FC236}">
                <a16:creationId xmlns:a16="http://schemas.microsoft.com/office/drawing/2014/main" id="{45A321D8-ED4D-4931-B6F1-4EF512A3EC53}"/>
              </a:ext>
            </a:extLst>
          </p:cNvPr>
          <p:cNvSpPr>
            <a:spLocks xmlns:a="http://schemas.openxmlformats.org/drawingml/2006/main" noGrp="1"/>
          </p:cNvSpPr>
          <p:nvPr/>
        </p:nvSpPr>
        <p:spPr>
          <a:xfrm xmlns:a="http://schemas.openxmlformats.org/drawingml/2006/main" rot="0">
            <a:off x="723900" y="18478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A9956D"/>
                </a:solidFill>
                <a:latin typeface="Segoe UI"/>
                <a:ea typeface="Segoe UI"/>
                <a:cs typeface="Segoe UI"/>
              </a:defRPr>
            </a:defPPr>
          </a:lstStyle>
          <a:p xmlns:a="http://schemas.openxmlformats.org/drawingml/2006/main">
            <a:pPr algn="l">
              <a:defRPr sz="1200" b="1" i="0">
                <a:solidFill>
                  <a:srgbClr val="A9956D"/>
                </a:solidFill>
                <a:latin typeface="Segoe UI"/>
                <a:ea typeface="Segoe UI"/>
                <a:cs typeface="Segoe UI"/>
              </a:defRPr>
            </a:pPr>
            <a:r>
              <a:rPr sz="1200" b="1" i="0">
                <a:solidFill>
                  <a:srgbClr val="A9956D"/>
                </a:solidFill>
                <a:latin typeface="Segoe UI"/>
                <a:ea typeface="Segoe UI"/>
                <a:cs typeface="Segoe UI"/>
              </a:rPr>
              <a:t>Immutable release</a:t>
            </a:r>
          </a:p>
        </p:txBody>
      </p:sp>
      <p:sp>
        <p:nvSpPr>
          <p:cNvPr id="7" name="">
            <a:extLst xmlns:a="http://schemas.openxmlformats.org/drawingml/2006/main">
              <a:ext uri="{FF2B5EF4-FFF2-40B4-BE49-F238E27FC236}">
                <a16:creationId xmlns:a16="http://schemas.microsoft.com/office/drawing/2014/main" id="{C7589A27-D433-409B-A6B3-754831F04959}"/>
              </a:ext>
            </a:extLst>
          </p:cNvPr>
          <p:cNvSpPr>
            <a:spLocks xmlns:a="http://schemas.openxmlformats.org/drawingml/2006/main" noGrp="1"/>
          </p:cNvSpPr>
          <p:nvPr/>
        </p:nvSpPr>
        <p:spPr>
          <a:xfrm xmlns:a="http://schemas.openxmlformats.org/drawingml/2006/main" rot="0">
            <a:off x="723900" y="22098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i="0">
                <a:solidFill>
                  <a:srgbClr val="FBF2E3"/>
                </a:solidFill>
                <a:latin typeface="Georgia"/>
                <a:ea typeface="Georgia"/>
                <a:cs typeface="Georgia"/>
              </a:defRPr>
            </a:defPPr>
          </a:lstStyle>
          <a:p xmlns:a="http://schemas.openxmlformats.org/drawingml/2006/main">
            <a:pPr algn="l">
              <a:defRPr sz="2025" b="0" i="0">
                <a:solidFill>
                  <a:srgbClr val="FBF2E3"/>
                </a:solidFill>
                <a:latin typeface="Georgia"/>
                <a:ea typeface="Georgia"/>
                <a:cs typeface="Georgia"/>
              </a:defRPr>
            </a:pPr>
            <a:r>
              <a:rPr sz="2025" b="0" i="0">
                <a:solidFill>
                  <a:srgbClr val="FBF2E3"/>
                </a:solidFill>
                <a:latin typeface="Georgia"/>
                <a:ea typeface="Georgia"/>
                <a:cs typeface="Georgia"/>
              </a:rPr>
              <a:t>round2-final-v2</a:t>
            </a:r>
          </a:p>
        </p:txBody>
      </p:sp>
      <p:sp>
        <p:nvSpPr>
          <p:cNvPr id="8" name="">
            <a:extLst xmlns:a="http://schemas.openxmlformats.org/drawingml/2006/main">
              <a:ext uri="{FF2B5EF4-FFF2-40B4-BE49-F238E27FC236}">
                <a16:creationId xmlns:a16="http://schemas.microsoft.com/office/drawing/2014/main" id="{264A062F-06A4-48E7-A690-6378D1B8EA1C}"/>
              </a:ext>
            </a:extLst>
          </p:cNvPr>
          <p:cNvSpPr>
            <a:spLocks xmlns:a="http://schemas.openxmlformats.org/drawingml/2006/main" noGrp="1"/>
          </p:cNvSpPr>
          <p:nvPr/>
        </p:nvSpPr>
        <p:spPr>
          <a:xfrm xmlns:a="http://schemas.openxmlformats.org/drawingml/2006/main" rot="0">
            <a:off x="723900" y="30099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A9956D"/>
                </a:solidFill>
                <a:latin typeface="Segoe UI"/>
                <a:ea typeface="Segoe UI"/>
                <a:cs typeface="Segoe UI"/>
              </a:defRPr>
            </a:defPPr>
          </a:lstStyle>
          <a:p xmlns:a="http://schemas.openxmlformats.org/drawingml/2006/main">
            <a:pPr algn="l">
              <a:defRPr sz="1200" b="1" i="0">
                <a:solidFill>
                  <a:srgbClr val="A9956D"/>
                </a:solidFill>
                <a:latin typeface="Segoe UI"/>
                <a:ea typeface="Segoe UI"/>
                <a:cs typeface="Segoe UI"/>
              </a:defRPr>
            </a:pPr>
            <a:r>
              <a:rPr sz="1200" b="1" i="0">
                <a:solidFill>
                  <a:srgbClr val="A9956D"/>
                </a:solidFill>
                <a:latin typeface="Segoe UI"/>
                <a:ea typeface="Segoe UI"/>
                <a:cs typeface="Segoe UI"/>
              </a:rPr>
              <a:t>Commit</a:t>
            </a:r>
          </a:p>
        </p:txBody>
      </p:sp>
      <p:sp>
        <p:nvSpPr>
          <p:cNvPr id="9" name="">
            <a:extLst xmlns:a="http://schemas.openxmlformats.org/drawingml/2006/main">
              <a:ext uri="{FF2B5EF4-FFF2-40B4-BE49-F238E27FC236}">
                <a16:creationId xmlns:a16="http://schemas.microsoft.com/office/drawing/2014/main" id="{F66C5A53-1A26-449D-B0A2-0FA40CCABEED}"/>
              </a:ext>
            </a:extLst>
          </p:cNvPr>
          <p:cNvSpPr>
            <a:spLocks xmlns:a="http://schemas.openxmlformats.org/drawingml/2006/main" noGrp="1"/>
          </p:cNvSpPr>
          <p:nvPr/>
        </p:nvSpPr>
        <p:spPr>
          <a:xfrm xmlns:a="http://schemas.openxmlformats.org/drawingml/2006/main" rot="0">
            <a:off x="723900" y="33718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BF2E3"/>
                </a:solidFill>
                <a:latin typeface="Segoe UI"/>
                <a:ea typeface="Segoe UI"/>
                <a:cs typeface="Segoe UI"/>
              </a:defRPr>
            </a:defPPr>
          </a:lstStyle>
          <a:p xmlns:a="http://schemas.openxmlformats.org/drawingml/2006/main">
            <a:pPr algn="l">
              <a:defRPr sz="1275" b="0" i="0">
                <a:solidFill>
                  <a:srgbClr val="FBF2E3"/>
                </a:solidFill>
                <a:latin typeface="Segoe UI"/>
                <a:ea typeface="Segoe UI"/>
                <a:cs typeface="Segoe UI"/>
              </a:defRPr>
            </a:pPr>
            <a:r>
              <a:rPr sz="1275" b="0" i="0">
                <a:solidFill>
                  <a:srgbClr val="FBF2E3"/>
                </a:solidFill>
                <a:latin typeface="Segoe UI"/>
                <a:ea typeface="Segoe UI"/>
                <a:cs typeface="Segoe UI"/>
              </a:rPr>
              <a:t>83d373c7f33a53a157846edc543ecda25aa2a686</a:t>
            </a:r>
          </a:p>
        </p:txBody>
      </p:sp>
      <p:sp>
        <p:nvSpPr>
          <p:cNvPr id="10" name="">
            <a:extLst xmlns:a="http://schemas.openxmlformats.org/drawingml/2006/main">
              <a:ext uri="{FF2B5EF4-FFF2-40B4-BE49-F238E27FC236}">
                <a16:creationId xmlns:a16="http://schemas.microsoft.com/office/drawing/2014/main" id="{C199AEE4-DF44-4A5C-B118-88FACB16E46D}"/>
              </a:ext>
            </a:extLst>
          </p:cNvPr>
          <p:cNvSpPr>
            <a:spLocks xmlns:a="http://schemas.openxmlformats.org/drawingml/2006/main" noGrp="1"/>
          </p:cNvSpPr>
          <p:nvPr/>
        </p:nvSpPr>
        <p:spPr>
          <a:xfrm xmlns:a="http://schemas.openxmlformats.org/drawingml/2006/main" rot="0">
            <a:off x="723900" y="43624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A9956D"/>
                </a:solidFill>
                <a:latin typeface="Segoe UI"/>
                <a:ea typeface="Segoe UI"/>
                <a:cs typeface="Segoe UI"/>
              </a:defRPr>
            </a:defPPr>
          </a:lstStyle>
          <a:p xmlns:a="http://schemas.openxmlformats.org/drawingml/2006/main">
            <a:pPr algn="l">
              <a:defRPr sz="1200" b="1" i="0">
                <a:solidFill>
                  <a:srgbClr val="A9956D"/>
                </a:solidFill>
                <a:latin typeface="Segoe UI"/>
                <a:ea typeface="Segoe UI"/>
                <a:cs typeface="Segoe UI"/>
              </a:defRPr>
            </a:pPr>
            <a:r>
              <a:rPr sz="1200" b="1" i="0">
                <a:solidFill>
                  <a:srgbClr val="A9956D"/>
                </a:solidFill>
                <a:latin typeface="Segoe UI"/>
                <a:ea typeface="Segoe UI"/>
                <a:cs typeface="Segoe UI"/>
              </a:rPr>
              <a:t>Evidence files</a:t>
            </a:r>
          </a:p>
        </p:txBody>
      </p:sp>
      <p:sp>
        <p:nvSpPr>
          <p:cNvPr id="11" name="">
            <a:extLst xmlns:a="http://schemas.openxmlformats.org/drawingml/2006/main">
              <a:ext uri="{FF2B5EF4-FFF2-40B4-BE49-F238E27FC236}">
                <a16:creationId xmlns:a16="http://schemas.microsoft.com/office/drawing/2014/main" id="{883A1717-B882-4AC4-86EB-7E83955BD766}"/>
              </a:ext>
            </a:extLst>
          </p:cNvPr>
          <p:cNvSpPr>
            <a:spLocks xmlns:a="http://schemas.openxmlformats.org/drawingml/2006/main" noGrp="1"/>
          </p:cNvSpPr>
          <p:nvPr/>
        </p:nvSpPr>
        <p:spPr>
          <a:xfrm xmlns:a="http://schemas.openxmlformats.org/drawingml/2006/main" rot="0">
            <a:off x="723900" y="4724400"/>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BF2E3"/>
                </a:solidFill>
                <a:latin typeface="Segoe UI"/>
                <a:ea typeface="Segoe UI"/>
                <a:cs typeface="Segoe UI"/>
              </a:defRPr>
            </a:defPPr>
          </a:lstStyle>
          <a:p xmlns:a="http://schemas.openxmlformats.org/drawingml/2006/main">
            <a:pPr algn="l">
              <a:lnSpc>
                <a:spcPct val="120000"/>
              </a:lnSpc>
              <a:buNone/>
              <a:defRPr sz="1275" b="0" i="0">
                <a:solidFill>
                  <a:srgbClr val="FBF2E3"/>
                </a:solidFill>
                <a:latin typeface="Segoe UI"/>
                <a:ea typeface="Segoe UI"/>
                <a:cs typeface="Segoe UI"/>
              </a:defRPr>
            </a:pPr>
            <a:r>
              <a:rPr sz="1275" b="0" i="0">
                <a:solidFill>
                  <a:srgbClr val="FBF2E3"/>
                </a:solidFill>
                <a:latin typeface="Segoe UI"/>
                <a:ea typeface="Segoe UI"/>
                <a:cs typeface="Segoe UI"/>
              </a:rPr>
              <a:t>ROUND2_SUBMISSION.md</a:t>
            </a:r>
          </a:p>
          <a:p xmlns:a="http://schemas.openxmlformats.org/drawingml/2006/main">
            <a:pPr algn="l">
              <a:lnSpc>
                <a:spcPct val="120000"/>
              </a:lnSpc>
              <a:buNone/>
              <a:defRPr sz="1275" b="0" i="0">
                <a:solidFill>
                  <a:srgbClr val="FBF2E3"/>
                </a:solidFill>
                <a:latin typeface="Segoe UI"/>
                <a:ea typeface="Segoe UI"/>
                <a:cs typeface="Segoe UI"/>
              </a:defRPr>
            </a:pPr>
            <a:r>
              <a:rPr sz="1275" b="0" i="0">
                <a:solidFill>
                  <a:srgbClr val="FBF2E3"/>
                </a:solidFill>
                <a:latin typeface="Segoe UI"/>
                <a:ea typeface="Segoe UI"/>
                <a:cs typeface="Segoe UI"/>
              </a:rPr>
              <a:t>results/round2_summary.json</a:t>
            </a:r>
          </a:p>
          <a:p xmlns:a="http://schemas.openxmlformats.org/drawingml/2006/main">
            <a:pPr algn="l">
              <a:lnSpc>
                <a:spcPct val="120000"/>
              </a:lnSpc>
              <a:buNone/>
              <a:defRPr sz="1275" b="0" i="0">
                <a:solidFill>
                  <a:srgbClr val="FBF2E3"/>
                </a:solidFill>
                <a:latin typeface="Segoe UI"/>
                <a:ea typeface="Segoe UI"/>
                <a:cs typeface="Segoe UI"/>
              </a:defRPr>
            </a:pPr>
            <a:r>
              <a:rPr sz="1275" b="0" i="0">
                <a:solidFill>
                  <a:srgbClr val="FBF2E3"/>
                </a:solidFill>
                <a:latin typeface="Segoe UI"/>
                <a:ea typeface="Segoe UI"/>
                <a:cs typeface="Segoe UI"/>
              </a:rPr>
              <a:t>results/container_check.json</a:t>
            </a:r>
          </a:p>
        </p:txBody>
      </p:sp>
      <p:sp>
        <p:nvSpPr>
          <p:cNvPr id="12" name="">
            <a:extLst xmlns:a="http://schemas.openxmlformats.org/drawingml/2006/main">
              <a:ext uri="{FF2B5EF4-FFF2-40B4-BE49-F238E27FC236}">
                <a16:creationId xmlns:a16="http://schemas.microsoft.com/office/drawing/2014/main" id="{4F7B4C63-5E7C-4276-BD2B-C264966B2D60}"/>
              </a:ext>
            </a:extLst>
          </p:cNvPr>
          <p:cNvSpPr>
            <a:spLocks xmlns:a="http://schemas.openxmlformats.org/drawingml/2006/main" noGrp="1"/>
          </p:cNvSpPr>
          <p:nvPr/>
        </p:nvSpPr>
        <p:spPr>
          <a:xfrm xmlns:a="http://schemas.openxmlformats.org/drawingml/2006/main" rot="0">
            <a:off x="6000750" y="1809750"/>
            <a:ext cx="9525" cy="3829050"/>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B455005-8FB7-4E8F-A4A7-8BDC6A2FE6C3}"/>
              </a:ext>
            </a:extLst>
          </p:cNvPr>
          <p:cNvSpPr>
            <a:spLocks xmlns:a="http://schemas.openxmlformats.org/drawingml/2006/main" noGrp="1"/>
          </p:cNvSpPr>
          <p:nvPr/>
        </p:nvSpPr>
        <p:spPr>
          <a:xfrm xmlns:a="http://schemas.openxmlformats.org/drawingml/2006/main" rot="0">
            <a:off x="6496050" y="18478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A9956D"/>
                </a:solidFill>
                <a:latin typeface="Segoe UI"/>
                <a:ea typeface="Segoe UI"/>
                <a:cs typeface="Segoe UI"/>
              </a:defRPr>
            </a:defPPr>
          </a:lstStyle>
          <a:p xmlns:a="http://schemas.openxmlformats.org/drawingml/2006/main">
            <a:pPr algn="l">
              <a:defRPr sz="1200" b="1" i="0">
                <a:solidFill>
                  <a:srgbClr val="A9956D"/>
                </a:solidFill>
                <a:latin typeface="Segoe UI"/>
                <a:ea typeface="Segoe UI"/>
                <a:cs typeface="Segoe UI"/>
              </a:defRPr>
            </a:pPr>
            <a:r>
              <a:rPr sz="1200" b="1" i="0">
                <a:solidFill>
                  <a:srgbClr val="A9956D"/>
                </a:solidFill>
                <a:latin typeface="Segoe UI"/>
                <a:ea typeface="Segoe UI"/>
                <a:cs typeface="Segoe UI"/>
              </a:rPr>
              <a:t>Core checks</a:t>
            </a:r>
          </a:p>
        </p:txBody>
      </p:sp>
      <p:sp>
        <p:nvSpPr>
          <p:cNvPr id="14" name="">
            <a:extLst xmlns:a="http://schemas.openxmlformats.org/drawingml/2006/main">
              <a:ext uri="{FF2B5EF4-FFF2-40B4-BE49-F238E27FC236}">
                <a16:creationId xmlns:a16="http://schemas.microsoft.com/office/drawing/2014/main" id="{E2B1EDF8-FC50-48B1-8CD3-57C7FB1B256E}"/>
              </a:ext>
            </a:extLst>
          </p:cNvPr>
          <p:cNvSpPr>
            <a:spLocks xmlns:a="http://schemas.openxmlformats.org/drawingml/2006/main" noGrp="1"/>
          </p:cNvSpPr>
          <p:nvPr/>
        </p:nvSpPr>
        <p:spPr>
          <a:xfrm xmlns:a="http://schemas.openxmlformats.org/drawingml/2006/main" rot="0">
            <a:off x="6496050" y="2324100"/>
            <a:ext cx="47625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BF2E3"/>
                </a:solidFill>
                <a:latin typeface="Segoe UI"/>
                <a:ea typeface="Segoe UI"/>
                <a:cs typeface="Segoe UI"/>
              </a:defRPr>
            </a:defPPr>
          </a:lstStyle>
          <a:p xmlns:a="http://schemas.openxmlformats.org/drawingml/2006/main">
            <a:pPr algn="l">
              <a:lnSpc>
                <a:spcPct val="115000"/>
              </a:lnSpc>
              <a:buNone/>
              <a:defRPr sz="1200" b="0" i="0">
                <a:solidFill>
                  <a:srgbClr val="FBF2E3"/>
                </a:solidFill>
                <a:latin typeface="Segoe UI"/>
                <a:ea typeface="Segoe UI"/>
                <a:cs typeface="Segoe UI"/>
              </a:defRPr>
            </a:pPr>
            <a:r>
              <a:rPr sz="1200" b="0" i="0">
                <a:solidFill>
                  <a:srgbClr val="FBF2E3"/>
                </a:solidFill>
                <a:latin typeface="Segoe UI"/>
                <a:ea typeface="Segoe UI"/>
                <a:cs typeface="Segoe UI"/>
              </a:rPr>
              <a:t>python -m unittest -v</a:t>
            </a:r>
          </a:p>
          <a:p xmlns:a="http://schemas.openxmlformats.org/drawingml/2006/main">
            <a:r>
              <a:t/>
            </a:r>
          </a:p>
          <a:p xmlns:a="http://schemas.openxmlformats.org/drawingml/2006/main">
            <a:pPr algn="l">
              <a:lnSpc>
                <a:spcPct val="115000"/>
              </a:lnSpc>
              <a:buNone/>
              <a:defRPr sz="1200" b="0" i="0">
                <a:solidFill>
                  <a:srgbClr val="FBF2E3"/>
                </a:solidFill>
                <a:latin typeface="Segoe UI"/>
                <a:ea typeface="Segoe UI"/>
                <a:cs typeface="Segoe UI"/>
              </a:defRPr>
            </a:pPr>
            <a:r>
              <a:rPr sz="1200" b="0" i="0">
                <a:solidFill>
                  <a:srgbClr val="FBF2E3"/>
                </a:solidFill>
                <a:latin typeface="Segoe UI"/>
                <a:ea typeface="Segoe UI"/>
                <a:cs typeface="Segoe UI"/>
              </a:rPr>
              <a:t>python verify_data.py</a:t>
            </a:r>
          </a:p>
          <a:p xmlns:a="http://schemas.openxmlformats.org/drawingml/2006/main">
            <a:r>
              <a:t/>
            </a:r>
          </a:p>
          <a:p xmlns:a="http://schemas.openxmlformats.org/drawingml/2006/main">
            <a:pPr algn="l">
              <a:lnSpc>
                <a:spcPct val="115000"/>
              </a:lnSpc>
              <a:buNone/>
              <a:defRPr sz="1200" b="0" i="0">
                <a:solidFill>
                  <a:srgbClr val="FBF2E3"/>
                </a:solidFill>
                <a:latin typeface="Segoe UI"/>
                <a:ea typeface="Segoe UI"/>
                <a:cs typeface="Segoe UI"/>
              </a:defRPr>
            </a:pPr>
            <a:r>
              <a:rPr sz="1200" b="0" i="0">
                <a:solidFill>
                  <a:srgbClr val="FBF2E3"/>
                </a:solidFill>
                <a:latin typeface="Segoe UI"/>
                <a:ea typeface="Segoe UI"/>
                <a:cs typeface="Segoe UI"/>
              </a:rPr>
              <a:t>docker build -t sequential-policy:submission .</a:t>
            </a:r>
          </a:p>
          <a:p xmlns:a="http://schemas.openxmlformats.org/drawingml/2006/main">
            <a:r>
              <a:t/>
            </a:r>
          </a:p>
          <a:p xmlns:a="http://schemas.openxmlformats.org/drawingml/2006/main">
            <a:pPr algn="l">
              <a:lnSpc>
                <a:spcPct val="115000"/>
              </a:lnSpc>
              <a:buNone/>
              <a:defRPr sz="1200" b="0" i="0">
                <a:solidFill>
                  <a:srgbClr val="FBF2E3"/>
                </a:solidFill>
                <a:latin typeface="Segoe UI"/>
                <a:ea typeface="Segoe UI"/>
                <a:cs typeface="Segoe UI"/>
              </a:defRPr>
            </a:pPr>
            <a:r>
              <a:rPr sz="1200" b="0" i="0">
                <a:solidFill>
                  <a:srgbClr val="FBF2E3"/>
                </a:solidFill>
                <a:latin typeface="Segoe UI"/>
                <a:ea typeface="Segoe UI"/>
                <a:cs typeface="Segoe UI"/>
              </a:rPr>
              <a:t>python evaluate.py --image sequential-policy:submission --seeds 101 --variants development --output results/container_check.json</a:t>
            </a:r>
          </a:p>
        </p:txBody>
      </p:sp>
      <p:sp>
        <p:nvSpPr>
          <p:cNvPr id="15" name="">
            <a:extLst xmlns:a="http://schemas.openxmlformats.org/drawingml/2006/main">
              <a:ext uri="{FF2B5EF4-FFF2-40B4-BE49-F238E27FC236}">
                <a16:creationId xmlns:a16="http://schemas.microsoft.com/office/drawing/2014/main" id="{E601579E-D765-41BD-A64C-6C85D73EB66E}"/>
              </a:ext>
            </a:extLst>
          </p:cNvPr>
          <p:cNvSpPr>
            <a:spLocks xmlns:a="http://schemas.openxmlformats.org/drawingml/2006/main" noGrp="1"/>
          </p:cNvSpPr>
          <p:nvPr/>
        </p:nvSpPr>
        <p:spPr>
          <a:xfrm xmlns:a="http://schemas.openxmlformats.org/drawingml/2006/main" rot="0">
            <a:off x="685800" y="6115050"/>
            <a:ext cx="10820400" cy="9525"/>
          </a:xfrm>
          <a:prstGeom xmlns:a="http://schemas.openxmlformats.org/drawingml/2006/main" prst="rect">
            <a:avLst/>
          </a:prstGeom>
          <a:solidFill xmlns:a="http://schemas.openxmlformats.org/drawingml/2006/main">
            <a:srgbClr val="A9956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E45856-B433-478E-AE1A-1557A36613E2}"/>
              </a:ext>
            </a:extLst>
          </p:cNvPr>
          <p:cNvSpPr>
            <a:spLocks xmlns:a="http://schemas.openxmlformats.org/drawingml/2006/main" noGrp="1"/>
          </p:cNvSpPr>
          <p:nvPr/>
        </p:nvSpPr>
        <p:spPr>
          <a:xfrm xmlns:a="http://schemas.openxmlformats.org/drawingml/2006/main" rot="0">
            <a:off x="685800" y="62674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i="0">
                <a:solidFill>
                  <a:srgbClr val="A9956D"/>
                </a:solidFill>
                <a:latin typeface="Segoe UI"/>
                <a:ea typeface="Segoe UI"/>
                <a:cs typeface="Segoe UI"/>
              </a:defRPr>
            </a:defPPr>
          </a:lstStyle>
          <a:p xmlns:a="http://schemas.openxmlformats.org/drawingml/2006/main">
            <a:pPr algn="ctr">
              <a:defRPr sz="900" b="0" i="0">
                <a:solidFill>
                  <a:srgbClr val="A9956D"/>
                </a:solidFill>
                <a:latin typeface="Segoe UI"/>
                <a:ea typeface="Segoe UI"/>
                <a:cs typeface="Segoe UI"/>
              </a:defRPr>
            </a:pPr>
            <a:r>
              <a:rPr sz="900" b="0" i="0">
                <a:solidFill>
                  <a:srgbClr val="A9956D"/>
                </a:solidFill>
                <a:latin typeface="Segoe UI"/>
                <a:ea typeface="Segoe UI"/>
                <a:cs typeface="Segoe UI"/>
              </a:rPr>
              <a:t>github.com/ahansardar/sequential-matching-hackathon</a:t>
            </a:r>
          </a:p>
        </p:txBody>
      </p:sp>
    </p:spTree>
    <p:extLst>
      <p:ext uri="{BB962C8B-B14F-4D97-AF65-F5344CB8AC3E}">
        <p14:creationId xmlns:p14="http://schemas.microsoft.com/office/powerpoint/2010/main" val="16668249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2026-10-16T14:24:54.0980000Z</dcterms:created>
  <dcterms:modified xsi:type="dcterms:W3CDTF">2026-10-16T14:24:54.0980000Z</dcterms:modified>
</coreProperties>
</file>